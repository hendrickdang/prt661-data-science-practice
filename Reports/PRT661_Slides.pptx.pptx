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nva Sans" panose="020B0604020202020204" charset="0"/>
      <p:regular r:id="rId18"/>
    </p:embeddedFont>
    <p:embeddedFont>
      <p:font typeface="Canva Sans Bold" panose="020B0604020202020204" charset="0"/>
      <p:regular r:id="rId19"/>
    </p:embeddedFont>
    <p:embeddedFont>
      <p:font typeface="Open Sans Bold" panose="020B0604020202020204" charset="0"/>
      <p:regular r:id="rId20"/>
    </p:embeddedFont>
    <p:embeddedFont>
      <p:font typeface="Poppins" panose="00000500000000000000" pitchFamily="2" charset="0"/>
      <p:regular r:id="rId21"/>
    </p:embeddedFont>
    <p:embeddedFont>
      <p:font typeface="Poppins Bold" panose="00000800000000000000" charset="0"/>
      <p:regular r:id="rId22"/>
    </p:embeddedFont>
    <p:embeddedFont>
      <p:font typeface="Poppins Bold Italics" panose="020B0604020202020204" charset="0"/>
      <p:regular r:id="rId23"/>
    </p:embeddedFont>
    <p:embeddedFont>
      <p:font typeface="Poppins Italics" panose="020B0604020202020204" charset="0"/>
      <p:regular r:id="rId24"/>
    </p:embeddedFont>
    <p:embeddedFont>
      <p:font typeface="Poppins Semi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825" cy="2709333"/>
            </a:xfrm>
            <a:custGeom>
              <a:avLst/>
              <a:gdLst/>
              <a:ahLst/>
              <a:cxnLst/>
              <a:rect l="l" t="t" r="r" b="b"/>
              <a:pathLst>
                <a:path w="96825" h="2709333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91823"/>
            <a:ext cx="847008" cy="847008"/>
          </a:xfrm>
          <a:custGeom>
            <a:avLst/>
            <a:gdLst/>
            <a:ahLst/>
            <a:cxnLst/>
            <a:rect l="l" t="t" r="r" b="b"/>
            <a:pathLst>
              <a:path w="847008" h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191726" y="1580598"/>
            <a:ext cx="7244181" cy="72441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19354" y="-4277500"/>
            <a:ext cx="7116554" cy="711655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60A5F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13817" y="-1107946"/>
            <a:ext cx="7244181" cy="724418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60A5FA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55701" y="1080396"/>
            <a:ext cx="806365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PRT661 DATA SCIENCE PRACTICE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1E293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2437944"/>
            <a:ext cx="9163026" cy="197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FORECASTING ASSAULT RATES ACROSS NT REGIONS TO SUPPORT PUBLIC SAFETY RESOURCE PLANNING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932224"/>
            <a:ext cx="736803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by: Group DAN2 - THEME2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451456"/>
            <a:ext cx="6743700" cy="1987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61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Student: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615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</a:t>
            </a:r>
            <a:r>
              <a:rPr lang="en-US" sz="261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Xuan Thanh Tran (Emma) - S389244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61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Ngoc Anh Nguyen (Will) - S386805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61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Van Hoi Dang (Hendrick) - S395598</a:t>
            </a:r>
          </a:p>
          <a:p>
            <a:pPr algn="l">
              <a:lnSpc>
                <a:spcPts val="3138"/>
              </a:lnSpc>
              <a:spcBef>
                <a:spcPct val="0"/>
              </a:spcBef>
            </a:pPr>
            <a:r>
              <a:rPr lang="en-US" sz="261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 Nhat Minh Tran (Thomas) - S390789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20781" y="7124446"/>
            <a:ext cx="4928531" cy="68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8"/>
              </a:lnSpc>
              <a:spcBef>
                <a:spcPct val="0"/>
              </a:spcBef>
            </a:pPr>
            <a:r>
              <a:rPr lang="en-US" sz="224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Lecturer: Dr </a:t>
            </a:r>
            <a:r>
              <a:rPr lang="en-US" sz="2615" dirty="0" err="1">
                <a:solidFill>
                  <a:srgbClr val="000000"/>
                </a:solidFill>
                <a:latin typeface="Canva Sans"/>
                <a:sym typeface="Poppins"/>
              </a:rPr>
              <a:t>Thuseethan</a:t>
            </a:r>
            <a:r>
              <a:rPr lang="en-US" sz="224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15" dirty="0">
                <a:solidFill>
                  <a:srgbClr val="000000"/>
                </a:solidFill>
                <a:latin typeface="Canva Sans"/>
                <a:sym typeface="Poppins"/>
              </a:rPr>
              <a:t>Selvarajah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6423238" y="1351542"/>
            <a:ext cx="10836062" cy="8767038"/>
          </a:xfrm>
          <a:custGeom>
            <a:avLst/>
            <a:gdLst/>
            <a:ahLst/>
            <a:cxnLst/>
            <a:rect l="l" t="t" r="r" b="b"/>
            <a:pathLst>
              <a:path w="10836062" h="8767038">
                <a:moveTo>
                  <a:pt x="0" y="0"/>
                </a:moveTo>
                <a:lnTo>
                  <a:pt x="10836062" y="0"/>
                </a:lnTo>
                <a:lnTo>
                  <a:pt x="10836062" y="8767038"/>
                </a:lnTo>
                <a:lnTo>
                  <a:pt x="0" y="8767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8" b="-1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91438" y="557622"/>
            <a:ext cx="15617123" cy="74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NT Assault Forecasting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1672256"/>
            <a:ext cx="3849995" cy="1499997"/>
            <a:chOff x="0" y="0"/>
            <a:chExt cx="5133327" cy="19999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33340" cy="1999996"/>
            </a:xfrm>
            <a:custGeom>
              <a:avLst/>
              <a:gdLst/>
              <a:ahLst/>
              <a:cxnLst/>
              <a:rect l="l" t="t" r="r" b="b"/>
              <a:pathLst>
                <a:path w="5133340" h="1999996">
                  <a:moveTo>
                    <a:pt x="0" y="280035"/>
                  </a:moveTo>
                  <a:cubicBezTo>
                    <a:pt x="0" y="125349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25349"/>
                    <a:pt x="5133340" y="280035"/>
                  </a:cubicBezTo>
                  <a:lnTo>
                    <a:pt x="5133340" y="1719961"/>
                  </a:lnTo>
                  <a:cubicBezTo>
                    <a:pt x="5133340" y="1874647"/>
                    <a:pt x="5007991" y="1999996"/>
                    <a:pt x="4853305" y="1999996"/>
                  </a:cubicBezTo>
                  <a:lnTo>
                    <a:pt x="280035" y="1999996"/>
                  </a:lnTo>
                  <a:cubicBezTo>
                    <a:pt x="125349" y="1999996"/>
                    <a:pt x="0" y="1874647"/>
                    <a:pt x="0" y="1719961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20140" y="1808930"/>
            <a:ext cx="3667115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55,146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140" y="2378925"/>
            <a:ext cx="366711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crime records merged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3643503"/>
            <a:ext cx="3849995" cy="1966722"/>
            <a:chOff x="0" y="0"/>
            <a:chExt cx="5133327" cy="26222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33340" cy="2622296"/>
            </a:xfrm>
            <a:custGeom>
              <a:avLst/>
              <a:gdLst/>
              <a:ahLst/>
              <a:cxnLst/>
              <a:rect l="l" t="t" r="r" b="b"/>
              <a:pathLst>
                <a:path w="5133340" h="2622296">
                  <a:moveTo>
                    <a:pt x="0" y="367168"/>
                  </a:moveTo>
                  <a:cubicBezTo>
                    <a:pt x="0" y="164351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64351"/>
                    <a:pt x="5133340" y="367168"/>
                  </a:cubicBezTo>
                  <a:lnTo>
                    <a:pt x="5133340" y="2255128"/>
                  </a:lnTo>
                  <a:cubicBezTo>
                    <a:pt x="5133340" y="2457945"/>
                    <a:pt x="5007991" y="2622296"/>
                    <a:pt x="4853305" y="2622296"/>
                  </a:cubicBezTo>
                  <a:lnTo>
                    <a:pt x="280035" y="2622296"/>
                  </a:lnTo>
                  <a:cubicBezTo>
                    <a:pt x="125349" y="2622296"/>
                    <a:pt x="0" y="2457945"/>
                    <a:pt x="0" y="2255128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20140" y="3780177"/>
            <a:ext cx="3667115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140" y="4350172"/>
            <a:ext cx="366711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 regions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6076950"/>
            <a:ext cx="3849995" cy="1499997"/>
            <a:chOff x="0" y="0"/>
            <a:chExt cx="5133327" cy="19999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33340" cy="1999996"/>
            </a:xfrm>
            <a:custGeom>
              <a:avLst/>
              <a:gdLst/>
              <a:ahLst/>
              <a:cxnLst/>
              <a:rect l="l" t="t" r="r" b="b"/>
              <a:pathLst>
                <a:path w="5133340" h="1999996">
                  <a:moveTo>
                    <a:pt x="0" y="280035"/>
                  </a:moveTo>
                  <a:cubicBezTo>
                    <a:pt x="0" y="125349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25349"/>
                    <a:pt x="5133340" y="280035"/>
                  </a:cubicBezTo>
                  <a:lnTo>
                    <a:pt x="5133340" y="1719961"/>
                  </a:lnTo>
                  <a:cubicBezTo>
                    <a:pt x="5133340" y="1874647"/>
                    <a:pt x="5007991" y="1999996"/>
                    <a:pt x="4853305" y="1999996"/>
                  </a:cubicBezTo>
                  <a:lnTo>
                    <a:pt x="280035" y="1999996"/>
                  </a:lnTo>
                  <a:cubicBezTo>
                    <a:pt x="125349" y="1999996"/>
                    <a:pt x="0" y="1874647"/>
                    <a:pt x="0" y="1719961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140" y="6213624"/>
            <a:ext cx="3667115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2015-2025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0140" y="6783619"/>
            <a:ext cx="366711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10-year monthly panel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8043672"/>
            <a:ext cx="3849995" cy="1723305"/>
            <a:chOff x="0" y="0"/>
            <a:chExt cx="5133327" cy="22977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33340" cy="2297740"/>
            </a:xfrm>
            <a:custGeom>
              <a:avLst/>
              <a:gdLst/>
              <a:ahLst/>
              <a:cxnLst/>
              <a:rect l="l" t="t" r="r" b="b"/>
              <a:pathLst>
                <a:path w="5133340" h="2297740">
                  <a:moveTo>
                    <a:pt x="0" y="321724"/>
                  </a:moveTo>
                  <a:cubicBezTo>
                    <a:pt x="0" y="144010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44010"/>
                    <a:pt x="5133340" y="321724"/>
                  </a:cubicBezTo>
                  <a:lnTo>
                    <a:pt x="5133340" y="1976015"/>
                  </a:lnTo>
                  <a:cubicBezTo>
                    <a:pt x="5133340" y="2153730"/>
                    <a:pt x="5007991" y="2297740"/>
                    <a:pt x="4853305" y="2297740"/>
                  </a:cubicBezTo>
                  <a:lnTo>
                    <a:pt x="280035" y="2297740"/>
                  </a:lnTo>
                  <a:cubicBezTo>
                    <a:pt x="125349" y="2297740"/>
                    <a:pt x="0" y="2153730"/>
                    <a:pt x="0" y="1976015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0140" y="8180346"/>
            <a:ext cx="3667115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E8829E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0140" y="8750341"/>
            <a:ext cx="366711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models benchmarked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0140" y="4720171"/>
            <a:ext cx="366711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Greater Darwin, Top End, Central Australia,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Rivers, Barkly, East Arnhem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0140" y="9120340"/>
            <a:ext cx="366711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 Regression, Ridge, Lasso,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9998" y="1750000"/>
            <a:ext cx="7899997" cy="819998"/>
            <a:chOff x="0" y="0"/>
            <a:chExt cx="10533329" cy="10933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33380" cy="1093470"/>
            </a:xfrm>
            <a:custGeom>
              <a:avLst/>
              <a:gdLst/>
              <a:ahLst/>
              <a:cxnLst/>
              <a:rect l="l" t="t" r="r" b="b"/>
              <a:pathLst>
                <a:path w="10533380" h="109347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336530" y="0"/>
                  </a:lnTo>
                  <a:cubicBezTo>
                    <a:pt x="10445242" y="0"/>
                    <a:pt x="10533380" y="88138"/>
                    <a:pt x="10533380" y="196850"/>
                  </a:cubicBezTo>
                  <a:lnTo>
                    <a:pt x="10533380" y="896620"/>
                  </a:lnTo>
                  <a:cubicBezTo>
                    <a:pt x="10533380" y="1005332"/>
                    <a:pt x="10445242" y="1093470"/>
                    <a:pt x="10336530" y="1093470"/>
                  </a:cubicBezTo>
                  <a:lnTo>
                    <a:pt x="196850" y="1093470"/>
                  </a:lnTo>
                  <a:cubicBezTo>
                    <a:pt x="88138" y="1093343"/>
                    <a:pt x="0" y="1005205"/>
                    <a:pt x="0" y="896493"/>
                  </a:cubicBez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9997" y="2029997"/>
            <a:ext cx="230000" cy="230000"/>
            <a:chOff x="0" y="0"/>
            <a:chExt cx="306667" cy="3066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cubicBezTo>
                    <a:pt x="237871" y="0"/>
                    <a:pt x="306705" y="68707"/>
                    <a:pt x="306705" y="153289"/>
                  </a:cubicBezTo>
                  <a:cubicBezTo>
                    <a:pt x="306705" y="237871"/>
                    <a:pt x="237998" y="306705"/>
                    <a:pt x="153289" y="306705"/>
                  </a:cubicBezTo>
                  <a:cubicBezTo>
                    <a:pt x="68580" y="306705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9998" y="2750001"/>
            <a:ext cx="7899997" cy="819998"/>
            <a:chOff x="0" y="0"/>
            <a:chExt cx="10533329" cy="10933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33380" cy="1093470"/>
            </a:xfrm>
            <a:custGeom>
              <a:avLst/>
              <a:gdLst/>
              <a:ahLst/>
              <a:cxnLst/>
              <a:rect l="l" t="t" r="r" b="b"/>
              <a:pathLst>
                <a:path w="10533380" h="109347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336530" y="0"/>
                  </a:lnTo>
                  <a:cubicBezTo>
                    <a:pt x="10445242" y="0"/>
                    <a:pt x="10533380" y="88138"/>
                    <a:pt x="10533380" y="196850"/>
                  </a:cubicBezTo>
                  <a:lnTo>
                    <a:pt x="10533380" y="896620"/>
                  </a:lnTo>
                  <a:cubicBezTo>
                    <a:pt x="10533380" y="1005332"/>
                    <a:pt x="10445242" y="1093470"/>
                    <a:pt x="10336530" y="1093470"/>
                  </a:cubicBezTo>
                  <a:lnTo>
                    <a:pt x="196850" y="1093470"/>
                  </a:lnTo>
                  <a:cubicBezTo>
                    <a:pt x="88138" y="1093343"/>
                    <a:pt x="0" y="1005205"/>
                    <a:pt x="0" y="896493"/>
                  </a:cubicBez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19997" y="3029998"/>
            <a:ext cx="230000" cy="230000"/>
            <a:chOff x="0" y="0"/>
            <a:chExt cx="306667" cy="3066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cubicBezTo>
                    <a:pt x="237871" y="0"/>
                    <a:pt x="306705" y="68707"/>
                    <a:pt x="306705" y="153289"/>
                  </a:cubicBezTo>
                  <a:cubicBezTo>
                    <a:pt x="306705" y="237871"/>
                    <a:pt x="237998" y="306705"/>
                    <a:pt x="153289" y="306705"/>
                  </a:cubicBezTo>
                  <a:cubicBezTo>
                    <a:pt x="68580" y="306705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9998" y="3750002"/>
            <a:ext cx="7899997" cy="819998"/>
            <a:chOff x="0" y="0"/>
            <a:chExt cx="10533329" cy="10933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33380" cy="1093470"/>
            </a:xfrm>
            <a:custGeom>
              <a:avLst/>
              <a:gdLst/>
              <a:ahLst/>
              <a:cxnLst/>
              <a:rect l="l" t="t" r="r" b="b"/>
              <a:pathLst>
                <a:path w="10533380" h="109347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336530" y="0"/>
                  </a:lnTo>
                  <a:cubicBezTo>
                    <a:pt x="10445242" y="0"/>
                    <a:pt x="10533380" y="88138"/>
                    <a:pt x="10533380" y="196850"/>
                  </a:cubicBezTo>
                  <a:lnTo>
                    <a:pt x="10533380" y="896620"/>
                  </a:lnTo>
                  <a:cubicBezTo>
                    <a:pt x="10533380" y="1005332"/>
                    <a:pt x="10445242" y="1093470"/>
                    <a:pt x="10336530" y="1093470"/>
                  </a:cubicBezTo>
                  <a:lnTo>
                    <a:pt x="196850" y="1093470"/>
                  </a:lnTo>
                  <a:cubicBezTo>
                    <a:pt x="88138" y="1093343"/>
                    <a:pt x="0" y="1005205"/>
                    <a:pt x="0" y="896493"/>
                  </a:cubicBez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19997" y="4029999"/>
            <a:ext cx="230000" cy="230000"/>
            <a:chOff x="0" y="0"/>
            <a:chExt cx="306667" cy="3066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cubicBezTo>
                    <a:pt x="237871" y="0"/>
                    <a:pt x="306705" y="68707"/>
                    <a:pt x="306705" y="153289"/>
                  </a:cubicBezTo>
                  <a:cubicBezTo>
                    <a:pt x="306705" y="237871"/>
                    <a:pt x="237998" y="306705"/>
                    <a:pt x="153289" y="306705"/>
                  </a:cubicBezTo>
                  <a:cubicBezTo>
                    <a:pt x="68580" y="306705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57169" y="1820999"/>
            <a:ext cx="7509290" cy="3407997"/>
            <a:chOff x="0" y="0"/>
            <a:chExt cx="10012387" cy="4543996"/>
          </a:xfrm>
        </p:grpSpPr>
        <p:sp>
          <p:nvSpPr>
            <p:cNvPr id="23" name="Freeform 23" descr="n_dataset_sizes.png"/>
            <p:cNvSpPr/>
            <p:nvPr/>
          </p:nvSpPr>
          <p:spPr>
            <a:xfrm>
              <a:off x="0" y="0"/>
              <a:ext cx="10012425" cy="4544060"/>
            </a:xfrm>
            <a:custGeom>
              <a:avLst/>
              <a:gdLst/>
              <a:ahLst/>
              <a:cxnLst/>
              <a:rect l="l" t="t" r="r" b="b"/>
              <a:pathLst>
                <a:path w="10012425" h="4544060">
                  <a:moveTo>
                    <a:pt x="0" y="0"/>
                  </a:moveTo>
                  <a:lnTo>
                    <a:pt x="10012425" y="0"/>
                  </a:lnTo>
                  <a:lnTo>
                    <a:pt x="10012425" y="4544060"/>
                  </a:lnTo>
                  <a:lnTo>
                    <a:pt x="0" y="4544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86" b="-218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99997" y="5754995"/>
            <a:ext cx="119996" cy="119996"/>
            <a:chOff x="0" y="0"/>
            <a:chExt cx="159995" cy="1599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99997" y="6105001"/>
            <a:ext cx="119996" cy="119996"/>
            <a:chOff x="0" y="0"/>
            <a:chExt cx="159995" cy="15999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99997" y="6454997"/>
            <a:ext cx="119996" cy="119996"/>
            <a:chOff x="0" y="0"/>
            <a:chExt cx="159995" cy="15999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99997" y="6805003"/>
            <a:ext cx="119996" cy="119996"/>
            <a:chOff x="0" y="0"/>
            <a:chExt cx="159995" cy="15999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99997" y="7154999"/>
            <a:ext cx="119996" cy="119996"/>
            <a:chOff x="0" y="0"/>
            <a:chExt cx="159995" cy="15999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9998" y="7550001"/>
            <a:ext cx="15899997" cy="1150001"/>
            <a:chOff x="0" y="0"/>
            <a:chExt cx="21199996" cy="15333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199983" cy="1533271"/>
            </a:xfrm>
            <a:custGeom>
              <a:avLst/>
              <a:gdLst/>
              <a:ahLst/>
              <a:cxnLst/>
              <a:rect l="l" t="t" r="r" b="b"/>
              <a:pathLst>
                <a:path w="21199983" h="1533271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21046694" y="0"/>
                  </a:lnTo>
                  <a:cubicBezTo>
                    <a:pt x="21131403" y="0"/>
                    <a:pt x="21199983" y="68707"/>
                    <a:pt x="21199983" y="153289"/>
                  </a:cubicBezTo>
                  <a:lnTo>
                    <a:pt x="21199983" y="1379982"/>
                  </a:lnTo>
                  <a:cubicBezTo>
                    <a:pt x="21199983" y="1464691"/>
                    <a:pt x="21131276" y="1533271"/>
                    <a:pt x="21046694" y="1533271"/>
                  </a:cubicBezTo>
                  <a:lnTo>
                    <a:pt x="153289" y="1533271"/>
                  </a:lnTo>
                  <a:cubicBezTo>
                    <a:pt x="68707" y="1533271"/>
                    <a:pt x="0" y="1464691"/>
                    <a:pt x="0" y="1379982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99998" y="8850001"/>
            <a:ext cx="15899997" cy="899998"/>
            <a:chOff x="0" y="0"/>
            <a:chExt cx="21199996" cy="119999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199982" cy="1200023"/>
            </a:xfrm>
            <a:custGeom>
              <a:avLst/>
              <a:gdLst/>
              <a:ahLst/>
              <a:cxnLst/>
              <a:rect l="l" t="t" r="r" b="b"/>
              <a:pathLst>
                <a:path w="21199982" h="1200023">
                  <a:moveTo>
                    <a:pt x="0" y="144018"/>
                  </a:moveTo>
                  <a:cubicBezTo>
                    <a:pt x="0" y="64516"/>
                    <a:pt x="64516" y="0"/>
                    <a:pt x="144018" y="0"/>
                  </a:cubicBezTo>
                  <a:lnTo>
                    <a:pt x="21055964" y="0"/>
                  </a:lnTo>
                  <a:cubicBezTo>
                    <a:pt x="21135467" y="0"/>
                    <a:pt x="21199982" y="64516"/>
                    <a:pt x="21199982" y="144018"/>
                  </a:cubicBezTo>
                  <a:lnTo>
                    <a:pt x="21199982" y="1056005"/>
                  </a:lnTo>
                  <a:cubicBezTo>
                    <a:pt x="21199982" y="1135507"/>
                    <a:pt x="21135467" y="1200023"/>
                    <a:pt x="21055964" y="1200023"/>
                  </a:cubicBezTo>
                  <a:lnTo>
                    <a:pt x="144018" y="1200023"/>
                  </a:lnTo>
                  <a:cubicBezTo>
                    <a:pt x="64516" y="1200023"/>
                    <a:pt x="0" y="1135507"/>
                    <a:pt x="0" y="1056005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Where the Data Comes From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11439" y="1857146"/>
            <a:ext cx="6817119" cy="28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NT Crime Statistics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11439" y="2216191"/>
            <a:ext cx="6817119" cy="23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55,146 rows · CSV · 2015-2025 · Irregular cadence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11439" y="2857148"/>
            <a:ext cx="6817119" cy="28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Population Estimates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11439" y="3216192"/>
            <a:ext cx="6817119" cy="23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17,280 rows · XLSX · 1986-2025 · Annual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11439" y="3857149"/>
            <a:ext cx="6817119" cy="28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Wholesale Alcohol Supply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11439" y="4216194"/>
            <a:ext cx="6817119" cy="23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84 rows · XLSX · 2023-2025 only · Quarterly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1437" y="5476665"/>
            <a:ext cx="7417118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5 automated checks on every ingest run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41440" y="5736193"/>
            <a:ext cx="711711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Fuzzy filename matching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41440" y="6086199"/>
            <a:ext cx="711711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Empty-dataframe check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41440" y="6436195"/>
            <a:ext cx="711711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Duplicate column-name check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41440" y="6786191"/>
            <a:ext cx="7117118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Fully-null column check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41440" y="7136197"/>
            <a:ext cx="711711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Row/column counts + warnings → manifest.json</a:t>
            </a:r>
          </a:p>
          <a:p>
            <a:pPr algn="l">
              <a:lnSpc>
                <a:spcPts val="1439"/>
              </a:lnSpc>
            </a:pPr>
            <a:endParaRPr lang="en-US" sz="1200">
              <a:solidFill>
                <a:srgbClr val="33294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591437" y="7726670"/>
            <a:ext cx="15117118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Alcohol supply data only covers 2023-2025 (12 quarters) - far shorter than the 2015-2025 crime/population window. This limits Model B (Slide 11) to a much smaller sample.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91437" y="9076668"/>
            <a:ext cx="15117118" cy="47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Fuzzy filename matching handles naming differences between teammates' downloads. Every run writes manifest.json with row/column counts for traceability.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Problems &amp; Solutions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99998" y="1649997"/>
            <a:ext cx="7700000" cy="1750000"/>
            <a:chOff x="0" y="0"/>
            <a:chExt cx="10266667" cy="2333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19997" y="1850003"/>
            <a:ext cx="190005" cy="190005"/>
            <a:chOff x="0" y="0"/>
            <a:chExt cx="253340" cy="2533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3238" cy="253238"/>
            </a:xfrm>
            <a:custGeom>
              <a:avLst/>
              <a:gdLst/>
              <a:ahLst/>
              <a:cxnLst/>
              <a:rect l="l" t="t" r="r" b="b"/>
              <a:pathLst>
                <a:path w="253238" h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11437" y="2166195"/>
            <a:ext cx="691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Two systems, two label sets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1437" y="2576674"/>
            <a:ext cx="691712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NT Police switched recording systems (PROMIS → SerPro, Nov 2023) and reclassified offence categories (ANZSOC, Apr 2025) — old and new files use different category names for the same offence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00000" y="1649997"/>
            <a:ext cx="7700000" cy="1750000"/>
            <a:chOff x="0" y="0"/>
            <a:chExt cx="10266667" cy="23333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641443" y="1786195"/>
            <a:ext cx="7017125" cy="19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1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41443" y="2066668"/>
            <a:ext cx="70171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11-entry manual translation table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41443" y="2826668"/>
            <a:ext cx="70171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i="1">
                <a:solidFill>
                  <a:srgbClr val="8B7EC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e.g. ‘Acts intended to cause Injury’ (old) → ‘02 Assault’ (ANZSOC)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9998" y="3580000"/>
            <a:ext cx="7700000" cy="1750000"/>
            <a:chOff x="0" y="0"/>
            <a:chExt cx="10266667" cy="233333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9997" y="3779996"/>
            <a:ext cx="190005" cy="190005"/>
            <a:chOff x="0" y="0"/>
            <a:chExt cx="253340" cy="2533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3238" cy="253238"/>
            </a:xfrm>
            <a:custGeom>
              <a:avLst/>
              <a:gdLst/>
              <a:ahLst/>
              <a:cxnLst/>
              <a:rect l="l" t="t" r="r" b="b"/>
              <a:pathLst>
                <a:path w="253238" h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11437" y="4096198"/>
            <a:ext cx="691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7 police regions ≠ 6 government regions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1437" y="4506668"/>
            <a:ext cx="6637214" cy="8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12"/>
              </a:lnSpc>
            </a:pPr>
            <a:r>
              <a:rPr lang="en-US" sz="134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Crime data is reported by 7 NT Police districts; population &amp; alcohol data use 6 NT Government (NTG) statistical regions. Without correction, Greater Darwin's population would be counted under both ‘Darwin’ and ‘Palmerston’ rows — doubling the denominator and halving true per-capita rates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00000" y="3580000"/>
            <a:ext cx="7700000" cy="1750000"/>
            <a:chOff x="0" y="0"/>
            <a:chExt cx="10266667" cy="233333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641443" y="3716198"/>
            <a:ext cx="7017125" cy="19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41443" y="3996671"/>
            <a:ext cx="701712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Two-stage crosswalk: direct name-map (6 regions) + SA2 lookup table (16 codes) for generic ‘NT Balance’ rows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41443" y="4756671"/>
            <a:ext cx="70171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i="1">
                <a:solidFill>
                  <a:srgbClr val="3FA593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e.g. Darwin + Palmerston → Greater Darwin = 34,454 assaults (2015-2025)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99998" y="5510003"/>
            <a:ext cx="7700000" cy="1750000"/>
            <a:chOff x="0" y="0"/>
            <a:chExt cx="10266667" cy="23333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19997" y="5709999"/>
            <a:ext cx="190005" cy="190005"/>
            <a:chOff x="0" y="0"/>
            <a:chExt cx="253340" cy="2533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53238" cy="253238"/>
            </a:xfrm>
            <a:custGeom>
              <a:avLst/>
              <a:gdLst/>
              <a:ahLst/>
              <a:cxnLst/>
              <a:rect l="l" t="t" r="r" b="b"/>
              <a:pathLst>
                <a:path w="253238" h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11437" y="6026191"/>
            <a:ext cx="691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Rows ≠ offences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11437" y="6436671"/>
            <a:ext cx="691712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One row can represent hundreds of offences (‘Number of offences’ column) - counting flagged ROWS badly undercounts true alcohol/DV-linked offence volume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300000" y="5510003"/>
            <a:ext cx="7700000" cy="1750000"/>
            <a:chOff x="0" y="0"/>
            <a:chExt cx="10266667" cy="233333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641443" y="5646191"/>
            <a:ext cx="7017125" cy="19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41443" y="5926674"/>
            <a:ext cx="701712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Multiply the Yes/No flag by Number of offences per row before aggregating, not row count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19712" y="6334754"/>
            <a:ext cx="7217711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 b="1" i="1">
                <a:solidFill>
                  <a:srgbClr val="E9A25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5,081 alcohol-flagged rows = 46,306 actual offences (9.1× higher) · 6,246 DV-flagged rows = 59,567 offences</a:t>
            </a:r>
          </a:p>
          <a:p>
            <a:pPr algn="l">
              <a:lnSpc>
                <a:spcPts val="1440"/>
              </a:lnSpc>
            </a:pPr>
            <a:endParaRPr lang="en-US" sz="1200" b="1" i="1">
              <a:solidFill>
                <a:srgbClr val="E9A25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  <a:p>
            <a:pPr marL="259082" lvl="1" indent="-129541" algn="l">
              <a:lnSpc>
                <a:spcPts val="1440"/>
              </a:lnSpc>
              <a:buFont typeface="Arial"/>
              <a:buChar char="•"/>
            </a:pPr>
            <a:r>
              <a:rPr lang="en-US" sz="1200" i="1">
                <a:solidFill>
                  <a:srgbClr val="33294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Computed directly from the raw CSVs (Yes/No flag × Number of offences per row, summed)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99998" y="7439997"/>
            <a:ext cx="7700000" cy="1750000"/>
            <a:chOff x="0" y="0"/>
            <a:chExt cx="10266667" cy="233333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19997" y="7640003"/>
            <a:ext cx="190005" cy="190005"/>
            <a:chOff x="0" y="0"/>
            <a:chExt cx="253340" cy="2533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53238" cy="253238"/>
            </a:xfrm>
            <a:custGeom>
              <a:avLst/>
              <a:gdLst/>
              <a:ahLst/>
              <a:cxnLst/>
              <a:rect l="l" t="t" r="r" b="b"/>
              <a:pathLst>
                <a:path w="253238" h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E882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511437" y="7956194"/>
            <a:ext cx="691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November 2023 recording gap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11437" y="8366674"/>
            <a:ext cx="691712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The PROMIS→SerPro system migration left November 2023 entirely unrecorded in both crime files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300000" y="7439997"/>
            <a:ext cx="7700000" cy="1750000"/>
            <a:chOff x="0" y="0"/>
            <a:chExt cx="10266667" cy="233333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66680" cy="2333244"/>
            </a:xfrm>
            <a:custGeom>
              <a:avLst/>
              <a:gdLst/>
              <a:ahLst/>
              <a:cxnLst/>
              <a:rect l="l" t="t" r="r" b="b"/>
              <a:pathLst>
                <a:path w="10266680" h="2333244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9641443" y="7576195"/>
            <a:ext cx="7017125" cy="19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1">
                <a:solidFill>
                  <a:srgbClr val="E8829E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641443" y="7856668"/>
            <a:ext cx="701712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Retained as NaN, never imputed — avoids injecting artificial values into the assault time series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41443" y="8616667"/>
            <a:ext cx="701712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 i="1">
                <a:solidFill>
                  <a:srgbClr val="E8829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Confirmed via manifest.json null-check: exactly 1 of 132 months (0.8%) affected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998" y="800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882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Bringing the Three Datasets Together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0472" y="2986746"/>
            <a:ext cx="4233410" cy="681801"/>
            <a:chOff x="0" y="0"/>
            <a:chExt cx="6213088" cy="10006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13139" cy="1000735"/>
            </a:xfrm>
            <a:custGeom>
              <a:avLst/>
              <a:gdLst/>
              <a:ahLst/>
              <a:cxnLst/>
              <a:rect l="l" t="t" r="r" b="b"/>
              <a:pathLst>
                <a:path w="6213139" h="1000735">
                  <a:moveTo>
                    <a:pt x="0" y="300228"/>
                  </a:moveTo>
                  <a:cubicBezTo>
                    <a:pt x="0" y="134388"/>
                    <a:pt x="57547" y="0"/>
                    <a:pt x="128563" y="0"/>
                  </a:cubicBezTo>
                  <a:lnTo>
                    <a:pt x="6084553" y="0"/>
                  </a:lnTo>
                  <a:cubicBezTo>
                    <a:pt x="6155568" y="0"/>
                    <a:pt x="6213139" y="134388"/>
                    <a:pt x="6213139" y="300228"/>
                  </a:cubicBezTo>
                  <a:lnTo>
                    <a:pt x="6213139" y="700532"/>
                  </a:lnTo>
                  <a:cubicBezTo>
                    <a:pt x="6213139" y="866372"/>
                    <a:pt x="6155568" y="1000735"/>
                    <a:pt x="6084553" y="1000735"/>
                  </a:cubicBezTo>
                  <a:lnTo>
                    <a:pt x="128563" y="1000735"/>
                  </a:lnTo>
                  <a:cubicBezTo>
                    <a:pt x="57547" y="1000601"/>
                    <a:pt x="0" y="866213"/>
                    <a:pt x="0" y="700373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-1166245" y="3137692"/>
            <a:ext cx="7424799" cy="22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"/>
              </a:lnSpc>
            </a:pPr>
            <a:r>
              <a:rPr lang="en-US" sz="1362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Crime (Year x Month x Region)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0472" y="3677200"/>
            <a:ext cx="4233410" cy="545095"/>
            <a:chOff x="0" y="0"/>
            <a:chExt cx="6213088" cy="7999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13139" cy="800100"/>
            </a:xfrm>
            <a:custGeom>
              <a:avLst/>
              <a:gdLst/>
              <a:ahLst/>
              <a:cxnLst/>
              <a:rect l="l" t="t" r="r" b="b"/>
              <a:pathLst>
                <a:path w="6213139" h="800100">
                  <a:moveTo>
                    <a:pt x="0" y="240030"/>
                  </a:moveTo>
                  <a:cubicBezTo>
                    <a:pt x="0" y="107442"/>
                    <a:pt x="57547" y="0"/>
                    <a:pt x="128563" y="0"/>
                  </a:cubicBezTo>
                  <a:lnTo>
                    <a:pt x="6084553" y="0"/>
                  </a:lnTo>
                  <a:cubicBezTo>
                    <a:pt x="6155568" y="0"/>
                    <a:pt x="6213139" y="107442"/>
                    <a:pt x="6213139" y="240030"/>
                  </a:cubicBezTo>
                  <a:lnTo>
                    <a:pt x="6213139" y="560070"/>
                  </a:lnTo>
                  <a:cubicBezTo>
                    <a:pt x="6213139" y="692658"/>
                    <a:pt x="6155568" y="800100"/>
                    <a:pt x="6084553" y="800100"/>
                  </a:cubicBezTo>
                  <a:lnTo>
                    <a:pt x="128563" y="800100"/>
                  </a:lnTo>
                  <a:cubicBezTo>
                    <a:pt x="57547" y="799973"/>
                    <a:pt x="0" y="692531"/>
                    <a:pt x="0" y="559943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-1213317" y="3826874"/>
            <a:ext cx="7424799" cy="22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"/>
              </a:lnSpc>
            </a:pPr>
            <a:r>
              <a:rPr lang="en-US" sz="1362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LEFT JOIN Alcohol (Year x Quarter x Region)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50472" y="4367654"/>
            <a:ext cx="4233410" cy="545095"/>
            <a:chOff x="0" y="0"/>
            <a:chExt cx="6213088" cy="7999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13139" cy="800100"/>
            </a:xfrm>
            <a:custGeom>
              <a:avLst/>
              <a:gdLst/>
              <a:ahLst/>
              <a:cxnLst/>
              <a:rect l="l" t="t" r="r" b="b"/>
              <a:pathLst>
                <a:path w="6213139" h="800100">
                  <a:moveTo>
                    <a:pt x="0" y="240030"/>
                  </a:moveTo>
                  <a:cubicBezTo>
                    <a:pt x="0" y="107442"/>
                    <a:pt x="57547" y="0"/>
                    <a:pt x="128563" y="0"/>
                  </a:cubicBezTo>
                  <a:lnTo>
                    <a:pt x="6084553" y="0"/>
                  </a:lnTo>
                  <a:cubicBezTo>
                    <a:pt x="6155568" y="0"/>
                    <a:pt x="6213139" y="107442"/>
                    <a:pt x="6213139" y="240030"/>
                  </a:cubicBezTo>
                  <a:lnTo>
                    <a:pt x="6213139" y="560070"/>
                  </a:lnTo>
                  <a:cubicBezTo>
                    <a:pt x="6213139" y="692658"/>
                    <a:pt x="6155568" y="800100"/>
                    <a:pt x="6084553" y="800100"/>
                  </a:cubicBezTo>
                  <a:lnTo>
                    <a:pt x="128563" y="800100"/>
                  </a:lnTo>
                  <a:cubicBezTo>
                    <a:pt x="57547" y="799973"/>
                    <a:pt x="0" y="692531"/>
                    <a:pt x="0" y="559943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-1213317" y="4517328"/>
            <a:ext cx="7424799" cy="22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"/>
              </a:lnSpc>
            </a:pPr>
            <a:r>
              <a:rPr lang="en-US" sz="1362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LEFT JOIN Population (Year x Region)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0472" y="4921835"/>
            <a:ext cx="4097221" cy="508759"/>
            <a:chOff x="0" y="0"/>
            <a:chExt cx="6013213" cy="74667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13238" cy="746633"/>
            </a:xfrm>
            <a:custGeom>
              <a:avLst/>
              <a:gdLst/>
              <a:ahLst/>
              <a:cxnLst/>
              <a:rect l="l" t="t" r="r" b="b"/>
              <a:pathLst>
                <a:path w="6013238" h="746633">
                  <a:moveTo>
                    <a:pt x="0" y="224028"/>
                  </a:moveTo>
                  <a:cubicBezTo>
                    <a:pt x="0" y="100330"/>
                    <a:pt x="96272" y="0"/>
                    <a:pt x="214967" y="0"/>
                  </a:cubicBezTo>
                  <a:lnTo>
                    <a:pt x="5798270" y="0"/>
                  </a:lnTo>
                  <a:cubicBezTo>
                    <a:pt x="5916965" y="0"/>
                    <a:pt x="6013238" y="100330"/>
                    <a:pt x="6013238" y="224028"/>
                  </a:cubicBezTo>
                  <a:lnTo>
                    <a:pt x="6013238" y="522605"/>
                  </a:lnTo>
                  <a:cubicBezTo>
                    <a:pt x="6013238" y="646303"/>
                    <a:pt x="5916965" y="746633"/>
                    <a:pt x="5798270" y="746633"/>
                  </a:cubicBezTo>
                  <a:lnTo>
                    <a:pt x="214967" y="746633"/>
                  </a:lnTo>
                  <a:cubicBezTo>
                    <a:pt x="96272" y="746633"/>
                    <a:pt x="0" y="646430"/>
                    <a:pt x="0" y="522605"/>
                  </a:cubicBezTo>
                  <a:close/>
                </a:path>
              </a:pathLst>
            </a:custGeom>
            <a:solidFill>
              <a:srgbClr val="8B7EC8">
                <a:alpha val="8431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30184" y="5090120"/>
            <a:ext cx="3937796" cy="191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1"/>
              </a:lnSpc>
            </a:pPr>
            <a:r>
              <a:rPr lang="en-US" sz="122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nt_crime_merged_2015_2025.csv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192573" y="1366237"/>
            <a:ext cx="11607422" cy="6971834"/>
            <a:chOff x="0" y="0"/>
            <a:chExt cx="7769542" cy="4666666"/>
          </a:xfrm>
        </p:grpSpPr>
        <p:sp>
          <p:nvSpPr>
            <p:cNvPr id="24" name="Freeform 24" descr="n_region_totals.png"/>
            <p:cNvSpPr/>
            <p:nvPr/>
          </p:nvSpPr>
          <p:spPr>
            <a:xfrm>
              <a:off x="0" y="0"/>
              <a:ext cx="7769593" cy="4666615"/>
            </a:xfrm>
            <a:custGeom>
              <a:avLst/>
              <a:gdLst/>
              <a:ahLst/>
              <a:cxnLst/>
              <a:rect l="l" t="t" r="r" b="b"/>
              <a:pathLst>
                <a:path w="7769593" h="4666615">
                  <a:moveTo>
                    <a:pt x="0" y="0"/>
                  </a:moveTo>
                  <a:lnTo>
                    <a:pt x="7769593" y="0"/>
                  </a:lnTo>
                  <a:lnTo>
                    <a:pt x="7769593" y="4666615"/>
                  </a:lnTo>
                  <a:lnTo>
                    <a:pt x="0" y="466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8" r="-498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99998" y="8499996"/>
            <a:ext cx="5149996" cy="1349997"/>
            <a:chOff x="0" y="0"/>
            <a:chExt cx="6866661" cy="17999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66636" cy="1799971"/>
            </a:xfrm>
            <a:custGeom>
              <a:avLst/>
              <a:gdLst/>
              <a:ahLst/>
              <a:cxnLst/>
              <a:rect l="l" t="t" r="r" b="b"/>
              <a:pathLst>
                <a:path w="6866636" h="1799971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6614668" y="0"/>
                  </a:lnTo>
                  <a:cubicBezTo>
                    <a:pt x="6753860" y="0"/>
                    <a:pt x="6866636" y="112776"/>
                    <a:pt x="6866636" y="251968"/>
                  </a:cubicBezTo>
                  <a:lnTo>
                    <a:pt x="6866636" y="1548003"/>
                  </a:lnTo>
                  <a:cubicBezTo>
                    <a:pt x="6866636" y="1687195"/>
                    <a:pt x="6753860" y="1799971"/>
                    <a:pt x="6614668" y="1799971"/>
                  </a:cubicBezTo>
                  <a:lnTo>
                    <a:pt x="251968" y="1799971"/>
                  </a:lnTo>
                  <a:cubicBezTo>
                    <a:pt x="112776" y="1799971"/>
                    <a:pt x="0" y="1687195"/>
                    <a:pt x="0" y="1548003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91438" y="8706669"/>
            <a:ext cx="496711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696 rows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1438" y="9286199"/>
            <a:ext cx="4967116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usable panel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500003" y="8499996"/>
            <a:ext cx="5149996" cy="1349997"/>
            <a:chOff x="0" y="0"/>
            <a:chExt cx="6866661" cy="179999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66636" cy="1799971"/>
            </a:xfrm>
            <a:custGeom>
              <a:avLst/>
              <a:gdLst/>
              <a:ahLst/>
              <a:cxnLst/>
              <a:rect l="l" t="t" r="r" b="b"/>
              <a:pathLst>
                <a:path w="6866636" h="1799971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6614668" y="0"/>
                  </a:lnTo>
                  <a:cubicBezTo>
                    <a:pt x="6753860" y="0"/>
                    <a:pt x="6866636" y="112776"/>
                    <a:pt x="6866636" y="251968"/>
                  </a:cubicBezTo>
                  <a:lnTo>
                    <a:pt x="6866636" y="1548003"/>
                  </a:lnTo>
                  <a:cubicBezTo>
                    <a:pt x="6866636" y="1687195"/>
                    <a:pt x="6753860" y="1799971"/>
                    <a:pt x="6614668" y="1799971"/>
                  </a:cubicBezTo>
                  <a:lnTo>
                    <a:pt x="251968" y="1799971"/>
                  </a:lnTo>
                  <a:cubicBezTo>
                    <a:pt x="112776" y="1799971"/>
                    <a:pt x="0" y="1687195"/>
                    <a:pt x="0" y="1548003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591443" y="8706669"/>
            <a:ext cx="496711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0 PAC nulls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91443" y="9286199"/>
            <a:ext cx="4967116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in 2023-2025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649999" y="8499996"/>
            <a:ext cx="5149996" cy="1349997"/>
            <a:chOff x="0" y="0"/>
            <a:chExt cx="6866661" cy="17999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866636" cy="1799971"/>
            </a:xfrm>
            <a:custGeom>
              <a:avLst/>
              <a:gdLst/>
              <a:ahLst/>
              <a:cxnLst/>
              <a:rect l="l" t="t" r="r" b="b"/>
              <a:pathLst>
                <a:path w="6866636" h="1799971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6614668" y="0"/>
                  </a:lnTo>
                  <a:cubicBezTo>
                    <a:pt x="6753860" y="0"/>
                    <a:pt x="6866636" y="112776"/>
                    <a:pt x="6866636" y="251968"/>
                  </a:cubicBezTo>
                  <a:lnTo>
                    <a:pt x="6866636" y="1548003"/>
                  </a:lnTo>
                  <a:cubicBezTo>
                    <a:pt x="6866636" y="1687195"/>
                    <a:pt x="6753860" y="1799971"/>
                    <a:pt x="6614668" y="1799971"/>
                  </a:cubicBezTo>
                  <a:lnTo>
                    <a:pt x="251968" y="1799971"/>
                  </a:lnTo>
                  <a:cubicBezTo>
                    <a:pt x="112776" y="1799971"/>
                    <a:pt x="0" y="1687195"/>
                    <a:pt x="0" y="1548003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891439" y="8706669"/>
            <a:ext cx="496711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Nov 2023 = NaN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91439" y="9286199"/>
            <a:ext cx="4967116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confirmed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Built from the Merged Data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99998" y="1750000"/>
            <a:ext cx="5149996" cy="3099997"/>
            <a:chOff x="0" y="0"/>
            <a:chExt cx="6866661" cy="41333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66763" cy="4133342"/>
            </a:xfrm>
            <a:custGeom>
              <a:avLst/>
              <a:gdLst/>
              <a:ahLst/>
              <a:cxnLst/>
              <a:rect l="l" t="t" r="r" b="b"/>
              <a:pathLst>
                <a:path w="6866763" h="4133342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80004" y="2010004"/>
            <a:ext cx="299999" cy="299999"/>
            <a:chOff x="0" y="0"/>
            <a:chExt cx="399999" cy="3999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71444" y="2436200"/>
            <a:ext cx="440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log(Assault_rate)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1444" y="2856671"/>
            <a:ext cx="440712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Right-skewed → log-normal for linear models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74713" y="3422117"/>
            <a:ext cx="4696664" cy="1227883"/>
            <a:chOff x="0" y="0"/>
            <a:chExt cx="6120003" cy="15999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20003" cy="1600073"/>
            </a:xfrm>
            <a:custGeom>
              <a:avLst/>
              <a:gdLst/>
              <a:ahLst/>
              <a:cxnLst/>
              <a:rect l="l" t="t" r="r" b="b"/>
              <a:pathLst>
                <a:path w="6120003" h="1600073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lnTo>
                    <a:pt x="5879973" y="0"/>
                  </a:lnTo>
                  <a:cubicBezTo>
                    <a:pt x="6012561" y="0"/>
                    <a:pt x="6120003" y="107442"/>
                    <a:pt x="6120003" y="240030"/>
                  </a:cubicBezTo>
                  <a:lnTo>
                    <a:pt x="6120003" y="1360043"/>
                  </a:lnTo>
                  <a:cubicBezTo>
                    <a:pt x="6120003" y="1492631"/>
                    <a:pt x="6012561" y="1600073"/>
                    <a:pt x="5879973" y="1600073"/>
                  </a:cubicBezTo>
                  <a:lnTo>
                    <a:pt x="240030" y="1600073"/>
                  </a:lnTo>
                  <a:cubicBezTo>
                    <a:pt x="107442" y="1600073"/>
                    <a:pt x="0" y="1492631"/>
                    <a:pt x="0" y="1360043"/>
                  </a:cubicBezTo>
                  <a:close/>
                </a:path>
              </a:pathLst>
            </a:custGeom>
            <a:solidFill>
              <a:srgbClr val="8B7EC8">
                <a:alpha val="117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71444" y="3422476"/>
            <a:ext cx="4290003" cy="1130769"/>
            <a:chOff x="0" y="0"/>
            <a:chExt cx="5720004" cy="15076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20000" cy="1507695"/>
            </a:xfrm>
            <a:custGeom>
              <a:avLst/>
              <a:gdLst/>
              <a:ahLst/>
              <a:cxnLst/>
              <a:rect l="l" t="t" r="r" b="b"/>
              <a:pathLst>
                <a:path w="5720000" h="1507695">
                  <a:moveTo>
                    <a:pt x="0" y="0"/>
                  </a:moveTo>
                  <a:lnTo>
                    <a:pt x="5720000" y="0"/>
                  </a:lnTo>
                  <a:lnTo>
                    <a:pt x="5720000" y="1507695"/>
                  </a:lnTo>
                  <a:lnTo>
                    <a:pt x="0" y="15076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495" b="-203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720004" cy="1526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Skewness: 0.96 → 0.06 after transform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Computed directly from the pipeline (skew of Assault_offences before/after log1p)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00003" y="1750000"/>
            <a:ext cx="5149996" cy="3099997"/>
            <a:chOff x="0" y="0"/>
            <a:chExt cx="6866661" cy="41333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66763" cy="4133342"/>
            </a:xfrm>
            <a:custGeom>
              <a:avLst/>
              <a:gdLst/>
              <a:ahLst/>
              <a:cxnLst/>
              <a:rect l="l" t="t" r="r" b="b"/>
              <a:pathLst>
                <a:path w="6866763" h="4133342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80000" y="2010004"/>
            <a:ext cx="299999" cy="299999"/>
            <a:chOff x="0" y="0"/>
            <a:chExt cx="399999" cy="39999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871440" y="2436200"/>
            <a:ext cx="440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sin_month, cos_month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71440" y="2856671"/>
            <a:ext cx="109154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Cyclic encoding preserves Jan-Dec adjacency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594798" y="1867547"/>
            <a:ext cx="3354915" cy="3354915"/>
            <a:chOff x="0" y="0"/>
            <a:chExt cx="2066671" cy="2066671"/>
          </a:xfrm>
        </p:grpSpPr>
        <p:sp>
          <p:nvSpPr>
            <p:cNvPr id="29" name="Freeform 29" descr="n_sincos_circle.png"/>
            <p:cNvSpPr/>
            <p:nvPr/>
          </p:nvSpPr>
          <p:spPr>
            <a:xfrm>
              <a:off x="0" y="0"/>
              <a:ext cx="2066671" cy="2066671"/>
            </a:xfrm>
            <a:custGeom>
              <a:avLst/>
              <a:gdLst/>
              <a:ahLst/>
              <a:cxnLst/>
              <a:rect l="l" t="t" r="r" b="b"/>
              <a:pathLst>
                <a:path w="2066671" h="2066671">
                  <a:moveTo>
                    <a:pt x="0" y="0"/>
                  </a:moveTo>
                  <a:lnTo>
                    <a:pt x="2066671" y="0"/>
                  </a:lnTo>
                  <a:lnTo>
                    <a:pt x="2066671" y="2066671"/>
                  </a:lnTo>
                  <a:lnTo>
                    <a:pt x="0" y="206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799999" y="1750000"/>
            <a:ext cx="5149996" cy="3099997"/>
            <a:chOff x="0" y="0"/>
            <a:chExt cx="6866661" cy="41333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66763" cy="4133342"/>
            </a:xfrm>
            <a:custGeom>
              <a:avLst/>
              <a:gdLst/>
              <a:ahLst/>
              <a:cxnLst/>
              <a:rect l="l" t="t" r="r" b="b"/>
              <a:pathLst>
                <a:path w="6866763" h="4133342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079996" y="2010004"/>
            <a:ext cx="299999" cy="299999"/>
            <a:chOff x="0" y="0"/>
            <a:chExt cx="399999" cy="39999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171436" y="2436200"/>
            <a:ext cx="440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Season (wet/dry)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71436" y="2856671"/>
            <a:ext cx="440712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Nov-Apr indicator, cited link to crime incidence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079996" y="3422117"/>
            <a:ext cx="4696664" cy="1227883"/>
            <a:chOff x="0" y="0"/>
            <a:chExt cx="6120003" cy="159999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120003" cy="1600073"/>
            </a:xfrm>
            <a:custGeom>
              <a:avLst/>
              <a:gdLst/>
              <a:ahLst/>
              <a:cxnLst/>
              <a:rect l="l" t="t" r="r" b="b"/>
              <a:pathLst>
                <a:path w="6120003" h="1600073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lnTo>
                    <a:pt x="5879973" y="0"/>
                  </a:lnTo>
                  <a:cubicBezTo>
                    <a:pt x="6012561" y="0"/>
                    <a:pt x="6120003" y="107442"/>
                    <a:pt x="6120003" y="240030"/>
                  </a:cubicBezTo>
                  <a:lnTo>
                    <a:pt x="6120003" y="1360043"/>
                  </a:lnTo>
                  <a:cubicBezTo>
                    <a:pt x="6120003" y="1492631"/>
                    <a:pt x="6012561" y="1600073"/>
                    <a:pt x="5879973" y="1600073"/>
                  </a:cubicBezTo>
                  <a:lnTo>
                    <a:pt x="240030" y="1600073"/>
                  </a:lnTo>
                  <a:cubicBezTo>
                    <a:pt x="107442" y="1600073"/>
                    <a:pt x="0" y="1492631"/>
                    <a:pt x="0" y="1360043"/>
                  </a:cubicBezTo>
                  <a:close/>
                </a:path>
              </a:pathLst>
            </a:custGeom>
            <a:solidFill>
              <a:srgbClr val="3FA593">
                <a:alpha val="117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230005" y="3530003"/>
            <a:ext cx="4290003" cy="1330794"/>
            <a:chOff x="0" y="0"/>
            <a:chExt cx="5720004" cy="17743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20000" cy="1774395"/>
            </a:xfrm>
            <a:custGeom>
              <a:avLst/>
              <a:gdLst/>
              <a:ahLst/>
              <a:cxnLst/>
              <a:rect l="l" t="t" r="r" b="b"/>
              <a:pathLst>
                <a:path w="5720000" h="1774395">
                  <a:moveTo>
                    <a:pt x="0" y="0"/>
                  </a:moveTo>
                  <a:lnTo>
                    <a:pt x="5720000" y="0"/>
                  </a:lnTo>
                  <a:lnTo>
                    <a:pt x="5720000" y="1774395"/>
                  </a:lnTo>
                  <a:lnTo>
                    <a:pt x="0" y="17743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362" b="-22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5720004" cy="17934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Wet 398.7 vs dry 403.1/100k (~1%) - weak alone. Basis: Blakeslee et al. (2018)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Nov-Apr months and this comparison come from the code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99998" y="5099999"/>
            <a:ext cx="5149996" cy="3099997"/>
            <a:chOff x="0" y="0"/>
            <a:chExt cx="6866661" cy="413332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66763" cy="4133342"/>
            </a:xfrm>
            <a:custGeom>
              <a:avLst/>
              <a:gdLst/>
              <a:ahLst/>
              <a:cxnLst/>
              <a:rect l="l" t="t" r="r" b="b"/>
              <a:pathLst>
                <a:path w="6866763" h="4133342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80004" y="5360003"/>
            <a:ext cx="299999" cy="299999"/>
            <a:chOff x="0" y="0"/>
            <a:chExt cx="399999" cy="39999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E882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571444" y="5786199"/>
            <a:ext cx="440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lag1, lag3, lag12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71444" y="6206671"/>
            <a:ext cx="440712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Short / quarterly / yearly dependence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480004" y="6757310"/>
            <a:ext cx="4753299" cy="1242689"/>
            <a:chOff x="0" y="0"/>
            <a:chExt cx="6120003" cy="159999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120003" cy="1600073"/>
            </a:xfrm>
            <a:custGeom>
              <a:avLst/>
              <a:gdLst/>
              <a:ahLst/>
              <a:cxnLst/>
              <a:rect l="l" t="t" r="r" b="b"/>
              <a:pathLst>
                <a:path w="6120003" h="1600073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lnTo>
                    <a:pt x="5879973" y="0"/>
                  </a:lnTo>
                  <a:cubicBezTo>
                    <a:pt x="6012561" y="0"/>
                    <a:pt x="6120003" y="107442"/>
                    <a:pt x="6120003" y="240030"/>
                  </a:cubicBezTo>
                  <a:lnTo>
                    <a:pt x="6120003" y="1360043"/>
                  </a:lnTo>
                  <a:cubicBezTo>
                    <a:pt x="6120003" y="1492631"/>
                    <a:pt x="6012561" y="1600073"/>
                    <a:pt x="5879973" y="1600073"/>
                  </a:cubicBezTo>
                  <a:lnTo>
                    <a:pt x="240030" y="1600073"/>
                  </a:lnTo>
                  <a:cubicBezTo>
                    <a:pt x="107442" y="1600073"/>
                    <a:pt x="0" y="1492631"/>
                    <a:pt x="0" y="1360043"/>
                  </a:cubicBezTo>
                  <a:close/>
                </a:path>
              </a:pathLst>
            </a:custGeom>
            <a:solidFill>
              <a:srgbClr val="E8829E">
                <a:alpha val="117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30004" y="6880003"/>
            <a:ext cx="4290003" cy="1330794"/>
            <a:chOff x="0" y="0"/>
            <a:chExt cx="5720004" cy="17743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720000" cy="1774395"/>
            </a:xfrm>
            <a:custGeom>
              <a:avLst/>
              <a:gdLst/>
              <a:ahLst/>
              <a:cxnLst/>
              <a:rect l="l" t="t" r="r" b="b"/>
              <a:pathLst>
                <a:path w="5720000" h="1774395">
                  <a:moveTo>
                    <a:pt x="0" y="0"/>
                  </a:moveTo>
                  <a:lnTo>
                    <a:pt x="5720000" y="0"/>
                  </a:lnTo>
                  <a:lnTo>
                    <a:pt x="5720000" y="1774395"/>
                  </a:lnTo>
                  <a:lnTo>
                    <a:pt x="0" y="17743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362" b="-22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5720004" cy="17934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Autocorrelation: lag1=0.90 · lag3=0.84 · lag12=0.84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Computed directly from the panel (correlation between rate and each lag)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500003" y="5099999"/>
            <a:ext cx="5149996" cy="3099997"/>
            <a:chOff x="0" y="0"/>
            <a:chExt cx="6866661" cy="41333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866763" cy="4133342"/>
            </a:xfrm>
            <a:custGeom>
              <a:avLst/>
              <a:gdLst/>
              <a:ahLst/>
              <a:cxnLst/>
              <a:rect l="l" t="t" r="r" b="b"/>
              <a:pathLst>
                <a:path w="6866763" h="4133342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780000" y="5360003"/>
            <a:ext cx="299999" cy="299999"/>
            <a:chOff x="0" y="0"/>
            <a:chExt cx="399999" cy="39999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871440" y="5786199"/>
            <a:ext cx="440712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PCA (diagnostic only)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871440" y="6206671"/>
            <a:ext cx="1102574" cy="1013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Condenses correlated age bands into components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907804" y="5712890"/>
            <a:ext cx="2819697" cy="2416182"/>
            <a:chOff x="0" y="0"/>
            <a:chExt cx="2334006" cy="1999996"/>
          </a:xfrm>
        </p:grpSpPr>
        <p:sp>
          <p:nvSpPr>
            <p:cNvPr id="59" name="Freeform 59" descr="n_pca_variance.png"/>
            <p:cNvSpPr/>
            <p:nvPr/>
          </p:nvSpPr>
          <p:spPr>
            <a:xfrm>
              <a:off x="0" y="0"/>
              <a:ext cx="2334006" cy="1999996"/>
            </a:xfrm>
            <a:custGeom>
              <a:avLst/>
              <a:gdLst/>
              <a:ahLst/>
              <a:cxnLst/>
              <a:rect l="l" t="t" r="r" b="b"/>
              <a:pathLst>
                <a:path w="2334006" h="1999996">
                  <a:moveTo>
                    <a:pt x="0" y="0"/>
                  </a:moveTo>
                  <a:lnTo>
                    <a:pt x="2334006" y="0"/>
                  </a:lnTo>
                  <a:lnTo>
                    <a:pt x="2334006" y="1999996"/>
                  </a:lnTo>
                  <a:lnTo>
                    <a:pt x="0" y="1999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" b="-1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799999" y="5099999"/>
            <a:ext cx="5149996" cy="3099997"/>
            <a:chOff x="0" y="0"/>
            <a:chExt cx="6866661" cy="413332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866763" cy="4133342"/>
            </a:xfrm>
            <a:custGeom>
              <a:avLst/>
              <a:gdLst/>
              <a:ahLst/>
              <a:cxnLst/>
              <a:rect l="l" t="t" r="r" b="b"/>
              <a:pathLst>
                <a:path w="6866763" h="4133342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079996" y="5360003"/>
            <a:ext cx="299999" cy="299999"/>
            <a:chOff x="0" y="0"/>
            <a:chExt cx="399999" cy="39999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2171436" y="5786199"/>
            <a:ext cx="4407122" cy="318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alcohol_per_capita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171436" y="6206671"/>
            <a:ext cx="440712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Per-capita PAC — fair cross-region comparison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048046" y="6639118"/>
            <a:ext cx="4696664" cy="1479074"/>
            <a:chOff x="0" y="0"/>
            <a:chExt cx="5654066" cy="178057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654065" cy="1780655"/>
            </a:xfrm>
            <a:custGeom>
              <a:avLst/>
              <a:gdLst/>
              <a:ahLst/>
              <a:cxnLst/>
              <a:rect l="l" t="t" r="r" b="b"/>
              <a:pathLst>
                <a:path w="5654065" h="1780655">
                  <a:moveTo>
                    <a:pt x="0" y="267121"/>
                  </a:moveTo>
                  <a:cubicBezTo>
                    <a:pt x="0" y="119568"/>
                    <a:pt x="99262" y="0"/>
                    <a:pt x="221756" y="0"/>
                  </a:cubicBezTo>
                  <a:lnTo>
                    <a:pt x="5432310" y="0"/>
                  </a:lnTo>
                  <a:cubicBezTo>
                    <a:pt x="5554804" y="0"/>
                    <a:pt x="5654065" y="119568"/>
                    <a:pt x="5654065" y="267121"/>
                  </a:cubicBezTo>
                  <a:lnTo>
                    <a:pt x="5654065" y="1513543"/>
                  </a:lnTo>
                  <a:cubicBezTo>
                    <a:pt x="5654065" y="1661096"/>
                    <a:pt x="5554804" y="1780655"/>
                    <a:pt x="5432310" y="1780655"/>
                  </a:cubicBezTo>
                  <a:lnTo>
                    <a:pt x="221756" y="1780655"/>
                  </a:lnTo>
                  <a:cubicBezTo>
                    <a:pt x="99262" y="1780655"/>
                    <a:pt x="0" y="1661096"/>
                    <a:pt x="0" y="1513543"/>
                  </a:cubicBezTo>
                  <a:close/>
                </a:path>
              </a:pathLst>
            </a:custGeom>
            <a:solidFill>
              <a:srgbClr val="3FA593">
                <a:alpha val="117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251376" y="6798278"/>
            <a:ext cx="4290003" cy="1330794"/>
            <a:chOff x="0" y="0"/>
            <a:chExt cx="5720004" cy="177439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720000" cy="1774395"/>
            </a:xfrm>
            <a:custGeom>
              <a:avLst/>
              <a:gdLst/>
              <a:ahLst/>
              <a:cxnLst/>
              <a:rect l="l" t="t" r="r" b="b"/>
              <a:pathLst>
                <a:path w="5720000" h="1774395">
                  <a:moveTo>
                    <a:pt x="0" y="0"/>
                  </a:moveTo>
                  <a:lnTo>
                    <a:pt x="5720000" y="0"/>
                  </a:lnTo>
                  <a:lnTo>
                    <a:pt x="5720000" y="1774395"/>
                  </a:lnTo>
                  <a:lnTo>
                    <a:pt x="0" y="17743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362" b="-22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5720004" cy="17934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Total PAC declining: 2.43M L (2023) → 2.28M L (2025)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r>
                <a:rPr lang="en-US" sz="1349" u="none" strike="noStrike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Computed directly from the raw wholesale-alcohol XLSX files </a:t>
              </a:r>
            </a:p>
            <a:p>
              <a:pPr marL="0" lvl="0" indent="0" algn="l">
                <a:lnSpc>
                  <a:spcPts val="1619"/>
                </a:lnSpc>
                <a:spcBef>
                  <a:spcPct val="0"/>
                </a:spcBef>
              </a:pPr>
              <a:endParaRPr lang="en-US" sz="1349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6871440" y="7500422"/>
            <a:ext cx="168387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0"/>
              </a:lnSpc>
              <a:spcBef>
                <a:spcPct val="0"/>
              </a:spcBef>
            </a:pPr>
            <a:r>
              <a:rPr lang="en-US" sz="103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* </a:t>
            </a:r>
            <a:r>
              <a:rPr lang="en-US" sz="1033" u="none" strike="noStrike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Diagnostic only - not merged into model features (candidate for future work)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Validated Without Leaking Future Data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99998" y="1750000"/>
            <a:ext cx="9700003" cy="950004"/>
            <a:chOff x="0" y="0"/>
            <a:chExt cx="12933337" cy="12666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33299" cy="1266571"/>
            </a:xfrm>
            <a:custGeom>
              <a:avLst/>
              <a:gdLst/>
              <a:ahLst/>
              <a:cxnLst/>
              <a:rect l="l" t="t" r="r" b="b"/>
              <a:pathLst>
                <a:path w="12933299" h="1266571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lnTo>
                    <a:pt x="12756007" y="0"/>
                  </a:lnTo>
                  <a:cubicBezTo>
                    <a:pt x="12853924" y="0"/>
                    <a:pt x="12933299" y="79375"/>
                    <a:pt x="12933299" y="177292"/>
                  </a:cubicBezTo>
                  <a:lnTo>
                    <a:pt x="12933299" y="1089279"/>
                  </a:lnTo>
                  <a:cubicBezTo>
                    <a:pt x="12933299" y="1187196"/>
                    <a:pt x="12853924" y="1266571"/>
                    <a:pt x="12756007" y="1266571"/>
                  </a:cubicBezTo>
                  <a:lnTo>
                    <a:pt x="177292" y="1266571"/>
                  </a:lnTo>
                  <a:cubicBezTo>
                    <a:pt x="79375" y="1266698"/>
                    <a:pt x="0" y="1187323"/>
                    <a:pt x="0" y="1089279"/>
                  </a:cubicBez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41440" y="1896666"/>
            <a:ext cx="4317121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TRAIN . 2015-2022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1440" y="2286191"/>
            <a:ext cx="4317121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504 rows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550001" y="1750000"/>
            <a:ext cx="3350000" cy="950004"/>
            <a:chOff x="0" y="0"/>
            <a:chExt cx="4466666" cy="12666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66590" cy="1266571"/>
            </a:xfrm>
            <a:custGeom>
              <a:avLst/>
              <a:gdLst/>
              <a:ahLst/>
              <a:cxnLst/>
              <a:rect l="l" t="t" r="r" b="b"/>
              <a:pathLst>
                <a:path w="4466590" h="1266571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lnTo>
                    <a:pt x="4289298" y="0"/>
                  </a:lnTo>
                  <a:cubicBezTo>
                    <a:pt x="4387215" y="0"/>
                    <a:pt x="4466590" y="79375"/>
                    <a:pt x="4466590" y="177292"/>
                  </a:cubicBezTo>
                  <a:lnTo>
                    <a:pt x="4466590" y="1089279"/>
                  </a:lnTo>
                  <a:cubicBezTo>
                    <a:pt x="4466590" y="1187196"/>
                    <a:pt x="4387215" y="1266571"/>
                    <a:pt x="4289298" y="1266571"/>
                  </a:cubicBezTo>
                  <a:lnTo>
                    <a:pt x="177292" y="1266571"/>
                  </a:lnTo>
                  <a:cubicBezTo>
                    <a:pt x="79375" y="1266698"/>
                    <a:pt x="0" y="1187323"/>
                    <a:pt x="0" y="1089279"/>
                  </a:cubicBezTo>
                  <a:close/>
                </a:path>
              </a:pathLst>
            </a:custGeom>
            <a:solidFill>
              <a:srgbClr val="E9A25E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791440" y="1896666"/>
            <a:ext cx="2917117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 . 2023-2025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91440" y="2286191"/>
            <a:ext cx="2917117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192 rows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1438" y="3026674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Leakage controls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99998" y="3520002"/>
            <a:ext cx="119996" cy="119996"/>
            <a:chOff x="0" y="0"/>
            <a:chExt cx="159995" cy="15999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41440" y="3476673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Temporal cut-off, no random split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99998" y="3949998"/>
            <a:ext cx="119996" cy="119996"/>
            <a:chOff x="0" y="0"/>
            <a:chExt cx="159995" cy="15999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541440" y="3906669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TimeSeriesSplit cross-validation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99998" y="4380005"/>
            <a:ext cx="119996" cy="119996"/>
            <a:chOff x="0" y="0"/>
            <a:chExt cx="159995" cy="15999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41440" y="4336666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Rolling-origin backtest (evaluation.py)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99998" y="4810001"/>
            <a:ext cx="119996" cy="119996"/>
            <a:chOff x="0" y="0"/>
            <a:chExt cx="159995" cy="15999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41440" y="4766672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Last 6 months excluded from training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91440" y="3026674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Baselines tested (evaluation.py)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100000" y="3520002"/>
            <a:ext cx="119996" cy="119996"/>
            <a:chOff x="0" y="0"/>
            <a:chExt cx="159995" cy="15999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441443" y="3476673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Seasonal naive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100000" y="3949998"/>
            <a:ext cx="119996" cy="119996"/>
            <a:chOff x="0" y="0"/>
            <a:chExt cx="159995" cy="15999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441443" y="3906669"/>
            <a:ext cx="44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12-month moving average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191440" y="4436193"/>
            <a:ext cx="4417124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i="1">
                <a:solidFill>
                  <a:srgbClr val="8B7EC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-&gt; Model must beat both to be accepted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900000" y="3045724"/>
            <a:ext cx="7894265" cy="6476824"/>
            <a:chOff x="0" y="0"/>
            <a:chExt cx="7379573" cy="6054546"/>
          </a:xfrm>
        </p:grpSpPr>
        <p:sp>
          <p:nvSpPr>
            <p:cNvPr id="41" name="Freeform 41" descr="n_rolling_schema.png"/>
            <p:cNvSpPr/>
            <p:nvPr/>
          </p:nvSpPr>
          <p:spPr>
            <a:xfrm>
              <a:off x="0" y="0"/>
              <a:ext cx="7379516" cy="6054597"/>
            </a:xfrm>
            <a:custGeom>
              <a:avLst/>
              <a:gdLst/>
              <a:ahLst/>
              <a:cxnLst/>
              <a:rect l="l" t="t" r="r" b="b"/>
              <a:pathLst>
                <a:path w="7379516" h="6054597">
                  <a:moveTo>
                    <a:pt x="0" y="0"/>
                  </a:moveTo>
                  <a:lnTo>
                    <a:pt x="7379516" y="0"/>
                  </a:lnTo>
                  <a:lnTo>
                    <a:pt x="7379516" y="6054597"/>
                  </a:lnTo>
                  <a:lnTo>
                    <a:pt x="0" y="6054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9" r="-1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291438" y="5176666"/>
            <a:ext cx="9517123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Sanity check: does the split add up?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199998" y="5600005"/>
            <a:ext cx="3099997" cy="1300001"/>
            <a:chOff x="0" y="0"/>
            <a:chExt cx="4133329" cy="173333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133342" cy="1733423"/>
            </a:xfrm>
            <a:custGeom>
              <a:avLst/>
              <a:gdLst/>
              <a:ahLst/>
              <a:cxnLst/>
              <a:rect l="l" t="t" r="r" b="b"/>
              <a:pathLst>
                <a:path w="4133342" h="1733423">
                  <a:moveTo>
                    <a:pt x="0" y="242697"/>
                  </a:moveTo>
                  <a:cubicBezTo>
                    <a:pt x="0" y="108585"/>
                    <a:pt x="108585" y="0"/>
                    <a:pt x="242697" y="0"/>
                  </a:cubicBezTo>
                  <a:lnTo>
                    <a:pt x="3890645" y="0"/>
                  </a:lnTo>
                  <a:cubicBezTo>
                    <a:pt x="4024630" y="0"/>
                    <a:pt x="4133342" y="108585"/>
                    <a:pt x="4133342" y="242697"/>
                  </a:cubicBezTo>
                  <a:lnTo>
                    <a:pt x="4133342" y="1490726"/>
                  </a:lnTo>
                  <a:cubicBezTo>
                    <a:pt x="4133342" y="1624711"/>
                    <a:pt x="4024757" y="1733423"/>
                    <a:pt x="3890645" y="1733423"/>
                  </a:cubicBezTo>
                  <a:lnTo>
                    <a:pt x="242697" y="1733423"/>
                  </a:lnTo>
                  <a:cubicBezTo>
                    <a:pt x="108585" y="1733296"/>
                    <a:pt x="0" y="1624711"/>
                    <a:pt x="0" y="149072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91438" y="5776674"/>
            <a:ext cx="2917117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696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91438" y="6376673"/>
            <a:ext cx="2917117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6 regions × ~116 months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450004" y="5600005"/>
            <a:ext cx="3099997" cy="1300001"/>
            <a:chOff x="0" y="0"/>
            <a:chExt cx="4133329" cy="173333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133342" cy="1733423"/>
            </a:xfrm>
            <a:custGeom>
              <a:avLst/>
              <a:gdLst/>
              <a:ahLst/>
              <a:cxnLst/>
              <a:rect l="l" t="t" r="r" b="b"/>
              <a:pathLst>
                <a:path w="4133342" h="1733423">
                  <a:moveTo>
                    <a:pt x="0" y="242697"/>
                  </a:moveTo>
                  <a:cubicBezTo>
                    <a:pt x="0" y="108585"/>
                    <a:pt x="108585" y="0"/>
                    <a:pt x="242697" y="0"/>
                  </a:cubicBezTo>
                  <a:lnTo>
                    <a:pt x="3890645" y="0"/>
                  </a:lnTo>
                  <a:cubicBezTo>
                    <a:pt x="4024630" y="0"/>
                    <a:pt x="4133342" y="108585"/>
                    <a:pt x="4133342" y="242697"/>
                  </a:cubicBezTo>
                  <a:lnTo>
                    <a:pt x="4133342" y="1490726"/>
                  </a:lnTo>
                  <a:cubicBezTo>
                    <a:pt x="4133342" y="1624711"/>
                    <a:pt x="4024757" y="1733423"/>
                    <a:pt x="3890645" y="1733423"/>
                  </a:cubicBezTo>
                  <a:lnTo>
                    <a:pt x="242697" y="1733423"/>
                  </a:lnTo>
                  <a:cubicBezTo>
                    <a:pt x="108585" y="1733296"/>
                    <a:pt x="0" y="1624711"/>
                    <a:pt x="0" y="149072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541444" y="5776674"/>
            <a:ext cx="2917117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504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41444" y="6376673"/>
            <a:ext cx="2917117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train rows (72%)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7700000" y="5600005"/>
            <a:ext cx="3099997" cy="1300001"/>
            <a:chOff x="0" y="0"/>
            <a:chExt cx="4133329" cy="173333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133342" cy="1733423"/>
            </a:xfrm>
            <a:custGeom>
              <a:avLst/>
              <a:gdLst/>
              <a:ahLst/>
              <a:cxnLst/>
              <a:rect l="l" t="t" r="r" b="b"/>
              <a:pathLst>
                <a:path w="4133342" h="1733423">
                  <a:moveTo>
                    <a:pt x="0" y="242697"/>
                  </a:moveTo>
                  <a:cubicBezTo>
                    <a:pt x="0" y="108585"/>
                    <a:pt x="108585" y="0"/>
                    <a:pt x="242697" y="0"/>
                  </a:cubicBezTo>
                  <a:lnTo>
                    <a:pt x="3890645" y="0"/>
                  </a:lnTo>
                  <a:cubicBezTo>
                    <a:pt x="4024630" y="0"/>
                    <a:pt x="4133342" y="108585"/>
                    <a:pt x="4133342" y="242697"/>
                  </a:cubicBezTo>
                  <a:lnTo>
                    <a:pt x="4133342" y="1490726"/>
                  </a:lnTo>
                  <a:cubicBezTo>
                    <a:pt x="4133342" y="1624711"/>
                    <a:pt x="4024757" y="1733423"/>
                    <a:pt x="3890645" y="1733423"/>
                  </a:cubicBezTo>
                  <a:lnTo>
                    <a:pt x="242697" y="1733423"/>
                  </a:lnTo>
                  <a:cubicBezTo>
                    <a:pt x="108585" y="1733296"/>
                    <a:pt x="0" y="1624711"/>
                    <a:pt x="0" y="1490726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7791440" y="5776674"/>
            <a:ext cx="2917117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192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91440" y="6376673"/>
            <a:ext cx="2917117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test rows (28%)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199998" y="7250001"/>
            <a:ext cx="9700003" cy="1600000"/>
            <a:chOff x="0" y="0"/>
            <a:chExt cx="12933337" cy="213333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933426" cy="2133346"/>
            </a:xfrm>
            <a:custGeom>
              <a:avLst/>
              <a:gdLst/>
              <a:ahLst/>
              <a:cxnLst/>
              <a:rect l="l" t="t" r="r" b="b"/>
              <a:pathLst>
                <a:path w="12933426" h="2133346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12720066" y="0"/>
                  </a:lnTo>
                  <a:cubicBezTo>
                    <a:pt x="12837923" y="0"/>
                    <a:pt x="12933426" y="95504"/>
                    <a:pt x="12933426" y="213360"/>
                  </a:cubicBezTo>
                  <a:lnTo>
                    <a:pt x="12933426" y="1919986"/>
                  </a:lnTo>
                  <a:cubicBezTo>
                    <a:pt x="12933426" y="2037842"/>
                    <a:pt x="12837923" y="2133346"/>
                    <a:pt x="12720066" y="2133346"/>
                  </a:cubicBezTo>
                  <a:lnTo>
                    <a:pt x="213360" y="2133346"/>
                  </a:lnTo>
                  <a:cubicBezTo>
                    <a:pt x="95504" y="2133346"/>
                    <a:pt x="0" y="2037842"/>
                    <a:pt x="0" y="1919986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541440" y="7456199"/>
            <a:ext cx="9017117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Expanding-window backtest: 60-month minimum training window, expanding by 3 months per origin, tested at forecast horizons h = 1, 3, 6, and 12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What the Data Tells Us Before Modelling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87452" y="2749580"/>
            <a:ext cx="8656548" cy="4269230"/>
            <a:chOff x="0" y="0"/>
            <a:chExt cx="10375193" cy="5116830"/>
          </a:xfrm>
        </p:grpSpPr>
        <p:sp>
          <p:nvSpPr>
            <p:cNvPr id="12" name="Freeform 12" descr="n_eda_trend.png"/>
            <p:cNvSpPr/>
            <p:nvPr/>
          </p:nvSpPr>
          <p:spPr>
            <a:xfrm>
              <a:off x="0" y="0"/>
              <a:ext cx="10375218" cy="5116830"/>
            </a:xfrm>
            <a:custGeom>
              <a:avLst/>
              <a:gdLst/>
              <a:ahLst/>
              <a:cxnLst/>
              <a:rect l="l" t="t" r="r" b="b"/>
              <a:pathLst>
                <a:path w="10375218" h="5116830">
                  <a:moveTo>
                    <a:pt x="0" y="0"/>
                  </a:moveTo>
                  <a:lnTo>
                    <a:pt x="10375218" y="0"/>
                  </a:lnTo>
                  <a:lnTo>
                    <a:pt x="10375218" y="5116830"/>
                  </a:lnTo>
                  <a:lnTo>
                    <a:pt x="0" y="5116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" b="-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04828" y="2749580"/>
            <a:ext cx="8582883" cy="3578863"/>
            <a:chOff x="0" y="0"/>
            <a:chExt cx="9727997" cy="4056349"/>
          </a:xfrm>
        </p:grpSpPr>
        <p:sp>
          <p:nvSpPr>
            <p:cNvPr id="14" name="Freeform 14" descr="n_logtransform.png"/>
            <p:cNvSpPr/>
            <p:nvPr/>
          </p:nvSpPr>
          <p:spPr>
            <a:xfrm>
              <a:off x="0" y="0"/>
              <a:ext cx="9727946" cy="4056387"/>
            </a:xfrm>
            <a:custGeom>
              <a:avLst/>
              <a:gdLst/>
              <a:ahLst/>
              <a:cxnLst/>
              <a:rect l="l" t="t" r="r" b="b"/>
              <a:pathLst>
                <a:path w="9727946" h="4056387">
                  <a:moveTo>
                    <a:pt x="0" y="0"/>
                  </a:moveTo>
                  <a:lnTo>
                    <a:pt x="9727946" y="0"/>
                  </a:lnTo>
                  <a:lnTo>
                    <a:pt x="9727946" y="4056387"/>
                  </a:lnTo>
                  <a:lnTo>
                    <a:pt x="0" y="4056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3" r="-1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91438" y="8676665"/>
            <a:ext cx="7917123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Assault offences have risen since 2020, sharpest in Top End and Big Rivers (+70% and +51%)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1437" y="8676665"/>
            <a:ext cx="7417118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Log transform reduces skew (0.96 -&gt; 0.06) - stabilises the target for linear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1" y="69999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Choosing the Right Feature 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1438" y="1926669"/>
            <a:ext cx="717118" cy="32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50002" y="1920002"/>
            <a:ext cx="4439526" cy="480003"/>
            <a:chOff x="0" y="0"/>
            <a:chExt cx="5919368" cy="6400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19343" cy="640080"/>
            </a:xfrm>
            <a:custGeom>
              <a:avLst/>
              <a:gdLst/>
              <a:ahLst/>
              <a:cxnLst/>
              <a:rect l="l" t="t" r="r" b="b"/>
              <a:pathLst>
                <a:path w="5919343" h="640080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5727319" y="0"/>
                  </a:lnTo>
                  <a:cubicBezTo>
                    <a:pt x="5833364" y="0"/>
                    <a:pt x="5919343" y="85979"/>
                    <a:pt x="5919343" y="192024"/>
                  </a:cubicBezTo>
                  <a:lnTo>
                    <a:pt x="5919343" y="448056"/>
                  </a:lnTo>
                  <a:cubicBezTo>
                    <a:pt x="5919343" y="554101"/>
                    <a:pt x="5833364" y="640080"/>
                    <a:pt x="5727319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8B7EC8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830968" y="1956197"/>
            <a:ext cx="25073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sin/cos month, Season, lag1/3/12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1438" y="2876674"/>
            <a:ext cx="717118" cy="32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150002" y="2869997"/>
            <a:ext cx="3512029" cy="480003"/>
            <a:chOff x="0" y="0"/>
            <a:chExt cx="4682706" cy="6400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82744" cy="640080"/>
            </a:xfrm>
            <a:custGeom>
              <a:avLst/>
              <a:gdLst/>
              <a:ahLst/>
              <a:cxnLst/>
              <a:rect l="l" t="t" r="r" b="b"/>
              <a:pathLst>
                <a:path w="4682744" h="640080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4490720" y="0"/>
                  </a:lnTo>
                  <a:cubicBezTo>
                    <a:pt x="4596765" y="0"/>
                    <a:pt x="4682744" y="85979"/>
                    <a:pt x="4682744" y="192024"/>
                  </a:cubicBezTo>
                  <a:lnTo>
                    <a:pt x="4682744" y="448056"/>
                  </a:lnTo>
                  <a:cubicBezTo>
                    <a:pt x="4682744" y="554101"/>
                    <a:pt x="4596765" y="640080"/>
                    <a:pt x="4490720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8B7EC8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903471" y="2906192"/>
            <a:ext cx="4517117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+ region dummies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1438" y="3826669"/>
            <a:ext cx="717118" cy="32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150002" y="3820001"/>
            <a:ext cx="4961734" cy="480003"/>
            <a:chOff x="0" y="0"/>
            <a:chExt cx="6615646" cy="6400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15684" cy="640080"/>
            </a:xfrm>
            <a:custGeom>
              <a:avLst/>
              <a:gdLst/>
              <a:ahLst/>
              <a:cxnLst/>
              <a:rect l="l" t="t" r="r" b="b"/>
              <a:pathLst>
                <a:path w="6615684" h="640080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6423660" y="0"/>
                  </a:lnTo>
                  <a:cubicBezTo>
                    <a:pt x="6529705" y="0"/>
                    <a:pt x="6615684" y="85979"/>
                    <a:pt x="6615684" y="192024"/>
                  </a:cubicBezTo>
                  <a:lnTo>
                    <a:pt x="6615684" y="448056"/>
                  </a:lnTo>
                  <a:cubicBezTo>
                    <a:pt x="6615684" y="554101"/>
                    <a:pt x="6529705" y="640080"/>
                    <a:pt x="6423660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8B7EC8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353176" y="3856196"/>
            <a:ext cx="212027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+ Alcohol_offences, DV_offences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1438" y="4776673"/>
            <a:ext cx="717118" cy="32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V4 Full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150002" y="4769996"/>
            <a:ext cx="3070879" cy="480003"/>
            <a:chOff x="0" y="0"/>
            <a:chExt cx="4094505" cy="6400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94480" cy="640080"/>
            </a:xfrm>
            <a:custGeom>
              <a:avLst/>
              <a:gdLst/>
              <a:ahLst/>
              <a:cxnLst/>
              <a:rect l="l" t="t" r="r" b="b"/>
              <a:pathLst>
                <a:path w="4094480" h="640080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3902456" y="0"/>
                  </a:lnTo>
                  <a:cubicBezTo>
                    <a:pt x="4008501" y="0"/>
                    <a:pt x="4094480" y="85979"/>
                    <a:pt x="4094480" y="192024"/>
                  </a:cubicBezTo>
                  <a:lnTo>
                    <a:pt x="4094480" y="448056"/>
                  </a:lnTo>
                  <a:cubicBezTo>
                    <a:pt x="4094480" y="554101"/>
                    <a:pt x="4008501" y="640080"/>
                    <a:pt x="3902456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3FA593">
                <a:alpha val="8078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462321" y="4806191"/>
            <a:ext cx="363767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5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+ Alcohol_offences, DV_offences + region dummies - selected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91439" y="4766672"/>
            <a:ext cx="1417120" cy="40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0.1794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16328" y="1838240"/>
            <a:ext cx="9124404" cy="3963522"/>
            <a:chOff x="0" y="0"/>
            <a:chExt cx="7599997" cy="3301340"/>
          </a:xfrm>
        </p:grpSpPr>
        <p:sp>
          <p:nvSpPr>
            <p:cNvPr id="29" name="Freeform 29" descr="n_feature_variant.png"/>
            <p:cNvSpPr/>
            <p:nvPr/>
          </p:nvSpPr>
          <p:spPr>
            <a:xfrm>
              <a:off x="0" y="0"/>
              <a:ext cx="7600061" cy="3301365"/>
            </a:xfrm>
            <a:custGeom>
              <a:avLst/>
              <a:gdLst/>
              <a:ahLst/>
              <a:cxnLst/>
              <a:rect l="l" t="t" r="r" b="b"/>
              <a:pathLst>
                <a:path w="7600061" h="3301365">
                  <a:moveTo>
                    <a:pt x="0" y="0"/>
                  </a:moveTo>
                  <a:lnTo>
                    <a:pt x="7600061" y="0"/>
                  </a:lnTo>
                  <a:lnTo>
                    <a:pt x="7600061" y="3301365"/>
                  </a:lnTo>
                  <a:lnTo>
                    <a:pt x="0" y="330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91438" y="6126670"/>
            <a:ext cx="7717117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Why did V3 get worse before V4 fixed it?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91438" y="6485669"/>
            <a:ext cx="7899997" cy="1981371"/>
            <a:chOff x="0" y="0"/>
            <a:chExt cx="10533329" cy="26418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33252" cy="2641841"/>
            </a:xfrm>
            <a:custGeom>
              <a:avLst/>
              <a:gdLst/>
              <a:ahLst/>
              <a:cxnLst/>
              <a:rect l="l" t="t" r="r" b="b"/>
              <a:pathLst>
                <a:path w="10533252" h="2641841">
                  <a:moveTo>
                    <a:pt x="0" y="264163"/>
                  </a:moveTo>
                  <a:cubicBezTo>
                    <a:pt x="0" y="118322"/>
                    <a:pt x="140335" y="0"/>
                    <a:pt x="313309" y="0"/>
                  </a:cubicBezTo>
                  <a:lnTo>
                    <a:pt x="10219944" y="0"/>
                  </a:lnTo>
                  <a:cubicBezTo>
                    <a:pt x="10393045" y="0"/>
                    <a:pt x="10533252" y="118322"/>
                    <a:pt x="10533252" y="264163"/>
                  </a:cubicBezTo>
                  <a:lnTo>
                    <a:pt x="10533252" y="2377677"/>
                  </a:lnTo>
                  <a:cubicBezTo>
                    <a:pt x="10533252" y="2523625"/>
                    <a:pt x="10392918" y="2641841"/>
                    <a:pt x="10219944" y="2641841"/>
                  </a:cubicBezTo>
                  <a:lnTo>
                    <a:pt x="313309" y="2641841"/>
                  </a:lnTo>
                  <a:cubicBezTo>
                    <a:pt x="140335" y="2641841"/>
                    <a:pt x="0" y="2523518"/>
                    <a:pt x="0" y="2377677"/>
                  </a:cubicBezTo>
                  <a:close/>
                </a:path>
              </a:pathLst>
            </a:custGeom>
            <a:solidFill>
              <a:srgbClr val="FFFFFF">
                <a:alpha val="67059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11443" y="6786191"/>
            <a:ext cx="7474226" cy="137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4"/>
              </a:lnSpc>
            </a:pPr>
            <a:r>
              <a:rPr lang="en-US" sz="1553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V2 → V3: </a:t>
            </a:r>
            <a:r>
              <a:rPr lang="en-US" sz="155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RMSE rose slightly from 0.2146 to 0.2246 (+4.7%) when crime-context features were added without region dummies</a:t>
            </a:r>
          </a:p>
          <a:p>
            <a:pPr algn="just">
              <a:lnSpc>
                <a:spcPts val="1864"/>
              </a:lnSpc>
            </a:pPr>
            <a:r>
              <a:rPr lang="en-US" sz="1553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Cause: </a:t>
            </a:r>
            <a:r>
              <a:rPr lang="en-US" sz="155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Crime-context features alone do not control for region-level baseline differences in offence volume</a:t>
            </a:r>
          </a:p>
          <a:p>
            <a:pPr algn="just">
              <a:lnSpc>
                <a:spcPts val="1864"/>
              </a:lnSpc>
            </a:pPr>
            <a:r>
              <a:rPr lang="en-US" sz="1553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Fix (V3→V4): </a:t>
            </a:r>
            <a:r>
              <a:rPr lang="en-US" sz="155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adding region dummies alongside crime-context features (V4) lets region terms absorb the baseline gap.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199998" y="9100004"/>
            <a:ext cx="15899997" cy="800005"/>
            <a:chOff x="0" y="0"/>
            <a:chExt cx="21199996" cy="106667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199982" cy="1066673"/>
            </a:xfrm>
            <a:custGeom>
              <a:avLst/>
              <a:gdLst/>
              <a:ahLst/>
              <a:cxnLst/>
              <a:rect l="l" t="t" r="r" b="b"/>
              <a:pathLst>
                <a:path w="21199982" h="106667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1071967" y="0"/>
                  </a:lnTo>
                  <a:cubicBezTo>
                    <a:pt x="21142706" y="0"/>
                    <a:pt x="21199982" y="57277"/>
                    <a:pt x="21199982" y="128016"/>
                  </a:cubicBezTo>
                  <a:lnTo>
                    <a:pt x="21199982" y="938657"/>
                  </a:lnTo>
                  <a:cubicBezTo>
                    <a:pt x="21199982" y="1009396"/>
                    <a:pt x="21142706" y="1066673"/>
                    <a:pt x="21071967" y="1066673"/>
                  </a:cubicBezTo>
                  <a:lnTo>
                    <a:pt x="128016" y="1066673"/>
                  </a:lnTo>
                  <a:cubicBezTo>
                    <a:pt x="57277" y="1066673"/>
                    <a:pt x="0" y="1009396"/>
                    <a:pt x="0" y="938657"/>
                  </a:cubicBezTo>
                  <a:close/>
                </a:path>
              </a:pathLst>
            </a:custGeom>
            <a:solidFill>
              <a:srgbClr val="FFFFFF">
                <a:alpha val="67059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41440" y="9296667"/>
            <a:ext cx="15217121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Region fixed effects (V3→V4) provided the largest single improvement - confirms temporal autocorrelation in assault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Models Performed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1438" y="1726673"/>
            <a:ext cx="7717117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 per 100k population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1437" y="1726673"/>
            <a:ext cx="7417118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Per-region RMSE - XGBoost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00100" y="2564604"/>
            <a:ext cx="8141894" cy="5026373"/>
            <a:chOff x="0" y="0"/>
            <a:chExt cx="10111994" cy="6242609"/>
          </a:xfrm>
        </p:grpSpPr>
        <p:sp>
          <p:nvSpPr>
            <p:cNvPr id="14" name="Freeform 14" descr="n_model_compare.png"/>
            <p:cNvSpPr/>
            <p:nvPr/>
          </p:nvSpPr>
          <p:spPr>
            <a:xfrm>
              <a:off x="0" y="0"/>
              <a:ext cx="10111994" cy="6242558"/>
            </a:xfrm>
            <a:custGeom>
              <a:avLst/>
              <a:gdLst/>
              <a:ahLst/>
              <a:cxnLst/>
              <a:rect l="l" t="t" r="r" b="b"/>
              <a:pathLst>
                <a:path w="10111994" h="6242558">
                  <a:moveTo>
                    <a:pt x="0" y="0"/>
                  </a:moveTo>
                  <a:lnTo>
                    <a:pt x="10111994" y="0"/>
                  </a:lnTo>
                  <a:lnTo>
                    <a:pt x="10111994" y="6242558"/>
                  </a:lnTo>
                  <a:lnTo>
                    <a:pt x="0" y="62425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r="-2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51997" y="2669371"/>
            <a:ext cx="7828188" cy="4832709"/>
            <a:chOff x="0" y="0"/>
            <a:chExt cx="9727997" cy="6005551"/>
          </a:xfrm>
        </p:grpSpPr>
        <p:sp>
          <p:nvSpPr>
            <p:cNvPr id="16" name="Freeform 16" descr="n_per_region.png"/>
            <p:cNvSpPr/>
            <p:nvPr/>
          </p:nvSpPr>
          <p:spPr>
            <a:xfrm>
              <a:off x="0" y="0"/>
              <a:ext cx="9727946" cy="6005576"/>
            </a:xfrm>
            <a:custGeom>
              <a:avLst/>
              <a:gdLst/>
              <a:ahLst/>
              <a:cxnLst/>
              <a:rect l="l" t="t" r="r" b="b"/>
              <a:pathLst>
                <a:path w="9727946" h="6005576">
                  <a:moveTo>
                    <a:pt x="0" y="0"/>
                  </a:moveTo>
                  <a:lnTo>
                    <a:pt x="9727946" y="0"/>
                  </a:lnTo>
                  <a:lnTo>
                    <a:pt x="9727946" y="6005576"/>
                  </a:lnTo>
                  <a:lnTo>
                    <a:pt x="0" y="6005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91438" y="9376667"/>
            <a:ext cx="15717117" cy="377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i="1">
                <a:solidFill>
                  <a:srgbClr val="E9A25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Single train/test split - a stricter rolling-origin backtest changes this ranking (next slide)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Which Evaluation Do We Trust?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80099" y="2180072"/>
            <a:ext cx="8391301" cy="5541776"/>
            <a:chOff x="0" y="0"/>
            <a:chExt cx="9127388" cy="6027903"/>
          </a:xfrm>
        </p:grpSpPr>
        <p:sp>
          <p:nvSpPr>
            <p:cNvPr id="12" name="Freeform 12" descr="n_backtest.png"/>
            <p:cNvSpPr/>
            <p:nvPr/>
          </p:nvSpPr>
          <p:spPr>
            <a:xfrm>
              <a:off x="0" y="0"/>
              <a:ext cx="9127363" cy="6027928"/>
            </a:xfrm>
            <a:custGeom>
              <a:avLst/>
              <a:gdLst/>
              <a:ahLst/>
              <a:cxnLst/>
              <a:rect l="l" t="t" r="r" b="b"/>
              <a:pathLst>
                <a:path w="9127363" h="6027928">
                  <a:moveTo>
                    <a:pt x="0" y="0"/>
                  </a:moveTo>
                  <a:lnTo>
                    <a:pt x="9127363" y="0"/>
                  </a:lnTo>
                  <a:lnTo>
                    <a:pt x="9127363" y="6027928"/>
                  </a:lnTo>
                  <a:lnTo>
                    <a:pt x="0" y="6027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06234" y="1834651"/>
            <a:ext cx="7819171" cy="6415352"/>
            <a:chOff x="0" y="0"/>
            <a:chExt cx="10563128" cy="86666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63102" cy="8666607"/>
            </a:xfrm>
            <a:custGeom>
              <a:avLst/>
              <a:gdLst/>
              <a:ahLst/>
              <a:cxnLst/>
              <a:rect l="l" t="t" r="r" b="b"/>
              <a:pathLst>
                <a:path w="10563102" h="8666607">
                  <a:moveTo>
                    <a:pt x="0" y="693293"/>
                  </a:moveTo>
                  <a:cubicBezTo>
                    <a:pt x="0" y="310388"/>
                    <a:pt x="327867" y="0"/>
                    <a:pt x="732334" y="0"/>
                  </a:cubicBezTo>
                  <a:lnTo>
                    <a:pt x="9830767" y="0"/>
                  </a:lnTo>
                  <a:cubicBezTo>
                    <a:pt x="10235235" y="0"/>
                    <a:pt x="10563102" y="310388"/>
                    <a:pt x="10563102" y="693293"/>
                  </a:cubicBezTo>
                  <a:lnTo>
                    <a:pt x="10563102" y="7973314"/>
                  </a:lnTo>
                  <a:cubicBezTo>
                    <a:pt x="10563102" y="8356219"/>
                    <a:pt x="10235235" y="8666607"/>
                    <a:pt x="9830767" y="8666607"/>
                  </a:cubicBezTo>
                  <a:lnTo>
                    <a:pt x="732334" y="8666607"/>
                  </a:lnTo>
                  <a:cubicBezTo>
                    <a:pt x="327867" y="8666607"/>
                    <a:pt x="0" y="8356219"/>
                    <a:pt x="0" y="7973314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99999" y="2109997"/>
            <a:ext cx="160001" cy="160001"/>
            <a:chOff x="0" y="0"/>
            <a:chExt cx="213335" cy="2133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97091" y="2091373"/>
            <a:ext cx="651163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648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Single train/test split (previous slide) - </a:t>
            </a:r>
            <a:r>
              <a:rPr lang="en-US" sz="16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XGBoost wins - RMSE 84.5 per 100k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899999" y="3610004"/>
            <a:ext cx="160001" cy="160001"/>
            <a:chOff x="0" y="0"/>
            <a:chExt cx="213335" cy="2133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97091" y="3590108"/>
            <a:ext cx="671147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648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Rolling-origin backtest (this slide) - </a:t>
            </a:r>
            <a:r>
              <a:rPr lang="en-US" sz="16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XGBoost wins at 1 month; 12-month moving average wins from 3 months onward (3, 6, 12)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899999" y="5110001"/>
            <a:ext cx="160001" cy="160001"/>
            <a:chOff x="0" y="0"/>
            <a:chExt cx="213335" cy="2133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97091" y="5088852"/>
            <a:ext cx="6511635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648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Why - </a:t>
            </a:r>
            <a:r>
              <a:rPr lang="en-US" sz="16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at 1 month there is enough recent signal for XGBoost to exploit; beyond that, assault rates are dominated by a slow-moving local level and added model complexity helps little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899999" y="6609998"/>
            <a:ext cx="160001" cy="160001"/>
            <a:chOff x="0" y="0"/>
            <a:chExt cx="213335" cy="2133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E8829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97091" y="6587587"/>
            <a:ext cx="6511635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648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Practical implication - </a:t>
            </a:r>
            <a:r>
              <a:rPr lang="en-US" sz="16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XGBoost for 1-month-ahead forecasts; 12-month moving average as the reference forecast from 3 months onward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1438" y="8586197"/>
            <a:ext cx="791712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Rolling-origin backtest (evaluation.py) - leakage-free, repeated out-of-sample tests at each horizon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91440" y="8586197"/>
            <a:ext cx="731712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Reported as a finding, not a failure - any model we deploy must now beat this benchmark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8B7EC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99998" y="2499998"/>
            <a:ext cx="7500004" cy="2450001"/>
            <a:chOff x="0" y="0"/>
            <a:chExt cx="10000005" cy="32666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99980" cy="3266694"/>
            </a:xfrm>
            <a:custGeom>
              <a:avLst/>
              <a:gdLst/>
              <a:ahLst/>
              <a:cxnLst/>
              <a:rect l="l" t="t" r="r" b="b"/>
              <a:pathLst>
                <a:path w="9999980" h="3266694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9738614" y="0"/>
                  </a:lnTo>
                  <a:cubicBezTo>
                    <a:pt x="9882886" y="0"/>
                    <a:pt x="9999980" y="116967"/>
                    <a:pt x="9999980" y="261366"/>
                  </a:cubicBezTo>
                  <a:lnTo>
                    <a:pt x="9999980" y="3005328"/>
                  </a:lnTo>
                  <a:cubicBezTo>
                    <a:pt x="9999980" y="3149600"/>
                    <a:pt x="9883013" y="3266694"/>
                    <a:pt x="9738614" y="3266694"/>
                  </a:cubicBezTo>
                  <a:lnTo>
                    <a:pt x="261366" y="3266694"/>
                  </a:lnTo>
                  <a:cubicBezTo>
                    <a:pt x="116967" y="3266694"/>
                    <a:pt x="0" y="3149727"/>
                    <a:pt x="0" y="3005328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0000" y="2499998"/>
            <a:ext cx="7500004" cy="2450001"/>
            <a:chOff x="0" y="0"/>
            <a:chExt cx="10000005" cy="32666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99980" cy="3266694"/>
            </a:xfrm>
            <a:custGeom>
              <a:avLst/>
              <a:gdLst/>
              <a:ahLst/>
              <a:cxnLst/>
              <a:rect l="l" t="t" r="r" b="b"/>
              <a:pathLst>
                <a:path w="9999980" h="3266694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9738614" y="0"/>
                  </a:lnTo>
                  <a:cubicBezTo>
                    <a:pt x="9882886" y="0"/>
                    <a:pt x="9999980" y="116967"/>
                    <a:pt x="9999980" y="261366"/>
                  </a:cubicBezTo>
                  <a:lnTo>
                    <a:pt x="9999980" y="3005328"/>
                  </a:lnTo>
                  <a:cubicBezTo>
                    <a:pt x="9999980" y="3149600"/>
                    <a:pt x="9883013" y="3266694"/>
                    <a:pt x="9738614" y="3266694"/>
                  </a:cubicBezTo>
                  <a:lnTo>
                    <a:pt x="261366" y="3266694"/>
                  </a:lnTo>
                  <a:cubicBezTo>
                    <a:pt x="116967" y="3266694"/>
                    <a:pt x="0" y="3149727"/>
                    <a:pt x="0" y="3005328"/>
                  </a:cubicBezTo>
                  <a:close/>
                </a:path>
              </a:pathLst>
            </a:custGeom>
            <a:solidFill>
              <a:srgbClr val="FFFFFF">
                <a:alpha val="7372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9998" y="8599999"/>
            <a:ext cx="15899997" cy="1150001"/>
            <a:chOff x="0" y="0"/>
            <a:chExt cx="21199996" cy="15333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199983" cy="1533271"/>
            </a:xfrm>
            <a:custGeom>
              <a:avLst/>
              <a:gdLst/>
              <a:ahLst/>
              <a:cxnLst/>
              <a:rect l="l" t="t" r="r" b="b"/>
              <a:pathLst>
                <a:path w="21199983" h="1533271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21046694" y="0"/>
                  </a:lnTo>
                  <a:cubicBezTo>
                    <a:pt x="21131403" y="0"/>
                    <a:pt x="21199983" y="68707"/>
                    <a:pt x="21199983" y="153289"/>
                  </a:cubicBezTo>
                  <a:lnTo>
                    <a:pt x="21199983" y="1379982"/>
                  </a:lnTo>
                  <a:cubicBezTo>
                    <a:pt x="21199983" y="1464691"/>
                    <a:pt x="21131276" y="1533271"/>
                    <a:pt x="21046694" y="1533271"/>
                  </a:cubicBezTo>
                  <a:lnTo>
                    <a:pt x="153289" y="1533271"/>
                  </a:lnTo>
                  <a:cubicBezTo>
                    <a:pt x="68707" y="1533271"/>
                    <a:pt x="0" y="1464691"/>
                    <a:pt x="0" y="1379982"/>
                  </a:cubicBezTo>
                  <a:close/>
                </a:path>
              </a:pathLst>
            </a:custGeom>
            <a:solidFill>
              <a:srgbClr val="FFFFFF">
                <a:alpha val="67059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6139265" y="6156326"/>
            <a:ext cx="6683401" cy="1804671"/>
          </a:xfrm>
          <a:custGeom>
            <a:avLst/>
            <a:gdLst/>
            <a:ahLst/>
            <a:cxnLst/>
            <a:rect l="l" t="t" r="r" b="b"/>
            <a:pathLst>
              <a:path w="6683401" h="1804671">
                <a:moveTo>
                  <a:pt x="0" y="0"/>
                </a:moveTo>
                <a:lnTo>
                  <a:pt x="6683401" y="0"/>
                </a:lnTo>
                <a:lnTo>
                  <a:pt x="6683401" y="1804672"/>
                </a:lnTo>
                <a:lnTo>
                  <a:pt x="0" y="1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411443" y="657149"/>
            <a:ext cx="11817125" cy="63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Does Alcohol Supply Improve Predictions?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1438" y="1736198"/>
            <a:ext cx="7317124" cy="29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Model A - no alcohol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1438" y="2146192"/>
            <a:ext cx="731712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Train 2015-2022 (504 rows) - Test 2023-2025 (192 rows)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1443" y="2646674"/>
            <a:ext cx="2167118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61442" y="2646674"/>
            <a:ext cx="1517123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RMSE(log)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61444" y="2646674"/>
            <a:ext cx="1517123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MAE(log)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61438" y="2646674"/>
            <a:ext cx="1567120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RMSE(100k)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1443" y="3036199"/>
            <a:ext cx="2167118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Linear Reg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61442" y="303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0.2010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61444" y="303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0.1686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61438" y="3036199"/>
            <a:ext cx="1567120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106.0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11443" y="3496199"/>
            <a:ext cx="2167118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Ridge (a=0.1)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61442" y="349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0.2004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61444" y="349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0.1681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61438" y="3496199"/>
            <a:ext cx="1567120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105.6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1443" y="3956199"/>
            <a:ext cx="2167118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Lasso (a=0.01)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61442" y="395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0.2153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61444" y="395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0.1693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61438" y="3956199"/>
            <a:ext cx="1567120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140.0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11443" y="4416200"/>
            <a:ext cx="2167118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61442" y="4416200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0.1517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61444" y="4416200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0.1227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61438" y="4416200"/>
            <a:ext cx="1567120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84.5 - best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91440" y="1736198"/>
            <a:ext cx="7317124" cy="29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Model B - with alcohol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91440" y="2146192"/>
            <a:ext cx="7317124" cy="1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Train 2023-2024 (120 rows) - Test 2025 (72 rows)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11436" y="2646674"/>
            <a:ext cx="2167118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161444" y="2646674"/>
            <a:ext cx="1517123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RMSE(log)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861437" y="2646674"/>
            <a:ext cx="1517123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MAE(log)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561440" y="2646674"/>
            <a:ext cx="1567120" cy="20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RMSE(100k)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11436" y="3036199"/>
            <a:ext cx="2167118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Linear Reg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61444" y="303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0.1284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861437" y="303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0.0838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561440" y="3036199"/>
            <a:ext cx="1567120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57.1 - best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11436" y="3496199"/>
            <a:ext cx="2167118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Ridge (a=1)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161444" y="3496199"/>
            <a:ext cx="151712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0.1607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861437" y="3496199"/>
            <a:ext cx="151712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0.1139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61440" y="3496199"/>
            <a:ext cx="156712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79.8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11436" y="3956199"/>
            <a:ext cx="2167118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Lasso (a=0.01)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161444" y="395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0.2058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861437" y="3956199"/>
            <a:ext cx="1517123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0.1553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561440" y="3956199"/>
            <a:ext cx="1567120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116.1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811436" y="4416200"/>
            <a:ext cx="2167118" cy="26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161444" y="4416200"/>
            <a:ext cx="151712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0.1945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861437" y="4416200"/>
            <a:ext cx="1517123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0.1407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561440" y="4416200"/>
            <a:ext cx="156712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94.1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91438" y="5286194"/>
            <a:ext cx="15717117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1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The alcohol_per_capita coefficient stays small and positive across all models (+0.04 to +0.06)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91437" y="8786193"/>
            <a:ext cx="1511711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Model B trains on far fewer rows (120 vs 504) over a different period - RMSE differences reflect data scarcity as much as the alcohol predictor. Alcohol shows a small, positive, but weak and uncertain association with assault rates.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Ethics &amp; Governance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0097" y="2548409"/>
            <a:ext cx="7717117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CARE Principles Applied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60097" y="3322015"/>
            <a:ext cx="150000" cy="150000"/>
            <a:chOff x="0" y="0"/>
            <a:chExt cx="200000" cy="20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21543" y="3308213"/>
            <a:ext cx="1398659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99"/>
              </a:lnSpc>
            </a:pPr>
            <a:r>
              <a:rPr lang="en-US" sz="17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 — Collective Benefit</a:t>
            </a:r>
          </a:p>
          <a:p>
            <a:pPr algn="just">
              <a:lnSpc>
                <a:spcPts val="2099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Forecasts are designed to support public safety resource planning across all NT regions, not to surveil or target any individual or community group.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60097" y="4282021"/>
            <a:ext cx="150000" cy="150000"/>
            <a:chOff x="0" y="0"/>
            <a:chExt cx="200000" cy="20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21543" y="4268219"/>
            <a:ext cx="1398659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99"/>
              </a:lnSpc>
            </a:pPr>
            <a:r>
              <a:rPr lang="en-US" sz="17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A — Authority to Control</a:t>
            </a:r>
          </a:p>
          <a:p>
            <a:pPr algn="just">
              <a:lnSpc>
                <a:spcPts val="2099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 All data is sourced from publicly released NT Government datasets. No personal or identifiable information is collected or stored.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60097" y="5242017"/>
            <a:ext cx="150000" cy="150000"/>
            <a:chOff x="0" y="0"/>
            <a:chExt cx="200000" cy="20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21543" y="5228215"/>
            <a:ext cx="1398659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99"/>
              </a:lnSpc>
            </a:pPr>
            <a:r>
              <a:rPr lang="en-US" sz="17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R — Responsibility</a:t>
            </a:r>
          </a:p>
          <a:p>
            <a:pPr algn="just">
              <a:lnSpc>
                <a:spcPts val="2099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 The pipeline logs every ingest run to manifest.json for full traceability. Provisional months are excluded from evaluation to prevent misleading accuracy claims.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60097" y="6202023"/>
            <a:ext cx="150000" cy="150000"/>
            <a:chOff x="0" y="0"/>
            <a:chExt cx="200000" cy="20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21543" y="6188212"/>
            <a:ext cx="1398659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99"/>
              </a:lnSpc>
            </a:pPr>
            <a:r>
              <a:rPr lang="en-US" sz="1749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E — Ethics</a:t>
            </a:r>
          </a:p>
          <a:p>
            <a:pPr algn="just">
              <a:lnSpc>
                <a:spcPts val="2099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 Forecast outputs should inform planning decisions, not be used to justify increased policing of specific communities. Model limitations (small alcohol sample, regional aggregation) are explicitly documented.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Status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1438" y="1776670"/>
            <a:ext cx="7717117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DONE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99998" y="2249996"/>
            <a:ext cx="150000" cy="150000"/>
            <a:chOff x="0" y="0"/>
            <a:chExt cx="200000" cy="20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61443" y="2226669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Raw data ingestion + validation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99998" y="2729998"/>
            <a:ext cx="150000" cy="150000"/>
            <a:chOff x="0" y="0"/>
            <a:chExt cx="200000" cy="20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61443" y="2706672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Schema harmonisation (PROMIS -&gt; ANZSOC)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9998" y="3210001"/>
            <a:ext cx="150000" cy="150000"/>
            <a:chOff x="0" y="0"/>
            <a:chExt cx="200000" cy="20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61443" y="3186674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 crosswalk (7 -&gt; 6 regions)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99998" y="3690004"/>
            <a:ext cx="150000" cy="150000"/>
            <a:chOff x="0" y="0"/>
            <a:chExt cx="200000" cy="20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61443" y="3666668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 engineering (lags, cyclical, PCA)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99998" y="4169997"/>
            <a:ext cx="150000" cy="150000"/>
            <a:chOff x="0" y="0"/>
            <a:chExt cx="200000" cy="20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61443" y="4146671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training + evaluation (4 models)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99998" y="4650000"/>
            <a:ext cx="150000" cy="150000"/>
            <a:chOff x="0" y="0"/>
            <a:chExt cx="200000" cy="20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61443" y="4626674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Leakage-free CV + rolling-origin backtest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99998" y="5130003"/>
            <a:ext cx="150000" cy="150000"/>
            <a:chOff x="0" y="0"/>
            <a:chExt cx="200000" cy="20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561443" y="5106667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End-to-end pipeline in a single script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99998" y="5609996"/>
            <a:ext cx="150000" cy="150000"/>
            <a:chOff x="0" y="0"/>
            <a:chExt cx="200000" cy="20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561443" y="5586670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Ethics &amp; governance reviewed (CARE Principles)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91440" y="1776670"/>
            <a:ext cx="7317124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IN PROGRESS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600000" y="2249996"/>
            <a:ext cx="150000" cy="150000"/>
            <a:chOff x="0" y="0"/>
            <a:chExt cx="200000" cy="200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961436" y="2226669"/>
            <a:ext cx="7017125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Streamlit dashboard (Week 8)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600000" y="2729998"/>
            <a:ext cx="150000" cy="150000"/>
            <a:chOff x="0" y="0"/>
            <a:chExt cx="200000" cy="200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961436" y="2706672"/>
            <a:ext cx="7017125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Deployment to Streamlit Cloud (Week 10)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600000" y="3210001"/>
            <a:ext cx="150000" cy="150000"/>
            <a:chOff x="0" y="0"/>
            <a:chExt cx="200000" cy="200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961436" y="3186674"/>
            <a:ext cx="7017125" cy="27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Monitoring + drift detection (Week 10)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508550" y="4416781"/>
            <a:ext cx="7200005" cy="3960000"/>
            <a:chOff x="0" y="0"/>
            <a:chExt cx="9600006" cy="5280000"/>
          </a:xfrm>
        </p:grpSpPr>
        <p:sp>
          <p:nvSpPr>
            <p:cNvPr id="47" name="Freeform 47" descr="n_roadmap.png"/>
            <p:cNvSpPr/>
            <p:nvPr/>
          </p:nvSpPr>
          <p:spPr>
            <a:xfrm>
              <a:off x="0" y="0"/>
              <a:ext cx="9600057" cy="5280025"/>
            </a:xfrm>
            <a:custGeom>
              <a:avLst/>
              <a:gdLst/>
              <a:ahLst/>
              <a:cxnLst/>
              <a:rect l="l" t="t" r="r" b="b"/>
              <a:pathLst>
                <a:path w="9600057" h="5280025">
                  <a:moveTo>
                    <a:pt x="0" y="0"/>
                  </a:moveTo>
                  <a:lnTo>
                    <a:pt x="9600057" y="0"/>
                  </a:lnTo>
                  <a:lnTo>
                    <a:pt x="9600057" y="5280025"/>
                  </a:lnTo>
                  <a:lnTo>
                    <a:pt x="0" y="5280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99998" y="8850001"/>
            <a:ext cx="15899997" cy="899998"/>
            <a:chOff x="0" y="0"/>
            <a:chExt cx="21199996" cy="119999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199982" cy="1200023"/>
            </a:xfrm>
            <a:custGeom>
              <a:avLst/>
              <a:gdLst/>
              <a:ahLst/>
              <a:cxnLst/>
              <a:rect l="l" t="t" r="r" b="b"/>
              <a:pathLst>
                <a:path w="21199982" h="1200023">
                  <a:moveTo>
                    <a:pt x="0" y="144018"/>
                  </a:moveTo>
                  <a:cubicBezTo>
                    <a:pt x="0" y="64516"/>
                    <a:pt x="64516" y="0"/>
                    <a:pt x="144018" y="0"/>
                  </a:cubicBezTo>
                  <a:lnTo>
                    <a:pt x="21055964" y="0"/>
                  </a:lnTo>
                  <a:cubicBezTo>
                    <a:pt x="21135467" y="0"/>
                    <a:pt x="21199982" y="64516"/>
                    <a:pt x="21199982" y="144018"/>
                  </a:cubicBezTo>
                  <a:lnTo>
                    <a:pt x="21199982" y="1056005"/>
                  </a:lnTo>
                  <a:cubicBezTo>
                    <a:pt x="21199982" y="1135507"/>
                    <a:pt x="21135467" y="1200023"/>
                    <a:pt x="21055964" y="1200023"/>
                  </a:cubicBezTo>
                  <a:lnTo>
                    <a:pt x="144018" y="1200023"/>
                  </a:lnTo>
                  <a:cubicBezTo>
                    <a:pt x="64516" y="1200023"/>
                    <a:pt x="0" y="1135507"/>
                    <a:pt x="0" y="1056005"/>
                  </a:cubicBezTo>
                  <a:close/>
                </a:path>
              </a:pathLst>
            </a:custGeom>
            <a:solidFill>
              <a:srgbClr val="FFFFFF">
                <a:alpha val="67059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591437" y="9076668"/>
            <a:ext cx="15117118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pipeline is complete and reproducible. All remaining work is dashboard and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998" y="80000"/>
            <a:ext cx="678161" cy="480003"/>
            <a:chOff x="0" y="0"/>
            <a:chExt cx="904215" cy="640004"/>
          </a:xfrm>
        </p:grpSpPr>
        <p:sp>
          <p:nvSpPr>
            <p:cNvPr id="5" name="Freeform 5" descr="deco_hat.png"/>
            <p:cNvSpPr/>
            <p:nvPr/>
          </p:nvSpPr>
          <p:spPr>
            <a:xfrm>
              <a:off x="0" y="0"/>
              <a:ext cx="904240" cy="639953"/>
            </a:xfrm>
            <a:custGeom>
              <a:avLst/>
              <a:gdLst/>
              <a:ahLst/>
              <a:cxnLst/>
              <a:rect l="l" t="t" r="r" b="b"/>
              <a:pathLst>
                <a:path w="904240" h="639953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2" b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667999" y="69999"/>
            <a:ext cx="439426" cy="560003"/>
            <a:chOff x="0" y="0"/>
            <a:chExt cx="585902" cy="746671"/>
          </a:xfrm>
        </p:grpSpPr>
        <p:sp>
          <p:nvSpPr>
            <p:cNvPr id="7" name="Freeform 7" descr="deco_cuffs.png"/>
            <p:cNvSpPr/>
            <p:nvPr/>
          </p:nvSpPr>
          <p:spPr>
            <a:xfrm>
              <a:off x="0" y="0"/>
              <a:ext cx="585851" cy="746633"/>
            </a:xfrm>
            <a:custGeom>
              <a:avLst/>
              <a:gdLst/>
              <a:ahLst/>
              <a:cxnLst/>
              <a:rect l="l" t="t" r="r" b="b"/>
              <a:pathLst>
                <a:path w="585851" h="746633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" b="-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700002"/>
            <a:ext cx="359997" cy="359997"/>
            <a:chOff x="0" y="0"/>
            <a:chExt cx="479996" cy="4799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0060" cy="480060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443" y="657149"/>
            <a:ext cx="1181712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Conclusions &amp; Recommendations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9998" y="2380945"/>
            <a:ext cx="7717117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Found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03700" y="2897134"/>
            <a:ext cx="150000" cy="150000"/>
            <a:chOff x="0" y="0"/>
            <a:chExt cx="200000" cy="20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0003" y="2830944"/>
            <a:ext cx="731712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XGBoost achieves the best short-horizon accuracy: 29% skill improvement over seasonal naive at h = 1 month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5161197"/>
            <a:ext cx="150000" cy="150000"/>
            <a:chOff x="0" y="0"/>
            <a:chExt cx="200000" cy="20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70003" y="3787197"/>
            <a:ext cx="731712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Beyond 1 month, the 12-month moving average outperforms all models at h = 3, 6, and 12 — added complexity does not help at longer horizons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03700" y="4007139"/>
            <a:ext cx="150000" cy="150000"/>
            <a:chOff x="0" y="0"/>
            <a:chExt cx="200000" cy="20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0003" y="4892097"/>
            <a:ext cx="731712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Alcohol supply shows a small positive association with assault rates (+0.04 to +0.06 per capita) but the 2023–2025 window is too short to draw firm conclusions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0000" y="2380945"/>
            <a:ext cx="731712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503702" y="2897134"/>
            <a:ext cx="150000" cy="150000"/>
            <a:chOff x="0" y="0"/>
            <a:chExt cx="200000" cy="20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69995" y="2830944"/>
            <a:ext cx="701712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Deploy XGBoost for 1-month-ahead operational forecasts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503702" y="4007139"/>
            <a:ext cx="150000" cy="150000"/>
            <a:chOff x="0" y="0"/>
            <a:chExt cx="200000" cy="20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869995" y="3787197"/>
            <a:ext cx="701712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Use 12-month moving average as the reference benchmark for 3–12 month planning horizons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503702" y="5161197"/>
            <a:ext cx="150000" cy="150000"/>
            <a:chOff x="0" y="0"/>
            <a:chExt cx="200000" cy="20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9898" cy="199898"/>
            </a:xfrm>
            <a:custGeom>
              <a:avLst/>
              <a:gdLst/>
              <a:ahLst/>
              <a:cxnLst/>
              <a:rect l="l" t="t" r="r" b="b"/>
              <a:pathLst>
                <a:path w="199898" h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899999" y="4936160"/>
            <a:ext cx="701712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Collect alcohol supply data from 2015 onward to properly evaluate its predictive 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825" cy="2709333"/>
            </a:xfrm>
            <a:custGeom>
              <a:avLst/>
              <a:gdLst/>
              <a:ahLst/>
              <a:cxnLst/>
              <a:rect l="l" t="t" r="r" b="b"/>
              <a:pathLst>
                <a:path w="96825" h="2709333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91823"/>
            <a:ext cx="847008" cy="847008"/>
          </a:xfrm>
          <a:custGeom>
            <a:avLst/>
            <a:gdLst/>
            <a:ahLst/>
            <a:cxnLst/>
            <a:rect l="l" t="t" r="r" b="b"/>
            <a:pathLst>
              <a:path w="847008" h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191726" y="1580598"/>
            <a:ext cx="7244181" cy="72441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19354" y="-4277500"/>
            <a:ext cx="7116554" cy="711655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60A5F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91726" y="6977077"/>
            <a:ext cx="7244181" cy="724418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60A5FA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3055194"/>
            <a:ext cx="9522802" cy="1987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00"/>
              </a:lnSpc>
            </a:pPr>
            <a:r>
              <a:rPr lang="en-US" sz="11000" b="1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1783</Words>
  <Application>Microsoft Office PowerPoint</Application>
  <PresentationFormat>Custom</PresentationFormat>
  <Paragraphs>230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Poppins Italics</vt:lpstr>
      <vt:lpstr>Poppins Bold Italics</vt:lpstr>
      <vt:lpstr>Poppins Semi-Bold</vt:lpstr>
      <vt:lpstr>Arial</vt:lpstr>
      <vt:lpstr>Calibri</vt:lpstr>
      <vt:lpstr>Open Sans Bold</vt:lpstr>
      <vt:lpstr>Canva Sans Bold</vt:lpstr>
      <vt:lpstr>Poppins Bold</vt:lpstr>
      <vt:lpstr>Canva Sans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PRT661_Assessment2.pptx</dc:title>
  <cp:lastModifiedBy>Ngoc Anh Nguyen</cp:lastModifiedBy>
  <cp:revision>2</cp:revision>
  <dcterms:created xsi:type="dcterms:W3CDTF">2006-08-16T00:00:00Z</dcterms:created>
  <dcterms:modified xsi:type="dcterms:W3CDTF">2026-09-20T12:05:17Z</dcterms:modified>
  <dc:identifier>DAHVLJRknP0</dc:identifier>
</cp:coreProperties>
</file>