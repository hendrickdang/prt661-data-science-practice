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72" r:id="rId5"/>
    <p:sldId id="273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74" r:id="rId16"/>
    <p:sldId id="268" r:id="rId17"/>
    <p:sldId id="275" r:id="rId18"/>
    <p:sldId id="269" r:id="rId19"/>
    <p:sldId id="270" r:id="rId20"/>
    <p:sldId id="271" r:id="rId21"/>
  </p:sldIdLst>
  <p:sldSz cx="18288000" cy="10287000"/>
  <p:notesSz cx="6858000" cy="9144000"/>
  <p:embeddedFontLst>
    <p:embeddedFont>
      <p:font typeface="Canva Sans" panose="020B0604020202020204" charset="0"/>
      <p:regular r:id="rId22"/>
    </p:embeddedFont>
    <p:embeddedFont>
      <p:font typeface="Canva Sans Bold" panose="020B0604020202020204" charset="0"/>
      <p:regular r:id="rId23"/>
    </p:embeddedFont>
    <p:embeddedFont>
      <p:font typeface="Open Sans Bold" panose="020B0604020202020204" charset="0"/>
      <p:regular r:id="rId24"/>
    </p:embeddedFont>
    <p:embeddedFont>
      <p:font typeface="Poppins" panose="00000500000000000000" pitchFamily="2" charset="0"/>
      <p:regular r:id="rId25"/>
      <p:bold r:id="rId26"/>
      <p:italic r:id="rId27"/>
      <p:boldItalic r:id="rId28"/>
    </p:embeddedFont>
    <p:embeddedFont>
      <p:font typeface="Poppins Bold" panose="00000800000000000000" charset="0"/>
      <p:regular r:id="rId29"/>
    </p:embeddedFont>
    <p:embeddedFont>
      <p:font typeface="Poppins Bold Italics" panose="020B0604020202020204" charset="0"/>
      <p:regular r:id="rId30"/>
    </p:embeddedFont>
    <p:embeddedFont>
      <p:font typeface="Poppins Italics" panose="020B0604020202020204" charset="0"/>
      <p:regular r:id="rId31"/>
    </p:embeddedFont>
    <p:embeddedFont>
      <p:font typeface="Poppins Semi-Bold" panose="020B0604020202020204" charset="0"/>
      <p:regular r:id="rId32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56819AD-ECDF-4F9A-A8B4-E7A35028ED13}" v="14" dt="2026-09-24T11:04:19.506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 autoAdjust="0"/>
    <p:restoredTop sz="94622" autoAdjust="0"/>
  </p:normalViewPr>
  <p:slideViewPr>
    <p:cSldViewPr>
      <p:cViewPr varScale="1">
        <p:scale>
          <a:sx n="44" d="100"/>
          <a:sy n="44" d="100"/>
        </p:scale>
        <p:origin x="30" y="1212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font" Target="fonts/font5.fntdata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font" Target="fonts/font4.fntdata"/><Relationship Id="rId33" Type="http://schemas.openxmlformats.org/officeDocument/2006/relationships/presProps" Target="presProps.xml"/><Relationship Id="rId38" Type="http://schemas.microsoft.com/office/2015/10/relationships/revisionInfo" Target="revisionInfo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font" Target="fonts/font8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3.fntdata"/><Relationship Id="rId32" Type="http://schemas.openxmlformats.org/officeDocument/2006/relationships/font" Target="fonts/font11.fntdata"/><Relationship Id="rId37" Type="http://schemas.microsoft.com/office/2016/11/relationships/changesInfo" Target="changesInfos/changesInfo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2.fntdata"/><Relationship Id="rId28" Type="http://schemas.openxmlformats.org/officeDocument/2006/relationships/font" Target="fonts/font7.fntdata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0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font" Target="fonts/font1.fntdata"/><Relationship Id="rId27" Type="http://schemas.openxmlformats.org/officeDocument/2006/relationships/font" Target="fonts/font6.fntdata"/><Relationship Id="rId30" Type="http://schemas.openxmlformats.org/officeDocument/2006/relationships/font" Target="fonts/font9.fntdata"/><Relationship Id="rId35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Emma Tran" userId="224e91d432148cf1" providerId="LiveId" clId="{80045340-A79D-471A-B3B9-93357593838A}"/>
    <pc:docChg chg="undo custSel addSld modSld sldOrd">
      <pc:chgData name="Emma Tran" userId="224e91d432148cf1" providerId="LiveId" clId="{80045340-A79D-471A-B3B9-93357593838A}" dt="2026-09-24T11:05:57.982" v="477" actId="478"/>
      <pc:docMkLst>
        <pc:docMk/>
      </pc:docMkLst>
      <pc:sldChg chg="delSp mod">
        <pc:chgData name="Emma Tran" userId="224e91d432148cf1" providerId="LiveId" clId="{80045340-A79D-471A-B3B9-93357593838A}" dt="2026-09-24T11:05:57.982" v="477" actId="478"/>
        <pc:sldMkLst>
          <pc:docMk/>
          <pc:sldMk cId="0" sldId="256"/>
        </pc:sldMkLst>
        <pc:spChg chg="del">
          <ac:chgData name="Emma Tran" userId="224e91d432148cf1" providerId="LiveId" clId="{80045340-A79D-471A-B3B9-93357593838A}" dt="2026-09-24T11:05:57.982" v="477" actId="478"/>
          <ac:spMkLst>
            <pc:docMk/>
            <pc:sldMk cId="0" sldId="256"/>
            <ac:spMk id="19" creationId="{00000000-0000-0000-0000-000000000000}"/>
          </ac:spMkLst>
        </pc:spChg>
      </pc:sldChg>
      <pc:sldChg chg="addSp delSp modSp mod">
        <pc:chgData name="Emma Tran" userId="224e91d432148cf1" providerId="LiveId" clId="{80045340-A79D-471A-B3B9-93357593838A}" dt="2026-09-24T11:05:38.520" v="476" actId="1035"/>
        <pc:sldMkLst>
          <pc:docMk/>
          <pc:sldMk cId="0" sldId="257"/>
        </pc:sldMkLst>
        <pc:spChg chg="del">
          <ac:chgData name="Emma Tran" userId="224e91d432148cf1" providerId="LiveId" clId="{80045340-A79D-471A-B3B9-93357593838A}" dt="2026-09-24T10:29:21.761" v="21" actId="478"/>
          <ac:spMkLst>
            <pc:docMk/>
            <pc:sldMk cId="0" sldId="257"/>
            <ac:spMk id="8" creationId="{00000000-0000-0000-0000-000000000000}"/>
          </ac:spMkLst>
        </pc:spChg>
        <pc:spChg chg="mod">
          <ac:chgData name="Emma Tran" userId="224e91d432148cf1" providerId="LiveId" clId="{80045340-A79D-471A-B3B9-93357593838A}" dt="2026-09-24T10:58:41.448" v="416"/>
          <ac:spMkLst>
            <pc:docMk/>
            <pc:sldMk cId="0" sldId="257"/>
            <ac:spMk id="9" creationId="{00000000-0000-0000-0000-000000000000}"/>
          </ac:spMkLst>
        </pc:spChg>
        <pc:spChg chg="del">
          <ac:chgData name="Emma Tran" userId="224e91d432148cf1" providerId="LiveId" clId="{80045340-A79D-471A-B3B9-93357593838A}" dt="2026-09-24T10:29:21.761" v="21" actId="478"/>
          <ac:spMkLst>
            <pc:docMk/>
            <pc:sldMk cId="0" sldId="257"/>
            <ac:spMk id="12" creationId="{00000000-0000-0000-0000-000000000000}"/>
          </ac:spMkLst>
        </pc:spChg>
        <pc:spChg chg="del">
          <ac:chgData name="Emma Tran" userId="224e91d432148cf1" providerId="LiveId" clId="{80045340-A79D-471A-B3B9-93357593838A}" dt="2026-09-24T10:29:21.761" v="21" actId="478"/>
          <ac:spMkLst>
            <pc:docMk/>
            <pc:sldMk cId="0" sldId="257"/>
            <ac:spMk id="13" creationId="{00000000-0000-0000-0000-000000000000}"/>
          </ac:spMkLst>
        </pc:spChg>
        <pc:spChg chg="del mod">
          <ac:chgData name="Emma Tran" userId="224e91d432148cf1" providerId="LiveId" clId="{80045340-A79D-471A-B3B9-93357593838A}" dt="2026-09-24T10:30:49.115" v="46"/>
          <ac:spMkLst>
            <pc:docMk/>
            <pc:sldMk cId="0" sldId="257"/>
            <ac:spMk id="16" creationId="{00000000-0000-0000-0000-000000000000}"/>
          </ac:spMkLst>
        </pc:spChg>
        <pc:spChg chg="del">
          <ac:chgData name="Emma Tran" userId="224e91d432148cf1" providerId="LiveId" clId="{80045340-A79D-471A-B3B9-93357593838A}" dt="2026-09-24T10:29:21.761" v="21" actId="478"/>
          <ac:spMkLst>
            <pc:docMk/>
            <pc:sldMk cId="0" sldId="257"/>
            <ac:spMk id="17" creationId="{00000000-0000-0000-0000-000000000000}"/>
          </ac:spMkLst>
        </pc:spChg>
        <pc:spChg chg="del">
          <ac:chgData name="Emma Tran" userId="224e91d432148cf1" providerId="LiveId" clId="{80045340-A79D-471A-B3B9-93357593838A}" dt="2026-09-24T10:29:21.761" v="21" actId="478"/>
          <ac:spMkLst>
            <pc:docMk/>
            <pc:sldMk cId="0" sldId="257"/>
            <ac:spMk id="20" creationId="{00000000-0000-0000-0000-000000000000}"/>
          </ac:spMkLst>
        </pc:spChg>
        <pc:spChg chg="del">
          <ac:chgData name="Emma Tran" userId="224e91d432148cf1" providerId="LiveId" clId="{80045340-A79D-471A-B3B9-93357593838A}" dt="2026-09-24T10:29:21.761" v="21" actId="478"/>
          <ac:spMkLst>
            <pc:docMk/>
            <pc:sldMk cId="0" sldId="257"/>
            <ac:spMk id="21" creationId="{00000000-0000-0000-0000-000000000000}"/>
          </ac:spMkLst>
        </pc:spChg>
        <pc:spChg chg="del">
          <ac:chgData name="Emma Tran" userId="224e91d432148cf1" providerId="LiveId" clId="{80045340-A79D-471A-B3B9-93357593838A}" dt="2026-09-24T10:29:21.761" v="21" actId="478"/>
          <ac:spMkLst>
            <pc:docMk/>
            <pc:sldMk cId="0" sldId="257"/>
            <ac:spMk id="24" creationId="{00000000-0000-0000-0000-000000000000}"/>
          </ac:spMkLst>
        </pc:spChg>
        <pc:spChg chg="del mod">
          <ac:chgData name="Emma Tran" userId="224e91d432148cf1" providerId="LiveId" clId="{80045340-A79D-471A-B3B9-93357593838A}" dt="2026-09-24T10:31:12.013" v="52" actId="478"/>
          <ac:spMkLst>
            <pc:docMk/>
            <pc:sldMk cId="0" sldId="257"/>
            <ac:spMk id="25" creationId="{00000000-0000-0000-0000-000000000000}"/>
          </ac:spMkLst>
        </pc:spChg>
        <pc:spChg chg="del">
          <ac:chgData name="Emma Tran" userId="224e91d432148cf1" providerId="LiveId" clId="{80045340-A79D-471A-B3B9-93357593838A}" dt="2026-09-24T10:29:21.761" v="21" actId="478"/>
          <ac:spMkLst>
            <pc:docMk/>
            <pc:sldMk cId="0" sldId="257"/>
            <ac:spMk id="26" creationId="{00000000-0000-0000-0000-000000000000}"/>
          </ac:spMkLst>
        </pc:spChg>
        <pc:spChg chg="del mod">
          <ac:chgData name="Emma Tran" userId="224e91d432148cf1" providerId="LiveId" clId="{80045340-A79D-471A-B3B9-93357593838A}" dt="2026-09-24T10:30:49.116" v="48"/>
          <ac:spMkLst>
            <pc:docMk/>
            <pc:sldMk cId="0" sldId="257"/>
            <ac:spMk id="27" creationId="{00000000-0000-0000-0000-000000000000}"/>
          </ac:spMkLst>
        </pc:spChg>
        <pc:spChg chg="mod">
          <ac:chgData name="Emma Tran" userId="224e91d432148cf1" providerId="LiveId" clId="{80045340-A79D-471A-B3B9-93357593838A}" dt="2026-09-24T10:30:41.851" v="44"/>
          <ac:spMkLst>
            <pc:docMk/>
            <pc:sldMk cId="0" sldId="257"/>
            <ac:spMk id="29" creationId="{3AEF3897-2779-ECD7-77A9-610740D6D898}"/>
          </ac:spMkLst>
        </pc:spChg>
        <pc:spChg chg="add mod">
          <ac:chgData name="Emma Tran" userId="224e91d432148cf1" providerId="LiveId" clId="{80045340-A79D-471A-B3B9-93357593838A}" dt="2026-09-24T10:31:30.808" v="57" actId="20577"/>
          <ac:spMkLst>
            <pc:docMk/>
            <pc:sldMk cId="0" sldId="257"/>
            <ac:spMk id="30" creationId="{AF7475C6-88B6-FB47-03E9-F50AFCF7223F}"/>
          </ac:spMkLst>
        </pc:spChg>
        <pc:spChg chg="mod">
          <ac:chgData name="Emma Tran" userId="224e91d432148cf1" providerId="LiveId" clId="{80045340-A79D-471A-B3B9-93357593838A}" dt="2026-09-24T10:30:41.851" v="44"/>
          <ac:spMkLst>
            <pc:docMk/>
            <pc:sldMk cId="0" sldId="257"/>
            <ac:spMk id="32" creationId="{266133AF-4069-5CFF-B250-2911E74EC11F}"/>
          </ac:spMkLst>
        </pc:spChg>
        <pc:spChg chg="add mod">
          <ac:chgData name="Emma Tran" userId="224e91d432148cf1" providerId="LiveId" clId="{80045340-A79D-471A-B3B9-93357593838A}" dt="2026-09-24T11:04:23.163" v="462" actId="20577"/>
          <ac:spMkLst>
            <pc:docMk/>
            <pc:sldMk cId="0" sldId="257"/>
            <ac:spMk id="33" creationId="{32AF6647-8EEF-3A03-FE99-6E8F20ACADB7}"/>
          </ac:spMkLst>
        </pc:spChg>
        <pc:spChg chg="mod">
          <ac:chgData name="Emma Tran" userId="224e91d432148cf1" providerId="LiveId" clId="{80045340-A79D-471A-B3B9-93357593838A}" dt="2026-09-24T10:30:41.851" v="44"/>
          <ac:spMkLst>
            <pc:docMk/>
            <pc:sldMk cId="0" sldId="257"/>
            <ac:spMk id="35" creationId="{200B4EC8-4AC2-34D4-306D-A4A50A57B930}"/>
          </ac:spMkLst>
        </pc:spChg>
        <pc:spChg chg="add del mod">
          <ac:chgData name="Emma Tran" userId="224e91d432148cf1" providerId="LiveId" clId="{80045340-A79D-471A-B3B9-93357593838A}" dt="2026-09-24T11:04:42.711" v="463" actId="478"/>
          <ac:spMkLst>
            <pc:docMk/>
            <pc:sldMk cId="0" sldId="257"/>
            <ac:spMk id="36" creationId="{B7148502-F24F-93F0-346B-37282F262C84}"/>
          </ac:spMkLst>
        </pc:spChg>
        <pc:spChg chg="mod">
          <ac:chgData name="Emma Tran" userId="224e91d432148cf1" providerId="LiveId" clId="{80045340-A79D-471A-B3B9-93357593838A}" dt="2026-09-24T10:30:41.851" v="44"/>
          <ac:spMkLst>
            <pc:docMk/>
            <pc:sldMk cId="0" sldId="257"/>
            <ac:spMk id="38" creationId="{1589FD4B-0184-2B2D-978E-F2B8D20C9ED2}"/>
          </ac:spMkLst>
        </pc:spChg>
        <pc:spChg chg="add del mod">
          <ac:chgData name="Emma Tran" userId="224e91d432148cf1" providerId="LiveId" clId="{80045340-A79D-471A-B3B9-93357593838A}" dt="2026-09-24T11:05:31.552" v="473" actId="478"/>
          <ac:spMkLst>
            <pc:docMk/>
            <pc:sldMk cId="0" sldId="257"/>
            <ac:spMk id="39" creationId="{B83777EA-D5EB-0982-562A-3F59040C7E0C}"/>
          </ac:spMkLst>
        </pc:spChg>
        <pc:spChg chg="mod">
          <ac:chgData name="Emma Tran" userId="224e91d432148cf1" providerId="LiveId" clId="{80045340-A79D-471A-B3B9-93357593838A}" dt="2026-09-24T10:30:59.058" v="49"/>
          <ac:spMkLst>
            <pc:docMk/>
            <pc:sldMk cId="0" sldId="257"/>
            <ac:spMk id="41" creationId="{FE1EE9E7-AD37-E4B3-CFC1-5093B17D05F9}"/>
          </ac:spMkLst>
        </pc:spChg>
        <pc:spChg chg="add">
          <ac:chgData name="Emma Tran" userId="224e91d432148cf1" providerId="LiveId" clId="{80045340-A79D-471A-B3B9-93357593838A}" dt="2026-09-24T10:31:09.069" v="51" actId="22"/>
          <ac:spMkLst>
            <pc:docMk/>
            <pc:sldMk cId="0" sldId="257"/>
            <ac:spMk id="43" creationId="{E7B70234-F170-D44A-563D-364A2A1B098C}"/>
          </ac:spMkLst>
        </pc:spChg>
        <pc:spChg chg="add">
          <ac:chgData name="Emma Tran" userId="224e91d432148cf1" providerId="LiveId" clId="{80045340-A79D-471A-B3B9-93357593838A}" dt="2026-09-24T11:04:43.241" v="464" actId="22"/>
          <ac:spMkLst>
            <pc:docMk/>
            <pc:sldMk cId="0" sldId="257"/>
            <ac:spMk id="45" creationId="{A99220D6-D9F3-1BEF-FD70-6BC7FFDBE3CE}"/>
          </ac:spMkLst>
        </pc:spChg>
        <pc:spChg chg="add mod">
          <ac:chgData name="Emma Tran" userId="224e91d432148cf1" providerId="LiveId" clId="{80045340-A79D-471A-B3B9-93357593838A}" dt="2026-09-24T11:05:38.520" v="476" actId="1035"/>
          <ac:spMkLst>
            <pc:docMk/>
            <pc:sldMk cId="0" sldId="257"/>
            <ac:spMk id="47" creationId="{0B790B02-48FC-3993-F620-9FE44E838627}"/>
          </ac:spMkLst>
        </pc:spChg>
        <pc:grpChg chg="del">
          <ac:chgData name="Emma Tran" userId="224e91d432148cf1" providerId="LiveId" clId="{80045340-A79D-471A-B3B9-93357593838A}" dt="2026-09-24T10:29:03.959" v="17" actId="478"/>
          <ac:grpSpMkLst>
            <pc:docMk/>
            <pc:sldMk cId="0" sldId="257"/>
            <ac:grpSpMk id="10" creationId="{00000000-0000-0000-0000-000000000000}"/>
          </ac:grpSpMkLst>
        </pc:grpChg>
        <pc:grpChg chg="del">
          <ac:chgData name="Emma Tran" userId="224e91d432148cf1" providerId="LiveId" clId="{80045340-A79D-471A-B3B9-93357593838A}" dt="2026-09-24T10:29:04.602" v="18" actId="478"/>
          <ac:grpSpMkLst>
            <pc:docMk/>
            <pc:sldMk cId="0" sldId="257"/>
            <ac:grpSpMk id="14" creationId="{00000000-0000-0000-0000-000000000000}"/>
          </ac:grpSpMkLst>
        </pc:grpChg>
        <pc:grpChg chg="del">
          <ac:chgData name="Emma Tran" userId="224e91d432148cf1" providerId="LiveId" clId="{80045340-A79D-471A-B3B9-93357593838A}" dt="2026-09-24T10:29:05.149" v="19" actId="478"/>
          <ac:grpSpMkLst>
            <pc:docMk/>
            <pc:sldMk cId="0" sldId="257"/>
            <ac:grpSpMk id="18" creationId="{00000000-0000-0000-0000-000000000000}"/>
          </ac:grpSpMkLst>
        </pc:grpChg>
        <pc:grpChg chg="del">
          <ac:chgData name="Emma Tran" userId="224e91d432148cf1" providerId="LiveId" clId="{80045340-A79D-471A-B3B9-93357593838A}" dt="2026-09-24T10:29:05.607" v="20" actId="478"/>
          <ac:grpSpMkLst>
            <pc:docMk/>
            <pc:sldMk cId="0" sldId="257"/>
            <ac:grpSpMk id="22" creationId="{00000000-0000-0000-0000-000000000000}"/>
          </ac:grpSpMkLst>
        </pc:grpChg>
        <pc:grpChg chg="add mod">
          <ac:chgData name="Emma Tran" userId="224e91d432148cf1" providerId="LiveId" clId="{80045340-A79D-471A-B3B9-93357593838A}" dt="2026-09-24T10:30:41.851" v="44"/>
          <ac:grpSpMkLst>
            <pc:docMk/>
            <pc:sldMk cId="0" sldId="257"/>
            <ac:grpSpMk id="28" creationId="{FF5451D4-5804-D295-019C-1DE1C69AFAEB}"/>
          </ac:grpSpMkLst>
        </pc:grpChg>
        <pc:grpChg chg="add mod">
          <ac:chgData name="Emma Tran" userId="224e91d432148cf1" providerId="LiveId" clId="{80045340-A79D-471A-B3B9-93357593838A}" dt="2026-09-24T11:04:54.387" v="472" actId="1035"/>
          <ac:grpSpMkLst>
            <pc:docMk/>
            <pc:sldMk cId="0" sldId="257"/>
            <ac:grpSpMk id="37" creationId="{8E46C6D0-32A3-6C63-F92F-B96D96B6D4EC}"/>
          </ac:grpSpMkLst>
        </pc:grpChg>
        <pc:grpChg chg="add mod">
          <ac:chgData name="Emma Tran" userId="224e91d432148cf1" providerId="LiveId" clId="{80045340-A79D-471A-B3B9-93357593838A}" dt="2026-09-24T10:30:59.058" v="49"/>
          <ac:grpSpMkLst>
            <pc:docMk/>
            <pc:sldMk cId="0" sldId="257"/>
            <ac:grpSpMk id="40" creationId="{D8F9A9DF-5A91-282C-D7EA-8BECBBA16641}"/>
          </ac:grpSpMkLst>
        </pc:grpChg>
      </pc:sldChg>
      <pc:sldChg chg="ord">
        <pc:chgData name="Emma Tran" userId="224e91d432148cf1" providerId="LiveId" clId="{80045340-A79D-471A-B3B9-93357593838A}" dt="2026-09-24T10:38:27.759" v="71"/>
        <pc:sldMkLst>
          <pc:docMk/>
          <pc:sldMk cId="0" sldId="258"/>
        </pc:sldMkLst>
      </pc:sldChg>
      <pc:sldChg chg="ord">
        <pc:chgData name="Emma Tran" userId="224e91d432148cf1" providerId="LiveId" clId="{80045340-A79D-471A-B3B9-93357593838A}" dt="2026-09-24T10:34:47.772" v="69"/>
        <pc:sldMkLst>
          <pc:docMk/>
          <pc:sldMk cId="0" sldId="260"/>
        </pc:sldMkLst>
      </pc:sldChg>
      <pc:sldChg chg="addSp delSp modSp mod">
        <pc:chgData name="Emma Tran" userId="224e91d432148cf1" providerId="LiveId" clId="{80045340-A79D-471A-B3B9-93357593838A}" dt="2026-09-24T10:54:39.735" v="393" actId="20577"/>
        <pc:sldMkLst>
          <pc:docMk/>
          <pc:sldMk cId="0" sldId="269"/>
        </pc:sldMkLst>
        <pc:spChg chg="mod">
          <ac:chgData name="Emma Tran" userId="224e91d432148cf1" providerId="LiveId" clId="{80045340-A79D-471A-B3B9-93357593838A}" dt="2026-09-24T10:54:39.735" v="393" actId="20577"/>
          <ac:spMkLst>
            <pc:docMk/>
            <pc:sldMk cId="0" sldId="269"/>
            <ac:spMk id="36" creationId="{00000000-0000-0000-0000-000000000000}"/>
          </ac:spMkLst>
        </pc:spChg>
        <pc:spChg chg="del mod">
          <ac:chgData name="Emma Tran" userId="224e91d432148cf1" providerId="LiveId" clId="{80045340-A79D-471A-B3B9-93357593838A}" dt="2026-09-24T10:49:47.678" v="292"/>
          <ac:spMkLst>
            <pc:docMk/>
            <pc:sldMk cId="0" sldId="269"/>
            <ac:spMk id="39" creationId="{00000000-0000-0000-0000-000000000000}"/>
          </ac:spMkLst>
        </pc:spChg>
        <pc:spChg chg="mod">
          <ac:chgData name="Emma Tran" userId="224e91d432148cf1" providerId="LiveId" clId="{80045340-A79D-471A-B3B9-93357593838A}" dt="2026-09-24T10:50:01.247" v="304" actId="1035"/>
          <ac:spMkLst>
            <pc:docMk/>
            <pc:sldMk cId="0" sldId="269"/>
            <ac:spMk id="42" creationId="{00000000-0000-0000-0000-000000000000}"/>
          </ac:spMkLst>
        </pc:spChg>
        <pc:spChg chg="mod">
          <ac:chgData name="Emma Tran" userId="224e91d432148cf1" providerId="LiveId" clId="{80045340-A79D-471A-B3B9-93357593838A}" dt="2026-09-24T10:50:01.247" v="304" actId="1035"/>
          <ac:spMkLst>
            <pc:docMk/>
            <pc:sldMk cId="0" sldId="269"/>
            <ac:spMk id="45" creationId="{00000000-0000-0000-0000-000000000000}"/>
          </ac:spMkLst>
        </pc:spChg>
        <pc:spChg chg="mod">
          <ac:chgData name="Emma Tran" userId="224e91d432148cf1" providerId="LiveId" clId="{80045340-A79D-471A-B3B9-93357593838A}" dt="2026-09-24T10:50:32.685" v="323" actId="20577"/>
          <ac:spMkLst>
            <pc:docMk/>
            <pc:sldMk cId="0" sldId="269"/>
            <ac:spMk id="50" creationId="{00000000-0000-0000-0000-000000000000}"/>
          </ac:spMkLst>
        </pc:spChg>
        <pc:spChg chg="mod">
          <ac:chgData name="Emma Tran" userId="224e91d432148cf1" providerId="LiveId" clId="{80045340-A79D-471A-B3B9-93357593838A}" dt="2026-09-24T10:50:45.690" v="324"/>
          <ac:spMkLst>
            <pc:docMk/>
            <pc:sldMk cId="0" sldId="269"/>
            <ac:spMk id="52" creationId="{60E0B400-908B-D55E-9809-2C34A6C3BE94}"/>
          </ac:spMkLst>
        </pc:spChg>
        <pc:spChg chg="add mod">
          <ac:chgData name="Emma Tran" userId="224e91d432148cf1" providerId="LiveId" clId="{80045340-A79D-471A-B3B9-93357593838A}" dt="2026-09-24T10:51:41.461" v="359" actId="20577"/>
          <ac:spMkLst>
            <pc:docMk/>
            <pc:sldMk cId="0" sldId="269"/>
            <ac:spMk id="53" creationId="{3A1B6DAD-4F18-F1AD-CDE8-8CEDE9CA9486}"/>
          </ac:spMkLst>
        </pc:spChg>
        <pc:grpChg chg="mod">
          <ac:chgData name="Emma Tran" userId="224e91d432148cf1" providerId="LiveId" clId="{80045340-A79D-471A-B3B9-93357593838A}" dt="2026-09-24T10:50:48.907" v="326" actId="1076"/>
          <ac:grpSpMkLst>
            <pc:docMk/>
            <pc:sldMk cId="0" sldId="269"/>
            <ac:grpSpMk id="2" creationId="{00000000-0000-0000-0000-000000000000}"/>
          </ac:grpSpMkLst>
        </pc:grpChg>
        <pc:grpChg chg="del">
          <ac:chgData name="Emma Tran" userId="224e91d432148cf1" providerId="LiveId" clId="{80045340-A79D-471A-B3B9-93357593838A}" dt="2026-09-24T10:49:47.675" v="290" actId="478"/>
          <ac:grpSpMkLst>
            <pc:docMk/>
            <pc:sldMk cId="0" sldId="269"/>
            <ac:grpSpMk id="37" creationId="{00000000-0000-0000-0000-000000000000}"/>
          </ac:grpSpMkLst>
        </pc:grpChg>
        <pc:grpChg chg="mod">
          <ac:chgData name="Emma Tran" userId="224e91d432148cf1" providerId="LiveId" clId="{80045340-A79D-471A-B3B9-93357593838A}" dt="2026-09-24T10:50:01.247" v="304" actId="1035"/>
          <ac:grpSpMkLst>
            <pc:docMk/>
            <pc:sldMk cId="0" sldId="269"/>
            <ac:grpSpMk id="40" creationId="{00000000-0000-0000-0000-000000000000}"/>
          </ac:grpSpMkLst>
        </pc:grpChg>
        <pc:grpChg chg="mod">
          <ac:chgData name="Emma Tran" userId="224e91d432148cf1" providerId="LiveId" clId="{80045340-A79D-471A-B3B9-93357593838A}" dt="2026-09-24T10:50:01.247" v="304" actId="1035"/>
          <ac:grpSpMkLst>
            <pc:docMk/>
            <pc:sldMk cId="0" sldId="269"/>
            <ac:grpSpMk id="43" creationId="{00000000-0000-0000-0000-000000000000}"/>
          </ac:grpSpMkLst>
        </pc:grpChg>
        <pc:grpChg chg="add mod">
          <ac:chgData name="Emma Tran" userId="224e91d432148cf1" providerId="LiveId" clId="{80045340-A79D-471A-B3B9-93357593838A}" dt="2026-09-24T10:50:56.828" v="336" actId="1038"/>
          <ac:grpSpMkLst>
            <pc:docMk/>
            <pc:sldMk cId="0" sldId="269"/>
            <ac:grpSpMk id="51" creationId="{4FC27293-E22B-C444-F303-566BE1CA97CE}"/>
          </ac:grpSpMkLst>
        </pc:grpChg>
      </pc:sldChg>
      <pc:sldChg chg="modSp add mod">
        <pc:chgData name="Emma Tran" userId="224e91d432148cf1" providerId="LiveId" clId="{80045340-A79D-471A-B3B9-93357593838A}" dt="2026-09-24T10:40:37.695" v="109" actId="20577"/>
        <pc:sldMkLst>
          <pc:docMk/>
          <pc:sldMk cId="3963359156" sldId="272"/>
        </pc:sldMkLst>
        <pc:spChg chg="mod">
          <ac:chgData name="Emma Tran" userId="224e91d432148cf1" providerId="LiveId" clId="{80045340-A79D-471A-B3B9-93357593838A}" dt="2026-09-24T10:40:37.695" v="109" actId="20577"/>
          <ac:spMkLst>
            <pc:docMk/>
            <pc:sldMk cId="3963359156" sldId="272"/>
            <ac:spMk id="9" creationId="{211D5C29-FA6D-4C9A-6B52-A1902DF548BA}"/>
          </ac:spMkLst>
        </pc:spChg>
      </pc:sldChg>
      <pc:sldChg chg="addSp delSp modSp add mod">
        <pc:chgData name="Emma Tran" userId="224e91d432148cf1" providerId="LiveId" clId="{80045340-A79D-471A-B3B9-93357593838A}" dt="2026-09-24T10:41:44.123" v="123" actId="20577"/>
        <pc:sldMkLst>
          <pc:docMk/>
          <pc:sldMk cId="755146955" sldId="273"/>
        </pc:sldMkLst>
        <pc:spChg chg="del">
          <ac:chgData name="Emma Tran" userId="224e91d432148cf1" providerId="LiveId" clId="{80045340-A79D-471A-B3B9-93357593838A}" dt="2026-09-24T10:38:49.055" v="73" actId="478"/>
          <ac:spMkLst>
            <pc:docMk/>
            <pc:sldMk cId="755146955" sldId="273"/>
            <ac:spMk id="8" creationId="{727C75C8-C169-FFCF-C014-D8BADB7CF3C9}"/>
          </ac:spMkLst>
        </pc:spChg>
        <pc:spChg chg="del">
          <ac:chgData name="Emma Tran" userId="224e91d432148cf1" providerId="LiveId" clId="{80045340-A79D-471A-B3B9-93357593838A}" dt="2026-09-24T10:39:19.073" v="75" actId="478"/>
          <ac:spMkLst>
            <pc:docMk/>
            <pc:sldMk cId="755146955" sldId="273"/>
            <ac:spMk id="9" creationId="{1173B410-572A-C942-EECE-11E612D1449A}"/>
          </ac:spMkLst>
        </pc:spChg>
        <pc:spChg chg="del">
          <ac:chgData name="Emma Tran" userId="224e91d432148cf1" providerId="LiveId" clId="{80045340-A79D-471A-B3B9-93357593838A}" dt="2026-09-24T10:39:06.116" v="74" actId="478"/>
          <ac:spMkLst>
            <pc:docMk/>
            <pc:sldMk cId="755146955" sldId="273"/>
            <ac:spMk id="12" creationId="{FE71E057-4FAD-1DF0-F355-19F521E9C8A3}"/>
          </ac:spMkLst>
        </pc:spChg>
        <pc:spChg chg="del">
          <ac:chgData name="Emma Tran" userId="224e91d432148cf1" providerId="LiveId" clId="{80045340-A79D-471A-B3B9-93357593838A}" dt="2026-09-24T10:39:06.116" v="74" actId="478"/>
          <ac:spMkLst>
            <pc:docMk/>
            <pc:sldMk cId="755146955" sldId="273"/>
            <ac:spMk id="13" creationId="{7EE7CE96-9CB6-12F0-E3B7-65AECFFCB4D9}"/>
          </ac:spMkLst>
        </pc:spChg>
        <pc:spChg chg="del">
          <ac:chgData name="Emma Tran" userId="224e91d432148cf1" providerId="LiveId" clId="{80045340-A79D-471A-B3B9-93357593838A}" dt="2026-09-24T10:39:06.116" v="74" actId="478"/>
          <ac:spMkLst>
            <pc:docMk/>
            <pc:sldMk cId="755146955" sldId="273"/>
            <ac:spMk id="16" creationId="{EC60AAFE-11F6-56DB-0879-B2B5E8823F81}"/>
          </ac:spMkLst>
        </pc:spChg>
        <pc:spChg chg="del">
          <ac:chgData name="Emma Tran" userId="224e91d432148cf1" providerId="LiveId" clId="{80045340-A79D-471A-B3B9-93357593838A}" dt="2026-09-24T10:39:06.116" v="74" actId="478"/>
          <ac:spMkLst>
            <pc:docMk/>
            <pc:sldMk cId="755146955" sldId="273"/>
            <ac:spMk id="17" creationId="{58AF1444-398A-C337-94CF-D2D91B7E44B0}"/>
          </ac:spMkLst>
        </pc:spChg>
        <pc:spChg chg="del">
          <ac:chgData name="Emma Tran" userId="224e91d432148cf1" providerId="LiveId" clId="{80045340-A79D-471A-B3B9-93357593838A}" dt="2026-09-24T10:39:06.116" v="74" actId="478"/>
          <ac:spMkLst>
            <pc:docMk/>
            <pc:sldMk cId="755146955" sldId="273"/>
            <ac:spMk id="20" creationId="{00CA92D1-AAE3-B315-61A5-E57210BE5D8B}"/>
          </ac:spMkLst>
        </pc:spChg>
        <pc:spChg chg="del">
          <ac:chgData name="Emma Tran" userId="224e91d432148cf1" providerId="LiveId" clId="{80045340-A79D-471A-B3B9-93357593838A}" dt="2026-09-24T10:39:06.116" v="74" actId="478"/>
          <ac:spMkLst>
            <pc:docMk/>
            <pc:sldMk cId="755146955" sldId="273"/>
            <ac:spMk id="21" creationId="{681B7D87-62FB-ACA8-D8AF-519E462D3B2B}"/>
          </ac:spMkLst>
        </pc:spChg>
        <pc:spChg chg="del">
          <ac:chgData name="Emma Tran" userId="224e91d432148cf1" providerId="LiveId" clId="{80045340-A79D-471A-B3B9-93357593838A}" dt="2026-09-24T10:39:06.116" v="74" actId="478"/>
          <ac:spMkLst>
            <pc:docMk/>
            <pc:sldMk cId="755146955" sldId="273"/>
            <ac:spMk id="24" creationId="{510769F0-093C-AF6C-62A6-04490A0083D8}"/>
          </ac:spMkLst>
        </pc:spChg>
        <pc:spChg chg="del">
          <ac:chgData name="Emma Tran" userId="224e91d432148cf1" providerId="LiveId" clId="{80045340-A79D-471A-B3B9-93357593838A}" dt="2026-09-24T10:39:06.116" v="74" actId="478"/>
          <ac:spMkLst>
            <pc:docMk/>
            <pc:sldMk cId="755146955" sldId="273"/>
            <ac:spMk id="25" creationId="{16DBF830-81E2-67D9-75D5-0746562127B3}"/>
          </ac:spMkLst>
        </pc:spChg>
        <pc:spChg chg="del">
          <ac:chgData name="Emma Tran" userId="224e91d432148cf1" providerId="LiveId" clId="{80045340-A79D-471A-B3B9-93357593838A}" dt="2026-09-24T10:39:06.116" v="74" actId="478"/>
          <ac:spMkLst>
            <pc:docMk/>
            <pc:sldMk cId="755146955" sldId="273"/>
            <ac:spMk id="26" creationId="{D3DDF96F-313B-5A53-03B7-BE2CCBC46087}"/>
          </ac:spMkLst>
        </pc:spChg>
        <pc:spChg chg="del">
          <ac:chgData name="Emma Tran" userId="224e91d432148cf1" providerId="LiveId" clId="{80045340-A79D-471A-B3B9-93357593838A}" dt="2026-09-24T10:39:06.116" v="74" actId="478"/>
          <ac:spMkLst>
            <pc:docMk/>
            <pc:sldMk cId="755146955" sldId="273"/>
            <ac:spMk id="27" creationId="{E2EDBBFC-680A-3E8E-DF73-A29D5EF9B801}"/>
          </ac:spMkLst>
        </pc:spChg>
        <pc:spChg chg="mod">
          <ac:chgData name="Emma Tran" userId="224e91d432148cf1" providerId="LiveId" clId="{80045340-A79D-471A-B3B9-93357593838A}" dt="2026-09-24T10:39:19.510" v="76"/>
          <ac:spMkLst>
            <pc:docMk/>
            <pc:sldMk cId="755146955" sldId="273"/>
            <ac:spMk id="29" creationId="{27F3E7C7-89A6-5F32-C644-891D4E33339D}"/>
          </ac:spMkLst>
        </pc:spChg>
        <pc:spChg chg="add del mod">
          <ac:chgData name="Emma Tran" userId="224e91d432148cf1" providerId="LiveId" clId="{80045340-A79D-471A-B3B9-93357593838A}" dt="2026-09-24T10:40:58.344" v="110" actId="478"/>
          <ac:spMkLst>
            <pc:docMk/>
            <pc:sldMk cId="755146955" sldId="273"/>
            <ac:spMk id="30" creationId="{F54ADBEE-3ACF-A142-0C9D-62909915919D}"/>
          </ac:spMkLst>
        </pc:spChg>
        <pc:spChg chg="add del mod">
          <ac:chgData name="Emma Tran" userId="224e91d432148cf1" providerId="LiveId" clId="{80045340-A79D-471A-B3B9-93357593838A}" dt="2026-09-24T10:40:58.344" v="110" actId="478"/>
          <ac:spMkLst>
            <pc:docMk/>
            <pc:sldMk cId="755146955" sldId="273"/>
            <ac:spMk id="31" creationId="{958261B4-CB51-C7CF-B6A8-B4E35429136D}"/>
          </ac:spMkLst>
        </pc:spChg>
        <pc:spChg chg="mod">
          <ac:chgData name="Emma Tran" userId="224e91d432148cf1" providerId="LiveId" clId="{80045340-A79D-471A-B3B9-93357593838A}" dt="2026-09-24T10:39:33.434" v="77"/>
          <ac:spMkLst>
            <pc:docMk/>
            <pc:sldMk cId="755146955" sldId="273"/>
            <ac:spMk id="33" creationId="{71D168EF-33B0-F7C2-D3AF-82A9659A0AF5}"/>
          </ac:spMkLst>
        </pc:spChg>
        <pc:spChg chg="add del mod">
          <ac:chgData name="Emma Tran" userId="224e91d432148cf1" providerId="LiveId" clId="{80045340-A79D-471A-B3B9-93357593838A}" dt="2026-09-24T10:40:58.344" v="110" actId="478"/>
          <ac:spMkLst>
            <pc:docMk/>
            <pc:sldMk cId="755146955" sldId="273"/>
            <ac:spMk id="34" creationId="{5CB83761-9823-9486-5A1F-6D72EB6471FA}"/>
          </ac:spMkLst>
        </pc:spChg>
        <pc:spChg chg="mod">
          <ac:chgData name="Emma Tran" userId="224e91d432148cf1" providerId="LiveId" clId="{80045340-A79D-471A-B3B9-93357593838A}" dt="2026-09-24T10:39:33.434" v="77"/>
          <ac:spMkLst>
            <pc:docMk/>
            <pc:sldMk cId="755146955" sldId="273"/>
            <ac:spMk id="36" creationId="{C17F42AE-3373-D883-3A29-DCE83337EB93}"/>
          </ac:spMkLst>
        </pc:spChg>
        <pc:spChg chg="add del mod">
          <ac:chgData name="Emma Tran" userId="224e91d432148cf1" providerId="LiveId" clId="{80045340-A79D-471A-B3B9-93357593838A}" dt="2026-09-24T10:40:58.344" v="110" actId="478"/>
          <ac:spMkLst>
            <pc:docMk/>
            <pc:sldMk cId="755146955" sldId="273"/>
            <ac:spMk id="37" creationId="{16EC1852-C041-8862-9CBB-103346A61D81}"/>
          </ac:spMkLst>
        </pc:spChg>
        <pc:spChg chg="mod">
          <ac:chgData name="Emma Tran" userId="224e91d432148cf1" providerId="LiveId" clId="{80045340-A79D-471A-B3B9-93357593838A}" dt="2026-09-24T10:39:33.434" v="77"/>
          <ac:spMkLst>
            <pc:docMk/>
            <pc:sldMk cId="755146955" sldId="273"/>
            <ac:spMk id="39" creationId="{E0AA7FF7-9DA7-F959-66B0-04B0CB7CF9C5}"/>
          </ac:spMkLst>
        </pc:spChg>
        <pc:spChg chg="add del mod">
          <ac:chgData name="Emma Tran" userId="224e91d432148cf1" providerId="LiveId" clId="{80045340-A79D-471A-B3B9-93357593838A}" dt="2026-09-24T10:40:58.344" v="110" actId="478"/>
          <ac:spMkLst>
            <pc:docMk/>
            <pc:sldMk cId="755146955" sldId="273"/>
            <ac:spMk id="40" creationId="{FAEF1913-A3EF-1A8C-655E-BE392A1F4D76}"/>
          </ac:spMkLst>
        </pc:spChg>
        <pc:spChg chg="mod">
          <ac:chgData name="Emma Tran" userId="224e91d432148cf1" providerId="LiveId" clId="{80045340-A79D-471A-B3B9-93357593838A}" dt="2026-09-24T10:39:33.434" v="77"/>
          <ac:spMkLst>
            <pc:docMk/>
            <pc:sldMk cId="755146955" sldId="273"/>
            <ac:spMk id="42" creationId="{BF7D6410-5566-4863-FEAC-C5CF91EEB1EC}"/>
          </ac:spMkLst>
        </pc:spChg>
        <pc:spChg chg="add del mod">
          <ac:chgData name="Emma Tran" userId="224e91d432148cf1" providerId="LiveId" clId="{80045340-A79D-471A-B3B9-93357593838A}" dt="2026-09-24T10:40:58.344" v="110" actId="478"/>
          <ac:spMkLst>
            <pc:docMk/>
            <pc:sldMk cId="755146955" sldId="273"/>
            <ac:spMk id="43" creationId="{1CC152E0-76FB-C798-75AF-8318934CEB12}"/>
          </ac:spMkLst>
        </pc:spChg>
        <pc:spChg chg="add">
          <ac:chgData name="Emma Tran" userId="224e91d432148cf1" providerId="LiveId" clId="{80045340-A79D-471A-B3B9-93357593838A}" dt="2026-09-24T10:41:07.403" v="111" actId="22"/>
          <ac:spMkLst>
            <pc:docMk/>
            <pc:sldMk cId="755146955" sldId="273"/>
            <ac:spMk id="45" creationId="{46932E73-C0D7-D984-04A5-6D2B6B5B72AB}"/>
          </ac:spMkLst>
        </pc:spChg>
        <pc:spChg chg="add">
          <ac:chgData name="Emma Tran" userId="224e91d432148cf1" providerId="LiveId" clId="{80045340-A79D-471A-B3B9-93357593838A}" dt="2026-09-24T10:41:07.403" v="111" actId="22"/>
          <ac:spMkLst>
            <pc:docMk/>
            <pc:sldMk cId="755146955" sldId="273"/>
            <ac:spMk id="47" creationId="{585FEC75-4F28-7269-7430-6877BA3B46CE}"/>
          </ac:spMkLst>
        </pc:spChg>
        <pc:spChg chg="add mod">
          <ac:chgData name="Emma Tran" userId="224e91d432148cf1" providerId="LiveId" clId="{80045340-A79D-471A-B3B9-93357593838A}" dt="2026-09-24T10:41:16.404" v="114" actId="20577"/>
          <ac:spMkLst>
            <pc:docMk/>
            <pc:sldMk cId="755146955" sldId="273"/>
            <ac:spMk id="49" creationId="{DC3DD0B1-6C34-2A26-4953-705E9A86FA6A}"/>
          </ac:spMkLst>
        </pc:spChg>
        <pc:spChg chg="add mod">
          <ac:chgData name="Emma Tran" userId="224e91d432148cf1" providerId="LiveId" clId="{80045340-A79D-471A-B3B9-93357593838A}" dt="2026-09-24T10:41:25.670" v="117" actId="20577"/>
          <ac:spMkLst>
            <pc:docMk/>
            <pc:sldMk cId="755146955" sldId="273"/>
            <ac:spMk id="51" creationId="{8BBB5A77-9245-65CD-CDCB-35AD721E47F0}"/>
          </ac:spMkLst>
        </pc:spChg>
        <pc:spChg chg="add mod">
          <ac:chgData name="Emma Tran" userId="224e91d432148cf1" providerId="LiveId" clId="{80045340-A79D-471A-B3B9-93357593838A}" dt="2026-09-24T10:41:33.791" v="120" actId="20577"/>
          <ac:spMkLst>
            <pc:docMk/>
            <pc:sldMk cId="755146955" sldId="273"/>
            <ac:spMk id="53" creationId="{BC9ECDA4-EB6D-14D6-CA02-DC40147E6FD8}"/>
          </ac:spMkLst>
        </pc:spChg>
        <pc:spChg chg="add mod">
          <ac:chgData name="Emma Tran" userId="224e91d432148cf1" providerId="LiveId" clId="{80045340-A79D-471A-B3B9-93357593838A}" dt="2026-09-24T10:41:44.123" v="123" actId="20577"/>
          <ac:spMkLst>
            <pc:docMk/>
            <pc:sldMk cId="755146955" sldId="273"/>
            <ac:spMk id="55" creationId="{92565D18-F24F-59D3-E258-67539EEAB455}"/>
          </ac:spMkLst>
        </pc:spChg>
        <pc:grpChg chg="add mod">
          <ac:chgData name="Emma Tran" userId="224e91d432148cf1" providerId="LiveId" clId="{80045340-A79D-471A-B3B9-93357593838A}" dt="2026-09-24T10:39:19.510" v="76"/>
          <ac:grpSpMkLst>
            <pc:docMk/>
            <pc:sldMk cId="755146955" sldId="273"/>
            <ac:grpSpMk id="28" creationId="{8C7F3080-ED69-3E25-C916-EC5061191D35}"/>
          </ac:grpSpMkLst>
        </pc:grpChg>
        <pc:grpChg chg="add mod">
          <ac:chgData name="Emma Tran" userId="224e91d432148cf1" providerId="LiveId" clId="{80045340-A79D-471A-B3B9-93357593838A}" dt="2026-09-24T10:39:33.434" v="77"/>
          <ac:grpSpMkLst>
            <pc:docMk/>
            <pc:sldMk cId="755146955" sldId="273"/>
            <ac:grpSpMk id="35" creationId="{C6BC27EE-A8F4-0739-CD8A-7870CC2491D9}"/>
          </ac:grpSpMkLst>
        </pc:grpChg>
      </pc:sldChg>
      <pc:sldChg chg="modSp add mod ord">
        <pc:chgData name="Emma Tran" userId="224e91d432148cf1" providerId="LiveId" clId="{80045340-A79D-471A-B3B9-93357593838A}" dt="2026-09-24T10:44:18.661" v="176" actId="20577"/>
        <pc:sldMkLst>
          <pc:docMk/>
          <pc:sldMk cId="0" sldId="274"/>
        </pc:sldMkLst>
        <pc:spChg chg="mod">
          <ac:chgData name="Emma Tran" userId="224e91d432148cf1" providerId="LiveId" clId="{80045340-A79D-471A-B3B9-93357593838A}" dt="2026-09-24T10:44:03.409" v="175" actId="20577"/>
          <ac:spMkLst>
            <pc:docMk/>
            <pc:sldMk cId="0" sldId="274"/>
            <ac:spMk id="14" creationId="{00000000-0000-0000-0000-000000000000}"/>
          </ac:spMkLst>
        </pc:spChg>
        <pc:spChg chg="mod">
          <ac:chgData name="Emma Tran" userId="224e91d432148cf1" providerId="LiveId" clId="{80045340-A79D-471A-B3B9-93357593838A}" dt="2026-09-24T10:43:33.797" v="132" actId="6549"/>
          <ac:spMkLst>
            <pc:docMk/>
            <pc:sldMk cId="0" sldId="274"/>
            <ac:spMk id="17" creationId="{00000000-0000-0000-0000-000000000000}"/>
          </ac:spMkLst>
        </pc:spChg>
        <pc:spChg chg="mod">
          <ac:chgData name="Emma Tran" userId="224e91d432148cf1" providerId="LiveId" clId="{80045340-A79D-471A-B3B9-93357593838A}" dt="2026-09-24T10:44:18.661" v="176" actId="20577"/>
          <ac:spMkLst>
            <pc:docMk/>
            <pc:sldMk cId="0" sldId="274"/>
            <ac:spMk id="20" creationId="{00000000-0000-0000-0000-000000000000}"/>
          </ac:spMkLst>
        </pc:spChg>
        <pc:spChg chg="mod">
          <ac:chgData name="Emma Tran" userId="224e91d432148cf1" providerId="LiveId" clId="{80045340-A79D-471A-B3B9-93357593838A}" dt="2026-09-24T10:43:40.509" v="138" actId="6549"/>
          <ac:spMkLst>
            <pc:docMk/>
            <pc:sldMk cId="0" sldId="274"/>
            <ac:spMk id="23" creationId="{00000000-0000-0000-0000-000000000000}"/>
          </ac:spMkLst>
        </pc:spChg>
      </pc:sldChg>
      <pc:sldChg chg="modSp add mod">
        <pc:chgData name="Emma Tran" userId="224e91d432148cf1" providerId="LiveId" clId="{80045340-A79D-471A-B3B9-93357593838A}" dt="2026-09-24T10:48:46.396" v="261" actId="1035"/>
        <pc:sldMkLst>
          <pc:docMk/>
          <pc:sldMk cId="0" sldId="275"/>
        </pc:sldMkLst>
        <pc:spChg chg="mod">
          <ac:chgData name="Emma Tran" userId="224e91d432148cf1" providerId="LiveId" clId="{80045340-A79D-471A-B3B9-93357593838A}" dt="2026-09-24T10:46:15.316" v="210" actId="20577"/>
          <ac:spMkLst>
            <pc:docMk/>
            <pc:sldMk cId="0" sldId="275"/>
            <ac:spMk id="14" creationId="{00000000-0000-0000-0000-000000000000}"/>
          </ac:spMkLst>
        </pc:spChg>
        <pc:spChg chg="mod">
          <ac:chgData name="Emma Tran" userId="224e91d432148cf1" providerId="LiveId" clId="{80045340-A79D-471A-B3B9-93357593838A}" dt="2026-09-24T10:47:10.215" v="240" actId="1035"/>
          <ac:spMkLst>
            <pc:docMk/>
            <pc:sldMk cId="0" sldId="275"/>
            <ac:spMk id="17" creationId="{00000000-0000-0000-0000-000000000000}"/>
          </ac:spMkLst>
        </pc:spChg>
        <pc:spChg chg="mod">
          <ac:chgData name="Emma Tran" userId="224e91d432148cf1" providerId="LiveId" clId="{80045340-A79D-471A-B3B9-93357593838A}" dt="2026-09-24T10:48:41.746" v="257" actId="1035"/>
          <ac:spMkLst>
            <pc:docMk/>
            <pc:sldMk cId="0" sldId="275"/>
            <ac:spMk id="20" creationId="{00000000-0000-0000-0000-000000000000}"/>
          </ac:spMkLst>
        </pc:spChg>
        <pc:spChg chg="mod">
          <ac:chgData name="Emma Tran" userId="224e91d432148cf1" providerId="LiveId" clId="{80045340-A79D-471A-B3B9-93357593838A}" dt="2026-09-24T10:48:46.396" v="261" actId="1035"/>
          <ac:spMkLst>
            <pc:docMk/>
            <pc:sldMk cId="0" sldId="275"/>
            <ac:spMk id="23" creationId="{00000000-0000-0000-0000-000000000000}"/>
          </ac:spMkLst>
        </pc:spChg>
        <pc:grpChg chg="mod">
          <ac:chgData name="Emma Tran" userId="224e91d432148cf1" providerId="LiveId" clId="{80045340-A79D-471A-B3B9-93357593838A}" dt="2026-09-24T10:47:05.490" v="229" actId="1076"/>
          <ac:grpSpMkLst>
            <pc:docMk/>
            <pc:sldMk cId="0" sldId="275"/>
            <ac:grpSpMk id="2" creationId="{00000000-0000-0000-0000-000000000000}"/>
          </ac:grpSpMkLst>
        </pc:grpChg>
        <pc:grpChg chg="mod">
          <ac:chgData name="Emma Tran" userId="224e91d432148cf1" providerId="LiveId" clId="{80045340-A79D-471A-B3B9-93357593838A}" dt="2026-09-24T10:47:10.215" v="240" actId="1035"/>
          <ac:grpSpMkLst>
            <pc:docMk/>
            <pc:sldMk cId="0" sldId="275"/>
            <ac:grpSpMk id="15" creationId="{00000000-0000-0000-0000-000000000000}"/>
          </ac:grpSpMkLst>
        </pc:grpChg>
        <pc:grpChg chg="mod">
          <ac:chgData name="Emma Tran" userId="224e91d432148cf1" providerId="LiveId" clId="{80045340-A79D-471A-B3B9-93357593838A}" dt="2026-09-24T10:48:41.746" v="257" actId="1035"/>
          <ac:grpSpMkLst>
            <pc:docMk/>
            <pc:sldMk cId="0" sldId="275"/>
            <ac:grpSpMk id="18" creationId="{00000000-0000-0000-0000-000000000000}"/>
          </ac:grpSpMkLst>
        </pc:grpChg>
        <pc:grpChg chg="mod">
          <ac:chgData name="Emma Tran" userId="224e91d432148cf1" providerId="LiveId" clId="{80045340-A79D-471A-B3B9-93357593838A}" dt="2026-09-24T10:48:46.396" v="261" actId="1035"/>
          <ac:grpSpMkLst>
            <pc:docMk/>
            <pc:sldMk cId="0" sldId="275"/>
            <ac:grpSpMk id="21" creationId="{00000000-0000-0000-0000-000000000000}"/>
          </ac:grpSpMkLst>
        </pc:gr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9/24/2026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0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3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6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github.com/HendrickDang/PRT661-DATA-SCIENCE-PRACTICE" TargetMode="Externa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sv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0" y="0"/>
            <a:ext cx="367633" cy="10287000"/>
            <a:chOff x="0" y="0"/>
            <a:chExt cx="96825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6825" cy="2709333"/>
            </a:xfrm>
            <a:custGeom>
              <a:avLst/>
              <a:gdLst/>
              <a:ahLst/>
              <a:cxnLst/>
              <a:rect l="l" t="t" r="r" b="b"/>
              <a:pathLst>
                <a:path w="96825" h="2709333">
                  <a:moveTo>
                    <a:pt x="0" y="0"/>
                  </a:moveTo>
                  <a:lnTo>
                    <a:pt x="96825" y="0"/>
                  </a:lnTo>
                  <a:lnTo>
                    <a:pt x="968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968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28700" y="891823"/>
            <a:ext cx="847008" cy="847008"/>
          </a:xfrm>
          <a:custGeom>
            <a:avLst/>
            <a:gdLst/>
            <a:ahLst/>
            <a:cxnLst/>
            <a:rect l="l" t="t" r="r" b="b"/>
            <a:pathLst>
              <a:path w="847008" h="847008">
                <a:moveTo>
                  <a:pt x="0" y="0"/>
                </a:moveTo>
                <a:lnTo>
                  <a:pt x="847008" y="0"/>
                </a:lnTo>
                <a:lnTo>
                  <a:pt x="847008" y="847008"/>
                </a:lnTo>
                <a:lnTo>
                  <a:pt x="0" y="8470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0191726" y="1580598"/>
            <a:ext cx="7244181" cy="7244181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540000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319354" y="-4277500"/>
            <a:ext cx="7116554" cy="7116554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7625" cap="sq">
              <a:solidFill>
                <a:srgbClr val="60A5F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3813817" y="-1107946"/>
            <a:ext cx="7244181" cy="7244181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gradFill>
                <a:gsLst>
                  <a:gs pos="0">
                    <a:srgbClr val="60A5FA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2255701" y="1080396"/>
            <a:ext cx="8063653" cy="860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99"/>
              </a:lnSpc>
            </a:pPr>
            <a:r>
              <a:rPr lang="en-US" sz="2499" b="1">
                <a:solidFill>
                  <a:srgbClr val="1E293B"/>
                </a:solidFill>
                <a:latin typeface="Open Sans Bold"/>
                <a:ea typeface="Open Sans Bold"/>
                <a:cs typeface="Open Sans Bold"/>
                <a:sym typeface="Open Sans Bold"/>
              </a:rPr>
              <a:t>PRT661 DATA SCIENCE PRACTICE</a:t>
            </a:r>
          </a:p>
          <a:p>
            <a:pPr algn="l">
              <a:lnSpc>
                <a:spcPts val="3499"/>
              </a:lnSpc>
            </a:pPr>
            <a:endParaRPr lang="en-US" sz="2499" b="1">
              <a:solidFill>
                <a:srgbClr val="1E293B"/>
              </a:solidFill>
              <a:latin typeface="Open Sans Bold"/>
              <a:ea typeface="Open Sans Bold"/>
              <a:cs typeface="Open Sans Bold"/>
              <a:sym typeface="Open Sans Bold"/>
            </a:endParaRPr>
          </a:p>
        </p:txBody>
      </p:sp>
      <p:sp>
        <p:nvSpPr>
          <p:cNvPr id="16" name="TextBox 16"/>
          <p:cNvSpPr txBox="1"/>
          <p:nvPr/>
        </p:nvSpPr>
        <p:spPr>
          <a:xfrm>
            <a:off x="1028700" y="2437944"/>
            <a:ext cx="9163026" cy="197993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5320"/>
              </a:lnSpc>
            </a:pPr>
            <a:r>
              <a:rPr lang="en-US" sz="38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FORECASTING ASSAULT RATES ACROSS NT REGIONS TO SUPPORT PUBLIC SAFETY RESOURCE PLANNING</a:t>
            </a:r>
          </a:p>
        </p:txBody>
      </p:sp>
      <p:sp>
        <p:nvSpPr>
          <p:cNvPr id="17" name="TextBox 17"/>
          <p:cNvSpPr txBox="1"/>
          <p:nvPr/>
        </p:nvSpPr>
        <p:spPr>
          <a:xfrm>
            <a:off x="1028700" y="4932224"/>
            <a:ext cx="7368034" cy="53784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4480"/>
              </a:lnSpc>
            </a:pPr>
            <a:r>
              <a:rPr lang="en-US" sz="3200" b="1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Submitted by: Group DAN2 - THEME2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028700" y="7451456"/>
            <a:ext cx="6743700" cy="1987724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l">
              <a:lnSpc>
                <a:spcPts val="3138"/>
              </a:lnSpc>
              <a:spcBef>
                <a:spcPct val="0"/>
              </a:spcBef>
            </a:pPr>
            <a:r>
              <a:rPr lang="en-US" sz="2615" b="1" dirty="0">
                <a:solidFill>
                  <a:srgbClr val="000000"/>
                </a:solidFill>
                <a:latin typeface="Canva Sans Bold"/>
                <a:ea typeface="Canva Sans Bold"/>
                <a:cs typeface="Canva Sans Bold"/>
                <a:sym typeface="Canva Sans Bold"/>
              </a:rPr>
              <a:t>Student:</a:t>
            </a:r>
          </a:p>
          <a:p>
            <a:pPr algn="l">
              <a:lnSpc>
                <a:spcPts val="3138"/>
              </a:lnSpc>
              <a:spcBef>
                <a:spcPct val="0"/>
              </a:spcBef>
            </a:pPr>
            <a:r>
              <a:rPr lang="en-US" sz="2615" dirty="0" err="1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Thi</a:t>
            </a:r>
            <a:r>
              <a:rPr lang="en-US" sz="2615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 Xuan Thanh Tran (Emma) - S389244</a:t>
            </a:r>
          </a:p>
          <a:p>
            <a:pPr algn="l">
              <a:lnSpc>
                <a:spcPts val="3138"/>
              </a:lnSpc>
              <a:spcBef>
                <a:spcPct val="0"/>
              </a:spcBef>
            </a:pPr>
            <a:r>
              <a:rPr lang="en-US" sz="2615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Ngoc Anh Nguyen (Will) - S386805</a:t>
            </a:r>
          </a:p>
          <a:p>
            <a:pPr algn="l">
              <a:lnSpc>
                <a:spcPts val="3138"/>
              </a:lnSpc>
              <a:spcBef>
                <a:spcPct val="0"/>
              </a:spcBef>
            </a:pPr>
            <a:r>
              <a:rPr lang="en-US" sz="2615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Van Hoi Dang (Hendrick) - S395598</a:t>
            </a:r>
          </a:p>
          <a:p>
            <a:pPr algn="l">
              <a:lnSpc>
                <a:spcPts val="3138"/>
              </a:lnSpc>
              <a:spcBef>
                <a:spcPct val="0"/>
              </a:spcBef>
            </a:pPr>
            <a:r>
              <a:rPr lang="en-US" sz="2615" dirty="0">
                <a:solidFill>
                  <a:srgbClr val="000000"/>
                </a:solidFill>
                <a:latin typeface="Canva Sans"/>
                <a:ea typeface="Canva Sans"/>
                <a:cs typeface="Canva Sans"/>
                <a:sym typeface="Canva Sans"/>
              </a:rPr>
              <a:t>Le Nhat Minh Tran (Thomas) - S390789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9" name="TextBox 9"/>
          <p:cNvSpPr txBox="1"/>
          <p:nvPr/>
        </p:nvSpPr>
        <p:spPr>
          <a:xfrm>
            <a:off x="1291438" y="557622"/>
            <a:ext cx="15617123" cy="667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Project Overview</a:t>
            </a:r>
            <a:r>
              <a:rPr lang="vi-VN" sz="4400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 &amp; Objectives</a:t>
            </a:r>
            <a:endParaRPr lang="en-US" sz="4400" b="1" dirty="0">
              <a:solidFill>
                <a:srgbClr val="33294B"/>
              </a:solidFill>
              <a:latin typeface="Poppins Bold"/>
              <a:ea typeface="Poppins Bold"/>
              <a:cs typeface="Poppins Bold"/>
              <a:sym typeface="Poppins Bold"/>
            </a:endParaRPr>
          </a:p>
        </p:txBody>
      </p:sp>
      <p:grpSp>
        <p:nvGrpSpPr>
          <p:cNvPr id="28" name="Group 12">
            <a:extLst>
              <a:ext uri="{FF2B5EF4-FFF2-40B4-BE49-F238E27FC236}">
                <a16:creationId xmlns:a16="http://schemas.microsoft.com/office/drawing/2014/main" id="{FF5451D4-5804-D295-019C-1DE1C69AFAEB}"/>
              </a:ext>
            </a:extLst>
          </p:cNvPr>
          <p:cNvGrpSpPr/>
          <p:nvPr/>
        </p:nvGrpSpPr>
        <p:grpSpPr>
          <a:xfrm>
            <a:off x="1160097" y="3322015"/>
            <a:ext cx="150000" cy="150000"/>
            <a:chOff x="0" y="0"/>
            <a:chExt cx="200000" cy="200000"/>
          </a:xfrm>
        </p:grpSpPr>
        <p:sp>
          <p:nvSpPr>
            <p:cNvPr id="29" name="Freeform 13">
              <a:extLst>
                <a:ext uri="{FF2B5EF4-FFF2-40B4-BE49-F238E27FC236}">
                  <a16:creationId xmlns:a16="http://schemas.microsoft.com/office/drawing/2014/main" id="{3AEF3897-2779-ECD7-77A9-610740D6D898}"/>
                </a:ext>
              </a:extLst>
            </p:cNvPr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0" name="TextBox 14">
            <a:extLst>
              <a:ext uri="{FF2B5EF4-FFF2-40B4-BE49-F238E27FC236}">
                <a16:creationId xmlns:a16="http://schemas.microsoft.com/office/drawing/2014/main" id="{AF7475C6-88B6-FB47-03E9-F50AFCF7223F}"/>
              </a:ext>
            </a:extLst>
          </p:cNvPr>
          <p:cNvSpPr txBox="1"/>
          <p:nvPr/>
        </p:nvSpPr>
        <p:spPr>
          <a:xfrm>
            <a:off x="1521543" y="3308213"/>
            <a:ext cx="13986592" cy="803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Assault is the most prevalent violent crime in the Northern Territory. Rates consistently exceed national averages. NT Police and policymakers need forward-looking insights to allocate resources and plan interventions effectively.</a:t>
            </a:r>
          </a:p>
        </p:txBody>
      </p:sp>
      <p:grpSp>
        <p:nvGrpSpPr>
          <p:cNvPr id="31" name="Group 15">
            <a:extLst>
              <a:ext uri="{FF2B5EF4-FFF2-40B4-BE49-F238E27FC236}">
                <a16:creationId xmlns:a16="http://schemas.microsoft.com/office/drawing/2014/main" id="{4AF827AE-9A47-9294-1955-EC8D475B3B75}"/>
              </a:ext>
            </a:extLst>
          </p:cNvPr>
          <p:cNvGrpSpPr/>
          <p:nvPr/>
        </p:nvGrpSpPr>
        <p:grpSpPr>
          <a:xfrm>
            <a:off x="1160097" y="4282021"/>
            <a:ext cx="150000" cy="150000"/>
            <a:chOff x="0" y="0"/>
            <a:chExt cx="200000" cy="200000"/>
          </a:xfrm>
        </p:grpSpPr>
        <p:sp>
          <p:nvSpPr>
            <p:cNvPr id="32" name="Freeform 16">
              <a:extLst>
                <a:ext uri="{FF2B5EF4-FFF2-40B4-BE49-F238E27FC236}">
                  <a16:creationId xmlns:a16="http://schemas.microsoft.com/office/drawing/2014/main" id="{266133AF-4069-5CFF-B250-2911E74EC11F}"/>
                </a:ext>
              </a:extLst>
            </p:cNvPr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33" name="TextBox 17">
            <a:extLst>
              <a:ext uri="{FF2B5EF4-FFF2-40B4-BE49-F238E27FC236}">
                <a16:creationId xmlns:a16="http://schemas.microsoft.com/office/drawing/2014/main" id="{32AF6647-8EEF-3A03-FE99-6E8F20ACADB7}"/>
              </a:ext>
            </a:extLst>
          </p:cNvPr>
          <p:cNvSpPr txBox="1"/>
          <p:nvPr/>
        </p:nvSpPr>
        <p:spPr>
          <a:xfrm>
            <a:off x="1521543" y="4268219"/>
            <a:ext cx="13986592" cy="803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What We Built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an end-to-end forecasting pipeline that predicts monthly assault rates per 100,000 population across 6 NT regions at horizons of 1, 3, 6, and 12 months ahead and deliver an interactive </a:t>
            </a: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Streamlit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dashboard for operational use.</a:t>
            </a:r>
          </a:p>
        </p:txBody>
      </p:sp>
      <p:grpSp>
        <p:nvGrpSpPr>
          <p:cNvPr id="34" name="Group 18">
            <a:extLst>
              <a:ext uri="{FF2B5EF4-FFF2-40B4-BE49-F238E27FC236}">
                <a16:creationId xmlns:a16="http://schemas.microsoft.com/office/drawing/2014/main" id="{EA32908C-672D-4D00-D041-849463184021}"/>
              </a:ext>
            </a:extLst>
          </p:cNvPr>
          <p:cNvGrpSpPr/>
          <p:nvPr/>
        </p:nvGrpSpPr>
        <p:grpSpPr>
          <a:xfrm>
            <a:off x="1160097" y="5242017"/>
            <a:ext cx="150000" cy="150000"/>
            <a:chOff x="0" y="0"/>
            <a:chExt cx="200000" cy="200000"/>
          </a:xfrm>
        </p:grpSpPr>
        <p:sp>
          <p:nvSpPr>
            <p:cNvPr id="35" name="Freeform 19">
              <a:extLst>
                <a:ext uri="{FF2B5EF4-FFF2-40B4-BE49-F238E27FC236}">
                  <a16:creationId xmlns:a16="http://schemas.microsoft.com/office/drawing/2014/main" id="{200B4EC8-4AC2-34D4-306D-A4A50A57B930}"/>
                </a:ext>
              </a:extLst>
            </p:cNvPr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7" name="Group 21">
            <a:extLst>
              <a:ext uri="{FF2B5EF4-FFF2-40B4-BE49-F238E27FC236}">
                <a16:creationId xmlns:a16="http://schemas.microsoft.com/office/drawing/2014/main" id="{8E46C6D0-32A3-6C63-F92F-B96D96B6D4EC}"/>
              </a:ext>
            </a:extLst>
          </p:cNvPr>
          <p:cNvGrpSpPr/>
          <p:nvPr/>
        </p:nvGrpSpPr>
        <p:grpSpPr>
          <a:xfrm>
            <a:off x="1160097" y="6681311"/>
            <a:ext cx="150000" cy="150000"/>
            <a:chOff x="0" y="0"/>
            <a:chExt cx="200000" cy="200000"/>
          </a:xfrm>
        </p:grpSpPr>
        <p:sp>
          <p:nvSpPr>
            <p:cNvPr id="38" name="Freeform 22">
              <a:extLst>
                <a:ext uri="{FF2B5EF4-FFF2-40B4-BE49-F238E27FC236}">
                  <a16:creationId xmlns:a16="http://schemas.microsoft.com/office/drawing/2014/main" id="{1589FD4B-0184-2B2D-978E-F2B8D20C9ED2}"/>
                </a:ext>
              </a:extLst>
            </p:cNvPr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0" name="Group 8">
            <a:extLst>
              <a:ext uri="{FF2B5EF4-FFF2-40B4-BE49-F238E27FC236}">
                <a16:creationId xmlns:a16="http://schemas.microsoft.com/office/drawing/2014/main" id="{D8F9A9DF-5A91-282C-D7EA-8BECBBA16641}"/>
              </a:ext>
            </a:extLst>
          </p:cNvPr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41" name="Freeform 9">
              <a:extLst>
                <a:ext uri="{FF2B5EF4-FFF2-40B4-BE49-F238E27FC236}">
                  <a16:creationId xmlns:a16="http://schemas.microsoft.com/office/drawing/2014/main" id="{FE1EE9E7-AD37-E4B3-CFC1-5093B17D05F9}"/>
                </a:ext>
              </a:extLst>
            </p:cNvPr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3" name="TextBox 11">
            <a:extLst>
              <a:ext uri="{FF2B5EF4-FFF2-40B4-BE49-F238E27FC236}">
                <a16:creationId xmlns:a16="http://schemas.microsoft.com/office/drawing/2014/main" id="{E7B70234-F170-D44A-563D-364A2A1B098C}"/>
              </a:ext>
            </a:extLst>
          </p:cNvPr>
          <p:cNvSpPr txBox="1"/>
          <p:nvPr/>
        </p:nvSpPr>
        <p:spPr>
          <a:xfrm>
            <a:off x="1310097" y="2548409"/>
            <a:ext cx="7717117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 dirty="0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Background &amp; Goals</a:t>
            </a:r>
          </a:p>
        </p:txBody>
      </p:sp>
      <p:sp>
        <p:nvSpPr>
          <p:cNvPr id="45" name="TextBox 20">
            <a:extLst>
              <a:ext uri="{FF2B5EF4-FFF2-40B4-BE49-F238E27FC236}">
                <a16:creationId xmlns:a16="http://schemas.microsoft.com/office/drawing/2014/main" id="{A99220D6-D9F3-1BEF-FD70-6BC7FFDBE3CE}"/>
              </a:ext>
            </a:extLst>
          </p:cNvPr>
          <p:cNvSpPr txBox="1"/>
          <p:nvPr/>
        </p:nvSpPr>
        <p:spPr>
          <a:xfrm>
            <a:off x="1521543" y="5228215"/>
            <a:ext cx="13986592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Objectives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1. Forecast assault rates per 100k population across 6 NT regions
2. Identify key drivers: seasonality, regional effects, alcohol supply
3. Ensure leakage-free evaluation via rolling-origin </a:t>
            </a: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backtest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
4. Deliver a deployable dashboard for non-technical PFES staff</a:t>
            </a:r>
          </a:p>
        </p:txBody>
      </p:sp>
      <p:sp>
        <p:nvSpPr>
          <p:cNvPr id="47" name="TextBox 23">
            <a:extLst>
              <a:ext uri="{FF2B5EF4-FFF2-40B4-BE49-F238E27FC236}">
                <a16:creationId xmlns:a16="http://schemas.microsoft.com/office/drawing/2014/main" id="{0B790B02-48FC-3993-F620-9FE44E838627}"/>
              </a:ext>
            </a:extLst>
          </p:cNvPr>
          <p:cNvSpPr txBox="1"/>
          <p:nvPr/>
        </p:nvSpPr>
        <p:spPr>
          <a:xfrm>
            <a:off x="1521543" y="6667500"/>
            <a:ext cx="13986592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Target Users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Primary: Shift commanders, regional operations managers, strategic planning staff
Secondary: PFES analysts for budget &amp; policy submissions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9998" y="1750000"/>
            <a:ext cx="7899997" cy="819998"/>
            <a:chOff x="0" y="0"/>
            <a:chExt cx="10533329" cy="1093330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10533380" cy="1093470"/>
            </a:xfrm>
            <a:custGeom>
              <a:avLst/>
              <a:gdLst/>
              <a:ahLst/>
              <a:cxnLst/>
              <a:rect l="l" t="t" r="r" b="b"/>
              <a:pathLst>
                <a:path w="10533380" h="109347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7725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419997" y="2029997"/>
            <a:ext cx="230000" cy="230000"/>
            <a:chOff x="0" y="0"/>
            <a:chExt cx="306667" cy="306667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306705" cy="306705"/>
            </a:xfrm>
            <a:custGeom>
              <a:avLst/>
              <a:gdLst/>
              <a:ahLst/>
              <a:cxnLst/>
              <a:rect l="l" t="t" r="r" b="b"/>
              <a:pathLst>
                <a:path w="306705" h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99998" y="2750001"/>
            <a:ext cx="7899997" cy="819998"/>
            <a:chOff x="0" y="0"/>
            <a:chExt cx="10533329" cy="1093330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10533380" cy="1093470"/>
            </a:xfrm>
            <a:custGeom>
              <a:avLst/>
              <a:gdLst/>
              <a:ahLst/>
              <a:cxnLst/>
              <a:rect l="l" t="t" r="r" b="b"/>
              <a:pathLst>
                <a:path w="10533380" h="109347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7725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6" name="Group 16"/>
          <p:cNvGrpSpPr/>
          <p:nvPr/>
        </p:nvGrpSpPr>
        <p:grpSpPr>
          <a:xfrm>
            <a:off x="1419997" y="3029998"/>
            <a:ext cx="230000" cy="230000"/>
            <a:chOff x="0" y="0"/>
            <a:chExt cx="306667" cy="306667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306705" cy="306705"/>
            </a:xfrm>
            <a:custGeom>
              <a:avLst/>
              <a:gdLst/>
              <a:ahLst/>
              <a:cxnLst/>
              <a:rect l="l" t="t" r="r" b="b"/>
              <a:pathLst>
                <a:path w="306705" h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8" name="Group 18"/>
          <p:cNvGrpSpPr/>
          <p:nvPr/>
        </p:nvGrpSpPr>
        <p:grpSpPr>
          <a:xfrm>
            <a:off x="1199998" y="3750002"/>
            <a:ext cx="7899997" cy="819998"/>
            <a:chOff x="0" y="0"/>
            <a:chExt cx="10533329" cy="109333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0533380" cy="1093470"/>
            </a:xfrm>
            <a:custGeom>
              <a:avLst/>
              <a:gdLst/>
              <a:ahLst/>
              <a:cxnLst/>
              <a:rect l="l" t="t" r="r" b="b"/>
              <a:pathLst>
                <a:path w="10533380" h="1093470">
                  <a:moveTo>
                    <a:pt x="0" y="196850"/>
                  </a:moveTo>
                  <a:cubicBezTo>
                    <a:pt x="0" y="88138"/>
                    <a:pt x="88138" y="0"/>
                    <a:pt x="196850" y="0"/>
                  </a:cubicBezTo>
                  <a:lnTo>
                    <a:pt x="10336530" y="0"/>
                  </a:lnTo>
                  <a:cubicBezTo>
                    <a:pt x="10445242" y="0"/>
                    <a:pt x="10533380" y="88138"/>
                    <a:pt x="10533380" y="196850"/>
                  </a:cubicBezTo>
                  <a:lnTo>
                    <a:pt x="10533380" y="896620"/>
                  </a:lnTo>
                  <a:cubicBezTo>
                    <a:pt x="10533380" y="1005332"/>
                    <a:pt x="10445242" y="1093470"/>
                    <a:pt x="10336530" y="1093470"/>
                  </a:cubicBezTo>
                  <a:lnTo>
                    <a:pt x="196850" y="1093470"/>
                  </a:lnTo>
                  <a:cubicBezTo>
                    <a:pt x="88138" y="1093343"/>
                    <a:pt x="0" y="1005205"/>
                    <a:pt x="0" y="896493"/>
                  </a:cubicBezTo>
                  <a:close/>
                </a:path>
              </a:pathLst>
            </a:custGeom>
            <a:solidFill>
              <a:srgbClr val="FFFFFF">
                <a:alpha val="7725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0" name="Group 20"/>
          <p:cNvGrpSpPr/>
          <p:nvPr/>
        </p:nvGrpSpPr>
        <p:grpSpPr>
          <a:xfrm>
            <a:off x="1419997" y="4029999"/>
            <a:ext cx="230000" cy="230000"/>
            <a:chOff x="0" y="0"/>
            <a:chExt cx="306667" cy="306667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306705" cy="306705"/>
            </a:xfrm>
            <a:custGeom>
              <a:avLst/>
              <a:gdLst/>
              <a:ahLst/>
              <a:cxnLst/>
              <a:rect l="l" t="t" r="r" b="b"/>
              <a:pathLst>
                <a:path w="306705" h="306705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cubicBezTo>
                    <a:pt x="237871" y="0"/>
                    <a:pt x="306705" y="68707"/>
                    <a:pt x="306705" y="153289"/>
                  </a:cubicBezTo>
                  <a:cubicBezTo>
                    <a:pt x="306705" y="237871"/>
                    <a:pt x="237998" y="306705"/>
                    <a:pt x="153289" y="306705"/>
                  </a:cubicBezTo>
                  <a:cubicBezTo>
                    <a:pt x="68580" y="306705"/>
                    <a:pt x="0" y="237998"/>
                    <a:pt x="0" y="15328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9357169" y="1820999"/>
            <a:ext cx="7509290" cy="3407997"/>
            <a:chOff x="0" y="0"/>
            <a:chExt cx="10012387" cy="4543996"/>
          </a:xfrm>
        </p:grpSpPr>
        <p:sp>
          <p:nvSpPr>
            <p:cNvPr id="23" name="Freeform 23" descr="n_dataset_sizes.png"/>
            <p:cNvSpPr/>
            <p:nvPr/>
          </p:nvSpPr>
          <p:spPr>
            <a:xfrm>
              <a:off x="0" y="0"/>
              <a:ext cx="10012425" cy="4544060"/>
            </a:xfrm>
            <a:custGeom>
              <a:avLst/>
              <a:gdLst/>
              <a:ahLst/>
              <a:cxnLst/>
              <a:rect l="l" t="t" r="r" b="b"/>
              <a:pathLst>
                <a:path w="10012425" h="4544060">
                  <a:moveTo>
                    <a:pt x="0" y="0"/>
                  </a:moveTo>
                  <a:lnTo>
                    <a:pt x="10012425" y="0"/>
                  </a:lnTo>
                  <a:lnTo>
                    <a:pt x="10012425" y="4544060"/>
                  </a:lnTo>
                  <a:lnTo>
                    <a:pt x="0" y="454406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2186" b="-218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9499997" y="5754995"/>
            <a:ext cx="119996" cy="119996"/>
            <a:chOff x="0" y="0"/>
            <a:chExt cx="159995" cy="15999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6" name="Group 26"/>
          <p:cNvGrpSpPr/>
          <p:nvPr/>
        </p:nvGrpSpPr>
        <p:grpSpPr>
          <a:xfrm>
            <a:off x="9499997" y="6105001"/>
            <a:ext cx="119996" cy="119996"/>
            <a:chOff x="0" y="0"/>
            <a:chExt cx="159995" cy="15999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28"/>
          <p:cNvGrpSpPr/>
          <p:nvPr/>
        </p:nvGrpSpPr>
        <p:grpSpPr>
          <a:xfrm>
            <a:off x="9499997" y="6454997"/>
            <a:ext cx="119996" cy="119996"/>
            <a:chOff x="0" y="0"/>
            <a:chExt cx="159995" cy="159995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9499997" y="6805003"/>
            <a:ext cx="119996" cy="119996"/>
            <a:chOff x="0" y="0"/>
            <a:chExt cx="159995" cy="159995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9499997" y="7154999"/>
            <a:ext cx="119996" cy="119996"/>
            <a:chOff x="0" y="0"/>
            <a:chExt cx="159995" cy="159995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4" name="Group 34"/>
          <p:cNvGrpSpPr/>
          <p:nvPr/>
        </p:nvGrpSpPr>
        <p:grpSpPr>
          <a:xfrm>
            <a:off x="1199998" y="7550001"/>
            <a:ext cx="15899997" cy="1150001"/>
            <a:chOff x="0" y="0"/>
            <a:chExt cx="21199996" cy="1533334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199983" cy="1533271"/>
            </a:xfrm>
            <a:custGeom>
              <a:avLst/>
              <a:gdLst/>
              <a:ahLst/>
              <a:cxnLst/>
              <a:rect l="l" t="t" r="r" b="b"/>
              <a:pathLst>
                <a:path w="21199983" h="1533271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21046694" y="0"/>
                  </a:lnTo>
                  <a:cubicBezTo>
                    <a:pt x="21131403" y="0"/>
                    <a:pt x="21199983" y="68707"/>
                    <a:pt x="21199983" y="153289"/>
                  </a:cubicBezTo>
                  <a:lnTo>
                    <a:pt x="21199983" y="1379982"/>
                  </a:lnTo>
                  <a:cubicBezTo>
                    <a:pt x="21199983" y="1464691"/>
                    <a:pt x="21131276" y="1533271"/>
                    <a:pt x="21046694" y="1533271"/>
                  </a:cubicBezTo>
                  <a:lnTo>
                    <a:pt x="153289" y="1533271"/>
                  </a:lnTo>
                  <a:cubicBezTo>
                    <a:pt x="68707" y="1533271"/>
                    <a:pt x="0" y="1464691"/>
                    <a:pt x="0" y="1379982"/>
                  </a:cubicBezTo>
                  <a:close/>
                </a:path>
              </a:pathLst>
            </a:custGeom>
            <a:solidFill>
              <a:srgbClr val="FFFFFF">
                <a:alpha val="63922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6" name="Group 36"/>
          <p:cNvGrpSpPr/>
          <p:nvPr/>
        </p:nvGrpSpPr>
        <p:grpSpPr>
          <a:xfrm>
            <a:off x="1199998" y="8850001"/>
            <a:ext cx="15899997" cy="899998"/>
            <a:chOff x="0" y="0"/>
            <a:chExt cx="21199996" cy="1199998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21199982" cy="1200023"/>
            </a:xfrm>
            <a:custGeom>
              <a:avLst/>
              <a:gdLst/>
              <a:ahLst/>
              <a:cxnLst/>
              <a:rect l="l" t="t" r="r" b="b"/>
              <a:pathLst>
                <a:path w="21199982" h="1200023">
                  <a:moveTo>
                    <a:pt x="0" y="144018"/>
                  </a:moveTo>
                  <a:cubicBezTo>
                    <a:pt x="0" y="64516"/>
                    <a:pt x="64516" y="0"/>
                    <a:pt x="144018" y="0"/>
                  </a:cubicBezTo>
                  <a:lnTo>
                    <a:pt x="21055964" y="0"/>
                  </a:lnTo>
                  <a:cubicBezTo>
                    <a:pt x="21135467" y="0"/>
                    <a:pt x="21199982" y="64516"/>
                    <a:pt x="21199982" y="144018"/>
                  </a:cubicBezTo>
                  <a:lnTo>
                    <a:pt x="21199982" y="1056005"/>
                  </a:lnTo>
                  <a:cubicBezTo>
                    <a:pt x="21199982" y="1135507"/>
                    <a:pt x="21135467" y="1200023"/>
                    <a:pt x="21055964" y="1200023"/>
                  </a:cubicBezTo>
                  <a:lnTo>
                    <a:pt x="144018" y="1200023"/>
                  </a:lnTo>
                  <a:cubicBezTo>
                    <a:pt x="64516" y="1200023"/>
                    <a:pt x="0" y="1135507"/>
                    <a:pt x="0" y="1056005"/>
                  </a:cubicBezTo>
                  <a:close/>
                </a:path>
              </a:pathLst>
            </a:custGeom>
            <a:solidFill>
              <a:srgbClr val="FFFFFF">
                <a:alpha val="63922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1411443" y="657149"/>
            <a:ext cx="11817125" cy="637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Where the Data Comes From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1911439" y="1857146"/>
            <a:ext cx="6817119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NT Crime Statistics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1911439" y="2216191"/>
            <a:ext cx="6817119" cy="23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55,146 rows · CSV · 2015-2025 · Irregular cadence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1911439" y="2857148"/>
            <a:ext cx="6817119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Population Estimates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1911439" y="3216192"/>
            <a:ext cx="6817119" cy="23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17,280 rows · XLSX · 1986-2025 · Annual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911439" y="3857149"/>
            <a:ext cx="6817119" cy="2871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040"/>
              </a:lnSpc>
            </a:pPr>
            <a:r>
              <a:rPr lang="en-US" sz="17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Wholesale Alcohol Supply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911439" y="4216194"/>
            <a:ext cx="6817119" cy="23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84 rows · XLSX · 2023-2025 only · Quarterly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9591437" y="5476665"/>
            <a:ext cx="7417118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5 automated checks on every ingest run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841440" y="5736193"/>
            <a:ext cx="7117118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Fuzzy filename matching 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9841440" y="6086199"/>
            <a:ext cx="7117118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Empty-dataframe check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9841440" y="6436195"/>
            <a:ext cx="7117118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Duplicate column-name check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9841440" y="6786191"/>
            <a:ext cx="7117118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Fully-null column check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841440" y="7136197"/>
            <a:ext cx="7117118" cy="371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Row/column counts + warnings → manifest.json</a:t>
            </a:r>
          </a:p>
          <a:p>
            <a:pPr algn="l">
              <a:lnSpc>
                <a:spcPts val="1439"/>
              </a:lnSpc>
            </a:pPr>
            <a:endParaRPr lang="en-US" sz="1200">
              <a:solidFill>
                <a:srgbClr val="33294B"/>
              </a:solidFill>
              <a:latin typeface="Poppins"/>
              <a:ea typeface="Poppins"/>
              <a:cs typeface="Poppins"/>
              <a:sym typeface="Poppins"/>
            </a:endParaRPr>
          </a:p>
        </p:txBody>
      </p:sp>
      <p:sp>
        <p:nvSpPr>
          <p:cNvPr id="51" name="TextBox 51"/>
          <p:cNvSpPr txBox="1"/>
          <p:nvPr/>
        </p:nvSpPr>
        <p:spPr>
          <a:xfrm>
            <a:off x="1591437" y="7726670"/>
            <a:ext cx="15117118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Alcohol supply data only covers 2023-2025 (12 quarters) - far shorter than the 2015-2025 crime/population window. This limits Model B (Slide 11) to a much smaller sample.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591437" y="9076668"/>
            <a:ext cx="15117118" cy="47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Fuzzy filename matching handles naming differences between teammates' downloads. Every run writes manifest.json with row/column counts for traceability.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E685E76-9CA6-B810-F982-6DCC3A2428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38222BD3-5F28-D0E7-5D08-2F977EBD57B1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276721A6-BF0B-C106-0D15-00E93A3249EB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04EE1015-2836-3F07-232B-913E8E3390B3}"/>
              </a:ext>
            </a:extLst>
          </p:cNvPr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>
              <a:extLst>
                <a:ext uri="{FF2B5EF4-FFF2-40B4-BE49-F238E27FC236}">
                  <a16:creationId xmlns:a16="http://schemas.microsoft.com/office/drawing/2014/main" id="{A05A8892-EC0B-3E20-4607-A2F0600849B6}"/>
                </a:ext>
              </a:extLst>
            </p:cNvPr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CCF14DB9-BFB6-A633-44EE-2EB68FE9F134}"/>
              </a:ext>
            </a:extLst>
          </p:cNvPr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>
              <a:extLst>
                <a:ext uri="{FF2B5EF4-FFF2-40B4-BE49-F238E27FC236}">
                  <a16:creationId xmlns:a16="http://schemas.microsoft.com/office/drawing/2014/main" id="{7D8BE426-6708-7F44-3FF0-6EE7B2ED73BC}"/>
                </a:ext>
              </a:extLst>
            </p:cNvPr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8" name="Freeform 8">
            <a:extLst>
              <a:ext uri="{FF2B5EF4-FFF2-40B4-BE49-F238E27FC236}">
                <a16:creationId xmlns:a16="http://schemas.microsoft.com/office/drawing/2014/main" id="{E97556CA-F86F-7DF2-4BCA-965FB782AB4F}"/>
              </a:ext>
            </a:extLst>
          </p:cNvPr>
          <p:cNvSpPr/>
          <p:nvPr/>
        </p:nvSpPr>
        <p:spPr>
          <a:xfrm>
            <a:off x="6423238" y="1351542"/>
            <a:ext cx="10836062" cy="8767038"/>
          </a:xfrm>
          <a:custGeom>
            <a:avLst/>
            <a:gdLst/>
            <a:ahLst/>
            <a:cxnLst/>
            <a:rect l="l" t="t" r="r" b="b"/>
            <a:pathLst>
              <a:path w="10836062" h="8767038">
                <a:moveTo>
                  <a:pt x="0" y="0"/>
                </a:moveTo>
                <a:lnTo>
                  <a:pt x="10836062" y="0"/>
                </a:lnTo>
                <a:lnTo>
                  <a:pt x="10836062" y="8767038"/>
                </a:lnTo>
                <a:lnTo>
                  <a:pt x="0" y="8767038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t="-138" b="-138"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9" name="TextBox 9">
            <a:extLst>
              <a:ext uri="{FF2B5EF4-FFF2-40B4-BE49-F238E27FC236}">
                <a16:creationId xmlns:a16="http://schemas.microsoft.com/office/drawing/2014/main" id="{211D5C29-FA6D-4C9A-6B52-A1902DF548BA}"/>
              </a:ext>
            </a:extLst>
          </p:cNvPr>
          <p:cNvSpPr txBox="1"/>
          <p:nvPr/>
        </p:nvSpPr>
        <p:spPr>
          <a:xfrm>
            <a:off x="1291438" y="557622"/>
            <a:ext cx="15617123" cy="66774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5280"/>
              </a:lnSpc>
            </a:pPr>
            <a:r>
              <a:rPr lang="en-US" sz="4400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Architecture</a:t>
            </a:r>
          </a:p>
        </p:txBody>
      </p:sp>
      <p:grpSp>
        <p:nvGrpSpPr>
          <p:cNvPr id="10" name="Group 10">
            <a:extLst>
              <a:ext uri="{FF2B5EF4-FFF2-40B4-BE49-F238E27FC236}">
                <a16:creationId xmlns:a16="http://schemas.microsoft.com/office/drawing/2014/main" id="{D2F9C6B2-DC0B-5694-9722-2958349D75C2}"/>
              </a:ext>
            </a:extLst>
          </p:cNvPr>
          <p:cNvGrpSpPr/>
          <p:nvPr/>
        </p:nvGrpSpPr>
        <p:grpSpPr>
          <a:xfrm>
            <a:off x="1028700" y="1672256"/>
            <a:ext cx="3849995" cy="1499997"/>
            <a:chOff x="0" y="0"/>
            <a:chExt cx="5133327" cy="1999996"/>
          </a:xfrm>
        </p:grpSpPr>
        <p:sp>
          <p:nvSpPr>
            <p:cNvPr id="11" name="Freeform 11">
              <a:extLst>
                <a:ext uri="{FF2B5EF4-FFF2-40B4-BE49-F238E27FC236}">
                  <a16:creationId xmlns:a16="http://schemas.microsoft.com/office/drawing/2014/main" id="{C0DFEE29-15AB-C076-701B-C3656B702819}"/>
                </a:ext>
              </a:extLst>
            </p:cNvPr>
            <p:cNvSpPr/>
            <p:nvPr/>
          </p:nvSpPr>
          <p:spPr>
            <a:xfrm>
              <a:off x="0" y="0"/>
              <a:ext cx="5133340" cy="1999996"/>
            </a:xfrm>
            <a:custGeom>
              <a:avLst/>
              <a:gdLst/>
              <a:ahLst/>
              <a:cxnLst/>
              <a:rect l="l" t="t" r="r" b="b"/>
              <a:pathLst>
                <a:path w="5133340" h="1999996">
                  <a:moveTo>
                    <a:pt x="0" y="280035"/>
                  </a:moveTo>
                  <a:cubicBezTo>
                    <a:pt x="0" y="125349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25349"/>
                    <a:pt x="5133340" y="280035"/>
                  </a:cubicBezTo>
                  <a:lnTo>
                    <a:pt x="5133340" y="1719961"/>
                  </a:lnTo>
                  <a:cubicBezTo>
                    <a:pt x="5133340" y="1874647"/>
                    <a:pt x="5007991" y="1999996"/>
                    <a:pt x="4853305" y="1999996"/>
                  </a:cubicBezTo>
                  <a:lnTo>
                    <a:pt x="280035" y="1999996"/>
                  </a:lnTo>
                  <a:cubicBezTo>
                    <a:pt x="125349" y="1999996"/>
                    <a:pt x="0" y="1874647"/>
                    <a:pt x="0" y="1719961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2" name="TextBox 12">
            <a:extLst>
              <a:ext uri="{FF2B5EF4-FFF2-40B4-BE49-F238E27FC236}">
                <a16:creationId xmlns:a16="http://schemas.microsoft.com/office/drawing/2014/main" id="{7A246308-5A61-2AC1-A9B7-27F1A1992056}"/>
              </a:ext>
            </a:extLst>
          </p:cNvPr>
          <p:cNvSpPr txBox="1"/>
          <p:nvPr/>
        </p:nvSpPr>
        <p:spPr>
          <a:xfrm>
            <a:off x="1120140" y="1808930"/>
            <a:ext cx="3667115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55,146</a:t>
            </a:r>
          </a:p>
        </p:txBody>
      </p:sp>
      <p:sp>
        <p:nvSpPr>
          <p:cNvPr id="13" name="TextBox 13">
            <a:extLst>
              <a:ext uri="{FF2B5EF4-FFF2-40B4-BE49-F238E27FC236}">
                <a16:creationId xmlns:a16="http://schemas.microsoft.com/office/drawing/2014/main" id="{6FC36597-D1F0-B2B7-0EB8-0EE5D6B005EC}"/>
              </a:ext>
            </a:extLst>
          </p:cNvPr>
          <p:cNvSpPr txBox="1"/>
          <p:nvPr/>
        </p:nvSpPr>
        <p:spPr>
          <a:xfrm>
            <a:off x="1120140" y="2378925"/>
            <a:ext cx="3667115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crime records merged</a:t>
            </a:r>
          </a:p>
        </p:txBody>
      </p:sp>
      <p:grpSp>
        <p:nvGrpSpPr>
          <p:cNvPr id="14" name="Group 14">
            <a:extLst>
              <a:ext uri="{FF2B5EF4-FFF2-40B4-BE49-F238E27FC236}">
                <a16:creationId xmlns:a16="http://schemas.microsoft.com/office/drawing/2014/main" id="{AD0BF261-823B-8D97-E531-C41F215CD4D6}"/>
              </a:ext>
            </a:extLst>
          </p:cNvPr>
          <p:cNvGrpSpPr/>
          <p:nvPr/>
        </p:nvGrpSpPr>
        <p:grpSpPr>
          <a:xfrm>
            <a:off x="1028700" y="3643503"/>
            <a:ext cx="3849995" cy="1966722"/>
            <a:chOff x="0" y="0"/>
            <a:chExt cx="5133327" cy="2622296"/>
          </a:xfrm>
        </p:grpSpPr>
        <p:sp>
          <p:nvSpPr>
            <p:cNvPr id="15" name="Freeform 15">
              <a:extLst>
                <a:ext uri="{FF2B5EF4-FFF2-40B4-BE49-F238E27FC236}">
                  <a16:creationId xmlns:a16="http://schemas.microsoft.com/office/drawing/2014/main" id="{F3B41D59-F6DD-F842-BF45-E11D4A36BB1F}"/>
                </a:ext>
              </a:extLst>
            </p:cNvPr>
            <p:cNvSpPr/>
            <p:nvPr/>
          </p:nvSpPr>
          <p:spPr>
            <a:xfrm>
              <a:off x="0" y="0"/>
              <a:ext cx="5133340" cy="2622296"/>
            </a:xfrm>
            <a:custGeom>
              <a:avLst/>
              <a:gdLst/>
              <a:ahLst/>
              <a:cxnLst/>
              <a:rect l="l" t="t" r="r" b="b"/>
              <a:pathLst>
                <a:path w="5133340" h="2622296">
                  <a:moveTo>
                    <a:pt x="0" y="367168"/>
                  </a:moveTo>
                  <a:cubicBezTo>
                    <a:pt x="0" y="164351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64351"/>
                    <a:pt x="5133340" y="367168"/>
                  </a:cubicBezTo>
                  <a:lnTo>
                    <a:pt x="5133340" y="2255128"/>
                  </a:lnTo>
                  <a:cubicBezTo>
                    <a:pt x="5133340" y="2457945"/>
                    <a:pt x="5007991" y="2622296"/>
                    <a:pt x="4853305" y="2622296"/>
                  </a:cubicBezTo>
                  <a:lnTo>
                    <a:pt x="280035" y="2622296"/>
                  </a:lnTo>
                  <a:cubicBezTo>
                    <a:pt x="125349" y="2622296"/>
                    <a:pt x="0" y="2457945"/>
                    <a:pt x="0" y="2255128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TextBox 16">
            <a:extLst>
              <a:ext uri="{FF2B5EF4-FFF2-40B4-BE49-F238E27FC236}">
                <a16:creationId xmlns:a16="http://schemas.microsoft.com/office/drawing/2014/main" id="{C12D26F7-3BF9-726B-42DD-E36C03D67074}"/>
              </a:ext>
            </a:extLst>
          </p:cNvPr>
          <p:cNvSpPr txBox="1"/>
          <p:nvPr/>
        </p:nvSpPr>
        <p:spPr>
          <a:xfrm>
            <a:off x="1120140" y="3780177"/>
            <a:ext cx="3667115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6</a:t>
            </a:r>
          </a:p>
        </p:txBody>
      </p:sp>
      <p:sp>
        <p:nvSpPr>
          <p:cNvPr id="17" name="TextBox 17">
            <a:extLst>
              <a:ext uri="{FF2B5EF4-FFF2-40B4-BE49-F238E27FC236}">
                <a16:creationId xmlns:a16="http://schemas.microsoft.com/office/drawing/2014/main" id="{EF4AD5BD-06C7-0CA0-9A6F-757A0477D213}"/>
              </a:ext>
            </a:extLst>
          </p:cNvPr>
          <p:cNvSpPr txBox="1"/>
          <p:nvPr/>
        </p:nvSpPr>
        <p:spPr>
          <a:xfrm>
            <a:off x="1120140" y="4350172"/>
            <a:ext cx="3667115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NT regions</a:t>
            </a:r>
          </a:p>
        </p:txBody>
      </p:sp>
      <p:grpSp>
        <p:nvGrpSpPr>
          <p:cNvPr id="18" name="Group 18">
            <a:extLst>
              <a:ext uri="{FF2B5EF4-FFF2-40B4-BE49-F238E27FC236}">
                <a16:creationId xmlns:a16="http://schemas.microsoft.com/office/drawing/2014/main" id="{F32810DF-625F-4611-6AC0-1B7F1981347C}"/>
              </a:ext>
            </a:extLst>
          </p:cNvPr>
          <p:cNvGrpSpPr/>
          <p:nvPr/>
        </p:nvGrpSpPr>
        <p:grpSpPr>
          <a:xfrm>
            <a:off x="1028700" y="6076950"/>
            <a:ext cx="3849995" cy="1499997"/>
            <a:chOff x="0" y="0"/>
            <a:chExt cx="5133327" cy="1999996"/>
          </a:xfrm>
        </p:grpSpPr>
        <p:sp>
          <p:nvSpPr>
            <p:cNvPr id="19" name="Freeform 19">
              <a:extLst>
                <a:ext uri="{FF2B5EF4-FFF2-40B4-BE49-F238E27FC236}">
                  <a16:creationId xmlns:a16="http://schemas.microsoft.com/office/drawing/2014/main" id="{A8770437-6A69-B2B9-0F26-C8F521622EC8}"/>
                </a:ext>
              </a:extLst>
            </p:cNvPr>
            <p:cNvSpPr/>
            <p:nvPr/>
          </p:nvSpPr>
          <p:spPr>
            <a:xfrm>
              <a:off x="0" y="0"/>
              <a:ext cx="5133340" cy="1999996"/>
            </a:xfrm>
            <a:custGeom>
              <a:avLst/>
              <a:gdLst/>
              <a:ahLst/>
              <a:cxnLst/>
              <a:rect l="l" t="t" r="r" b="b"/>
              <a:pathLst>
                <a:path w="5133340" h="1999996">
                  <a:moveTo>
                    <a:pt x="0" y="280035"/>
                  </a:moveTo>
                  <a:cubicBezTo>
                    <a:pt x="0" y="125349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25349"/>
                    <a:pt x="5133340" y="280035"/>
                  </a:cubicBezTo>
                  <a:lnTo>
                    <a:pt x="5133340" y="1719961"/>
                  </a:lnTo>
                  <a:cubicBezTo>
                    <a:pt x="5133340" y="1874647"/>
                    <a:pt x="5007991" y="1999996"/>
                    <a:pt x="4853305" y="1999996"/>
                  </a:cubicBezTo>
                  <a:lnTo>
                    <a:pt x="280035" y="1999996"/>
                  </a:lnTo>
                  <a:cubicBezTo>
                    <a:pt x="125349" y="1999996"/>
                    <a:pt x="0" y="1874647"/>
                    <a:pt x="0" y="1719961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>
            <a:extLst>
              <a:ext uri="{FF2B5EF4-FFF2-40B4-BE49-F238E27FC236}">
                <a16:creationId xmlns:a16="http://schemas.microsoft.com/office/drawing/2014/main" id="{9C945C81-7613-51CB-4C4A-0BD95E8CB4A2}"/>
              </a:ext>
            </a:extLst>
          </p:cNvPr>
          <p:cNvSpPr txBox="1"/>
          <p:nvPr/>
        </p:nvSpPr>
        <p:spPr>
          <a:xfrm>
            <a:off x="1120140" y="6213624"/>
            <a:ext cx="3667115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2015-2025</a:t>
            </a:r>
          </a:p>
        </p:txBody>
      </p:sp>
      <p:sp>
        <p:nvSpPr>
          <p:cNvPr id="21" name="TextBox 21">
            <a:extLst>
              <a:ext uri="{FF2B5EF4-FFF2-40B4-BE49-F238E27FC236}">
                <a16:creationId xmlns:a16="http://schemas.microsoft.com/office/drawing/2014/main" id="{F0A1CA6D-E2D0-2057-315E-093D67E13ECF}"/>
              </a:ext>
            </a:extLst>
          </p:cNvPr>
          <p:cNvSpPr txBox="1"/>
          <p:nvPr/>
        </p:nvSpPr>
        <p:spPr>
          <a:xfrm>
            <a:off x="1120140" y="6783619"/>
            <a:ext cx="3667115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10-year monthly panel</a:t>
            </a:r>
          </a:p>
        </p:txBody>
      </p:sp>
      <p:grpSp>
        <p:nvGrpSpPr>
          <p:cNvPr id="22" name="Group 22">
            <a:extLst>
              <a:ext uri="{FF2B5EF4-FFF2-40B4-BE49-F238E27FC236}">
                <a16:creationId xmlns:a16="http://schemas.microsoft.com/office/drawing/2014/main" id="{AB41DE8B-BE39-8846-32C1-C58D33DA8F0F}"/>
              </a:ext>
            </a:extLst>
          </p:cNvPr>
          <p:cNvGrpSpPr/>
          <p:nvPr/>
        </p:nvGrpSpPr>
        <p:grpSpPr>
          <a:xfrm>
            <a:off x="1028700" y="8043672"/>
            <a:ext cx="3849995" cy="1723305"/>
            <a:chOff x="0" y="0"/>
            <a:chExt cx="5133327" cy="2297740"/>
          </a:xfrm>
        </p:grpSpPr>
        <p:sp>
          <p:nvSpPr>
            <p:cNvPr id="23" name="Freeform 23">
              <a:extLst>
                <a:ext uri="{FF2B5EF4-FFF2-40B4-BE49-F238E27FC236}">
                  <a16:creationId xmlns:a16="http://schemas.microsoft.com/office/drawing/2014/main" id="{A2F12E27-FAFE-C291-3F81-1C6DD70FDC7C}"/>
                </a:ext>
              </a:extLst>
            </p:cNvPr>
            <p:cNvSpPr/>
            <p:nvPr/>
          </p:nvSpPr>
          <p:spPr>
            <a:xfrm>
              <a:off x="0" y="0"/>
              <a:ext cx="5133340" cy="2297740"/>
            </a:xfrm>
            <a:custGeom>
              <a:avLst/>
              <a:gdLst/>
              <a:ahLst/>
              <a:cxnLst/>
              <a:rect l="l" t="t" r="r" b="b"/>
              <a:pathLst>
                <a:path w="5133340" h="2297740">
                  <a:moveTo>
                    <a:pt x="0" y="321724"/>
                  </a:moveTo>
                  <a:cubicBezTo>
                    <a:pt x="0" y="144010"/>
                    <a:pt x="125349" y="0"/>
                    <a:pt x="280035" y="0"/>
                  </a:cubicBezTo>
                  <a:lnTo>
                    <a:pt x="4853305" y="0"/>
                  </a:lnTo>
                  <a:cubicBezTo>
                    <a:pt x="5007991" y="0"/>
                    <a:pt x="5133340" y="144010"/>
                    <a:pt x="5133340" y="321724"/>
                  </a:cubicBezTo>
                  <a:lnTo>
                    <a:pt x="5133340" y="1976015"/>
                  </a:lnTo>
                  <a:cubicBezTo>
                    <a:pt x="5133340" y="2153730"/>
                    <a:pt x="5007991" y="2297740"/>
                    <a:pt x="4853305" y="2297740"/>
                  </a:cubicBezTo>
                  <a:lnTo>
                    <a:pt x="280035" y="2297740"/>
                  </a:lnTo>
                  <a:cubicBezTo>
                    <a:pt x="125349" y="2297740"/>
                    <a:pt x="0" y="2153730"/>
                    <a:pt x="0" y="1976015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TextBox 24">
            <a:extLst>
              <a:ext uri="{FF2B5EF4-FFF2-40B4-BE49-F238E27FC236}">
                <a16:creationId xmlns:a16="http://schemas.microsoft.com/office/drawing/2014/main" id="{03FAA5EC-5EA4-C802-9C77-20ADDD453F86}"/>
              </a:ext>
            </a:extLst>
          </p:cNvPr>
          <p:cNvSpPr txBox="1"/>
          <p:nvPr/>
        </p:nvSpPr>
        <p:spPr>
          <a:xfrm>
            <a:off x="1120140" y="8180346"/>
            <a:ext cx="3667115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879"/>
              </a:lnSpc>
            </a:pPr>
            <a:r>
              <a:rPr lang="en-US" sz="2400" b="1">
                <a:solidFill>
                  <a:srgbClr val="E8829E"/>
                </a:solidFill>
                <a:latin typeface="Poppins Bold"/>
                <a:ea typeface="Poppins Bold"/>
                <a:cs typeface="Poppins Bold"/>
                <a:sym typeface="Poppins Bold"/>
              </a:rPr>
              <a:t>4</a:t>
            </a:r>
          </a:p>
        </p:txBody>
      </p:sp>
      <p:sp>
        <p:nvSpPr>
          <p:cNvPr id="25" name="TextBox 25">
            <a:extLst>
              <a:ext uri="{FF2B5EF4-FFF2-40B4-BE49-F238E27FC236}">
                <a16:creationId xmlns:a16="http://schemas.microsoft.com/office/drawing/2014/main" id="{2D209385-4AE0-1E53-7BFE-0072EB1065D0}"/>
              </a:ext>
            </a:extLst>
          </p:cNvPr>
          <p:cNvSpPr txBox="1"/>
          <p:nvPr/>
        </p:nvSpPr>
        <p:spPr>
          <a:xfrm>
            <a:off x="1120140" y="8750341"/>
            <a:ext cx="3667115" cy="257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models benchmarked</a:t>
            </a:r>
          </a:p>
        </p:txBody>
      </p:sp>
      <p:sp>
        <p:nvSpPr>
          <p:cNvPr id="26" name="TextBox 26">
            <a:extLst>
              <a:ext uri="{FF2B5EF4-FFF2-40B4-BE49-F238E27FC236}">
                <a16:creationId xmlns:a16="http://schemas.microsoft.com/office/drawing/2014/main" id="{94DF8271-957C-B5AB-76D4-5B5225DF4AB5}"/>
              </a:ext>
            </a:extLst>
          </p:cNvPr>
          <p:cNvSpPr txBox="1"/>
          <p:nvPr/>
        </p:nvSpPr>
        <p:spPr>
          <a:xfrm>
            <a:off x="1120140" y="4720171"/>
            <a:ext cx="3667115" cy="7334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Greater Darwin, Top End, Central Australia,</a:t>
            </a:r>
          </a:p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Big Rivers, Barkly, East Arnhem</a:t>
            </a:r>
          </a:p>
        </p:txBody>
      </p:sp>
      <p:sp>
        <p:nvSpPr>
          <p:cNvPr id="27" name="TextBox 27">
            <a:extLst>
              <a:ext uri="{FF2B5EF4-FFF2-40B4-BE49-F238E27FC236}">
                <a16:creationId xmlns:a16="http://schemas.microsoft.com/office/drawing/2014/main" id="{238A8DBB-E519-558F-BC9B-7706F028E3A5}"/>
              </a:ext>
            </a:extLst>
          </p:cNvPr>
          <p:cNvSpPr txBox="1"/>
          <p:nvPr/>
        </p:nvSpPr>
        <p:spPr>
          <a:xfrm>
            <a:off x="1120140" y="9120340"/>
            <a:ext cx="3667115" cy="4953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Linear Regression, Ridge, Lasso,</a:t>
            </a:r>
          </a:p>
          <a:p>
            <a:pPr algn="ctr">
              <a:lnSpc>
                <a:spcPts val="1919"/>
              </a:lnSpc>
            </a:pPr>
            <a:r>
              <a:rPr lang="en-US" sz="15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</a:p>
        </p:txBody>
      </p:sp>
    </p:spTree>
    <p:extLst>
      <p:ext uri="{BB962C8B-B14F-4D97-AF65-F5344CB8AC3E}">
        <p14:creationId xmlns:p14="http://schemas.microsoft.com/office/powerpoint/2010/main" val="3963359156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44153A-D36C-83B4-E73F-75A94F1CE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>
            <a:extLst>
              <a:ext uri="{FF2B5EF4-FFF2-40B4-BE49-F238E27FC236}">
                <a16:creationId xmlns:a16="http://schemas.microsoft.com/office/drawing/2014/main" id="{C6AF166F-CE6E-12D1-00D0-0A69DF260729}"/>
              </a:ext>
            </a:extLst>
          </p:cNvPr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>
              <a:extLst>
                <a:ext uri="{FF2B5EF4-FFF2-40B4-BE49-F238E27FC236}">
                  <a16:creationId xmlns:a16="http://schemas.microsoft.com/office/drawing/2014/main" id="{EB8966CF-B589-8538-F3CE-3EBF2CBD3104}"/>
                </a:ext>
              </a:extLst>
            </p:cNvPr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>
            <a:extLst>
              <a:ext uri="{FF2B5EF4-FFF2-40B4-BE49-F238E27FC236}">
                <a16:creationId xmlns:a16="http://schemas.microsoft.com/office/drawing/2014/main" id="{4AB31CE7-4C1F-842D-6AA4-30278D7B0C08}"/>
              </a:ext>
            </a:extLst>
          </p:cNvPr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>
              <a:extLst>
                <a:ext uri="{FF2B5EF4-FFF2-40B4-BE49-F238E27FC236}">
                  <a16:creationId xmlns:a16="http://schemas.microsoft.com/office/drawing/2014/main" id="{ACD406B2-F9AB-1898-329F-7824FF1304C1}"/>
                </a:ext>
              </a:extLst>
            </p:cNvPr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>
            <a:extLst>
              <a:ext uri="{FF2B5EF4-FFF2-40B4-BE49-F238E27FC236}">
                <a16:creationId xmlns:a16="http://schemas.microsoft.com/office/drawing/2014/main" id="{01E0F00E-914D-1C4F-81DC-E530DD91D5C1}"/>
              </a:ext>
            </a:extLst>
          </p:cNvPr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>
              <a:extLst>
                <a:ext uri="{FF2B5EF4-FFF2-40B4-BE49-F238E27FC236}">
                  <a16:creationId xmlns:a16="http://schemas.microsoft.com/office/drawing/2014/main" id="{55905762-1490-03E1-D833-D17F3460401C}"/>
                </a:ext>
              </a:extLst>
            </p:cNvPr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8" name="Group 8">
            <a:extLst>
              <a:ext uri="{FF2B5EF4-FFF2-40B4-BE49-F238E27FC236}">
                <a16:creationId xmlns:a16="http://schemas.microsoft.com/office/drawing/2014/main" id="{8C7F3080-ED69-3E25-C916-EC5061191D35}"/>
              </a:ext>
            </a:extLst>
          </p:cNvPr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29" name="Freeform 9">
              <a:extLst>
                <a:ext uri="{FF2B5EF4-FFF2-40B4-BE49-F238E27FC236}">
                  <a16:creationId xmlns:a16="http://schemas.microsoft.com/office/drawing/2014/main" id="{27F3E7C7-89A6-5F32-C644-891D4E33339D}"/>
                </a:ext>
              </a:extLst>
            </p:cNvPr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2" name="Group 12">
            <a:extLst>
              <a:ext uri="{FF2B5EF4-FFF2-40B4-BE49-F238E27FC236}">
                <a16:creationId xmlns:a16="http://schemas.microsoft.com/office/drawing/2014/main" id="{ADC8E945-DAE0-D687-D08E-0C719770AEA0}"/>
              </a:ext>
            </a:extLst>
          </p:cNvPr>
          <p:cNvGrpSpPr/>
          <p:nvPr/>
        </p:nvGrpSpPr>
        <p:grpSpPr>
          <a:xfrm>
            <a:off x="1160097" y="3322015"/>
            <a:ext cx="150000" cy="150000"/>
            <a:chOff x="0" y="0"/>
            <a:chExt cx="200000" cy="200000"/>
          </a:xfrm>
        </p:grpSpPr>
        <p:sp>
          <p:nvSpPr>
            <p:cNvPr id="33" name="Freeform 13">
              <a:extLst>
                <a:ext uri="{FF2B5EF4-FFF2-40B4-BE49-F238E27FC236}">
                  <a16:creationId xmlns:a16="http://schemas.microsoft.com/office/drawing/2014/main" id="{71D168EF-33B0-F7C2-D3AF-82A9659A0AF5}"/>
                </a:ext>
              </a:extLst>
            </p:cNvPr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5" name="Group 15">
            <a:extLst>
              <a:ext uri="{FF2B5EF4-FFF2-40B4-BE49-F238E27FC236}">
                <a16:creationId xmlns:a16="http://schemas.microsoft.com/office/drawing/2014/main" id="{C6BC27EE-A8F4-0739-CD8A-7870CC2491D9}"/>
              </a:ext>
            </a:extLst>
          </p:cNvPr>
          <p:cNvGrpSpPr/>
          <p:nvPr/>
        </p:nvGrpSpPr>
        <p:grpSpPr>
          <a:xfrm>
            <a:off x="1160097" y="4282021"/>
            <a:ext cx="150000" cy="150000"/>
            <a:chOff x="0" y="0"/>
            <a:chExt cx="200000" cy="200000"/>
          </a:xfrm>
        </p:grpSpPr>
        <p:sp>
          <p:nvSpPr>
            <p:cNvPr id="36" name="Freeform 16">
              <a:extLst>
                <a:ext uri="{FF2B5EF4-FFF2-40B4-BE49-F238E27FC236}">
                  <a16:creationId xmlns:a16="http://schemas.microsoft.com/office/drawing/2014/main" id="{C17F42AE-3373-D883-3A29-DCE83337EB93}"/>
                </a:ext>
              </a:extLst>
            </p:cNvPr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38" name="Group 18">
            <a:extLst>
              <a:ext uri="{FF2B5EF4-FFF2-40B4-BE49-F238E27FC236}">
                <a16:creationId xmlns:a16="http://schemas.microsoft.com/office/drawing/2014/main" id="{7AF544CB-A2CE-F4E5-0E40-D14DC2E5487F}"/>
              </a:ext>
            </a:extLst>
          </p:cNvPr>
          <p:cNvGrpSpPr/>
          <p:nvPr/>
        </p:nvGrpSpPr>
        <p:grpSpPr>
          <a:xfrm>
            <a:off x="1160097" y="5242017"/>
            <a:ext cx="150000" cy="150000"/>
            <a:chOff x="0" y="0"/>
            <a:chExt cx="200000" cy="200000"/>
          </a:xfrm>
        </p:grpSpPr>
        <p:sp>
          <p:nvSpPr>
            <p:cNvPr id="39" name="Freeform 19">
              <a:extLst>
                <a:ext uri="{FF2B5EF4-FFF2-40B4-BE49-F238E27FC236}">
                  <a16:creationId xmlns:a16="http://schemas.microsoft.com/office/drawing/2014/main" id="{E0AA7FF7-9DA7-F959-66B0-04B0CB7CF9C5}"/>
                </a:ext>
              </a:extLst>
            </p:cNvPr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1" name="Group 21">
            <a:extLst>
              <a:ext uri="{FF2B5EF4-FFF2-40B4-BE49-F238E27FC236}">
                <a16:creationId xmlns:a16="http://schemas.microsoft.com/office/drawing/2014/main" id="{C5426723-2356-B2F2-9AA9-10162ADC1719}"/>
              </a:ext>
            </a:extLst>
          </p:cNvPr>
          <p:cNvGrpSpPr/>
          <p:nvPr/>
        </p:nvGrpSpPr>
        <p:grpSpPr>
          <a:xfrm>
            <a:off x="1160097" y="6202023"/>
            <a:ext cx="150000" cy="150000"/>
            <a:chOff x="0" y="0"/>
            <a:chExt cx="200000" cy="200000"/>
          </a:xfrm>
        </p:grpSpPr>
        <p:sp>
          <p:nvSpPr>
            <p:cNvPr id="42" name="Freeform 22">
              <a:extLst>
                <a:ext uri="{FF2B5EF4-FFF2-40B4-BE49-F238E27FC236}">
                  <a16:creationId xmlns:a16="http://schemas.microsoft.com/office/drawing/2014/main" id="{BF7D6410-5566-4863-FEAC-C5CF91EEB1EC}"/>
                </a:ext>
              </a:extLst>
            </p:cNvPr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45" name="TextBox 10">
            <a:extLst>
              <a:ext uri="{FF2B5EF4-FFF2-40B4-BE49-F238E27FC236}">
                <a16:creationId xmlns:a16="http://schemas.microsoft.com/office/drawing/2014/main" id="{46932E73-C0D7-D984-04A5-6D2B6B5B72AB}"/>
              </a:ext>
            </a:extLst>
          </p:cNvPr>
          <p:cNvSpPr txBox="1"/>
          <p:nvPr/>
        </p:nvSpPr>
        <p:spPr>
          <a:xfrm>
            <a:off x="1411443" y="657149"/>
            <a:ext cx="1181712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Workflow</a:t>
            </a:r>
          </a:p>
        </p:txBody>
      </p:sp>
      <p:sp>
        <p:nvSpPr>
          <p:cNvPr id="47" name="TextBox 11">
            <a:extLst>
              <a:ext uri="{FF2B5EF4-FFF2-40B4-BE49-F238E27FC236}">
                <a16:creationId xmlns:a16="http://schemas.microsoft.com/office/drawing/2014/main" id="{585FEC75-4F28-7269-7430-6877BA3B46CE}"/>
              </a:ext>
            </a:extLst>
          </p:cNvPr>
          <p:cNvSpPr txBox="1"/>
          <p:nvPr/>
        </p:nvSpPr>
        <p:spPr>
          <a:xfrm>
            <a:off x="1310097" y="2548409"/>
            <a:ext cx="7717117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End-to-end in a single Python script</a:t>
            </a:r>
          </a:p>
        </p:txBody>
      </p:sp>
      <p:sp>
        <p:nvSpPr>
          <p:cNvPr id="49" name="TextBox 14">
            <a:extLst>
              <a:ext uri="{FF2B5EF4-FFF2-40B4-BE49-F238E27FC236}">
                <a16:creationId xmlns:a16="http://schemas.microsoft.com/office/drawing/2014/main" id="{DC3DD0B1-6C34-2A26-4953-705E9A86FA6A}"/>
              </a:ext>
            </a:extLst>
          </p:cNvPr>
          <p:cNvSpPr txBox="1"/>
          <p:nvPr/>
        </p:nvSpPr>
        <p:spPr>
          <a:xfrm>
            <a:off x="1521543" y="3308213"/>
            <a:ext cx="13986592" cy="531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1: Raw Data → Validated Panel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python Updated_End_to_End_pipeline.py  →  nt_crime_merged_2015_2025.csv (696 rows, 0 nulls except Nov 2023)</a:t>
            </a:r>
          </a:p>
        </p:txBody>
      </p:sp>
      <p:sp>
        <p:nvSpPr>
          <p:cNvPr id="51" name="TextBox 17">
            <a:extLst>
              <a:ext uri="{FF2B5EF4-FFF2-40B4-BE49-F238E27FC236}">
                <a16:creationId xmlns:a16="http://schemas.microsoft.com/office/drawing/2014/main" id="{8BBB5A77-9245-65CD-CDCB-35AD721E47F0}"/>
              </a:ext>
            </a:extLst>
          </p:cNvPr>
          <p:cNvSpPr txBox="1"/>
          <p:nvPr/>
        </p:nvSpPr>
        <p:spPr>
          <a:xfrm>
            <a:off x="1521543" y="4268219"/>
            <a:ext cx="13986592" cy="531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2: Feature Engineering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Log-transform target → cyclic encoding → lag1/3/12 → region dummies → break indicators → V1–V5 variant frames</a:t>
            </a:r>
          </a:p>
        </p:txBody>
      </p:sp>
      <p:sp>
        <p:nvSpPr>
          <p:cNvPr id="53" name="TextBox 20">
            <a:extLst>
              <a:ext uri="{FF2B5EF4-FFF2-40B4-BE49-F238E27FC236}">
                <a16:creationId xmlns:a16="http://schemas.microsoft.com/office/drawing/2014/main" id="{BC9ECDA4-EB6D-14D6-CA02-DC40147E6FD8}"/>
              </a:ext>
            </a:extLst>
          </p:cNvPr>
          <p:cNvSpPr txBox="1"/>
          <p:nvPr/>
        </p:nvSpPr>
        <p:spPr>
          <a:xfrm>
            <a:off x="1521543" y="5228215"/>
            <a:ext cx="13986592" cy="53142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3: Model Training + CV</a:t>
            </a:r>
          </a:p>
          <a:p>
            <a:pPr algn="just">
              <a:lnSpc>
                <a:spcPts val="2099"/>
              </a:lnSpc>
            </a:pP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TimeSeriesSplit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(5 folds) on 2015–2022 → select best feature variant → fit Linear, Ridge(α=1), Lasso(α=0.01), </a:t>
            </a: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(depth=3)</a:t>
            </a:r>
          </a:p>
        </p:txBody>
      </p:sp>
      <p:sp>
        <p:nvSpPr>
          <p:cNvPr id="55" name="TextBox 23">
            <a:extLst>
              <a:ext uri="{FF2B5EF4-FFF2-40B4-BE49-F238E27FC236}">
                <a16:creationId xmlns:a16="http://schemas.microsoft.com/office/drawing/2014/main" id="{92565D18-F24F-59D3-E258-67539EEAB455}"/>
              </a:ext>
            </a:extLst>
          </p:cNvPr>
          <p:cNvSpPr txBox="1"/>
          <p:nvPr/>
        </p:nvSpPr>
        <p:spPr>
          <a:xfrm>
            <a:off x="1521543" y="6188212"/>
            <a:ext cx="13986592" cy="5317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Step 4: Evaluation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evaluation.py: rolling-origin </a:t>
            </a: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backtest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(60-month min train, step=3, h=1/3/6/12) → metrics CSVs → prediction intervals</a:t>
            </a:r>
          </a:p>
        </p:txBody>
      </p:sp>
    </p:spTree>
    <p:extLst>
      <p:ext uri="{BB962C8B-B14F-4D97-AF65-F5344CB8AC3E}">
        <p14:creationId xmlns:p14="http://schemas.microsoft.com/office/powerpoint/2010/main" val="75514695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Problems &amp; Solutions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199998" y="1649997"/>
            <a:ext cx="7700000" cy="1750000"/>
            <a:chOff x="0" y="0"/>
            <a:chExt cx="10266667" cy="23333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19997" y="1850003"/>
            <a:ext cx="190005" cy="190005"/>
            <a:chOff x="0" y="0"/>
            <a:chExt cx="253340" cy="25334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511437" y="2166195"/>
            <a:ext cx="6917122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Two systems, two label sets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11437" y="2576674"/>
            <a:ext cx="6917122" cy="64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NT Police switched recording systems (PROMIS → SerPro, Nov 2023) and reclassified offence categories (ANZSOC, Apr 2025) — old and new files use different category names for the same offence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9300000" y="1649997"/>
            <a:ext cx="7700000" cy="1750000"/>
            <a:chOff x="0" y="0"/>
            <a:chExt cx="10266667" cy="2333333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9641443" y="1786195"/>
            <a:ext cx="7017125" cy="198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9641443" y="2066668"/>
            <a:ext cx="7017125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11-entry manual translation table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41443" y="2826668"/>
            <a:ext cx="7017125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 i="1">
                <a:solidFill>
                  <a:srgbClr val="8B7EC8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e.g. ‘Acts intended to cause Injury’ (old) → ‘02 Assault’ (ANZSOC)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1199998" y="3580000"/>
            <a:ext cx="7700000" cy="1750000"/>
            <a:chOff x="0" y="0"/>
            <a:chExt cx="10266667" cy="2333333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1419997" y="3779996"/>
            <a:ext cx="190005" cy="190005"/>
            <a:chOff x="0" y="0"/>
            <a:chExt cx="253340" cy="25334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511437" y="4096198"/>
            <a:ext cx="6917122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7 police regions ≠ 6 government regions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511437" y="4506668"/>
            <a:ext cx="6637214" cy="8233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612"/>
              </a:lnSpc>
            </a:pPr>
            <a:r>
              <a:rPr lang="en-US" sz="134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Crime data is reported by 7 NT Police districts; population &amp; alcohol data use 6 NT Government (NTG) statistical regions. Without correction, Greater Darwin's population would be counted under both ‘Darwin’ and ‘Palmerston’ rows — doubling the denominator and halving true per-capita rates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300000" y="3580000"/>
            <a:ext cx="7700000" cy="1750000"/>
            <a:chOff x="0" y="0"/>
            <a:chExt cx="10266667" cy="2333333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641443" y="3716198"/>
            <a:ext cx="7017125" cy="198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9641443" y="3996671"/>
            <a:ext cx="7017125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Two-stage crosswalk: direct name-map (6 regions) + SA2 lookup table (16 codes) for generic ‘NT Balance’ rows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9641443" y="4756671"/>
            <a:ext cx="7017125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 i="1">
                <a:solidFill>
                  <a:srgbClr val="3FA593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e.g. Darwin + Palmerston → Greater Darwin = 34,454 assaults (2015-2025)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199998" y="5510003"/>
            <a:ext cx="7700000" cy="1750000"/>
            <a:chOff x="0" y="0"/>
            <a:chExt cx="10266667" cy="2333333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5" name="Group 35"/>
          <p:cNvGrpSpPr/>
          <p:nvPr/>
        </p:nvGrpSpPr>
        <p:grpSpPr>
          <a:xfrm>
            <a:off x="1419997" y="5709999"/>
            <a:ext cx="190005" cy="190005"/>
            <a:chOff x="0" y="0"/>
            <a:chExt cx="253340" cy="253340"/>
          </a:xfrm>
        </p:grpSpPr>
        <p:sp>
          <p:nvSpPr>
            <p:cNvPr id="36" name="Freeform 36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7" name="TextBox 37"/>
          <p:cNvSpPr txBox="1"/>
          <p:nvPr/>
        </p:nvSpPr>
        <p:spPr>
          <a:xfrm>
            <a:off x="1511437" y="6026191"/>
            <a:ext cx="6917122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Rows ≠ offences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1511437" y="6436671"/>
            <a:ext cx="6917122" cy="6477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One row can represent hundreds of offences (‘Number of offences’ column) - counting flagged ROWS badly undercounts true alcohol/DV-linked offence volume</a:t>
            </a:r>
          </a:p>
        </p:txBody>
      </p:sp>
      <p:grpSp>
        <p:nvGrpSpPr>
          <p:cNvPr id="39" name="Group 39"/>
          <p:cNvGrpSpPr/>
          <p:nvPr/>
        </p:nvGrpSpPr>
        <p:grpSpPr>
          <a:xfrm>
            <a:off x="9300000" y="5510003"/>
            <a:ext cx="7700000" cy="1750000"/>
            <a:chOff x="0" y="0"/>
            <a:chExt cx="10266667" cy="2333333"/>
          </a:xfrm>
        </p:grpSpPr>
        <p:sp>
          <p:nvSpPr>
            <p:cNvPr id="40" name="Freeform 40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1" name="TextBox 41"/>
          <p:cNvSpPr txBox="1"/>
          <p:nvPr/>
        </p:nvSpPr>
        <p:spPr>
          <a:xfrm>
            <a:off x="9641443" y="5646191"/>
            <a:ext cx="7017125" cy="198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641443" y="5926674"/>
            <a:ext cx="7017125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Multiply the Yes/No flag by Number of offences per row before aggregating, not row count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9619712" y="6334754"/>
            <a:ext cx="7217711" cy="9144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40"/>
              </a:lnSpc>
            </a:pPr>
            <a:r>
              <a:rPr lang="en-US" sz="1200" b="1" i="1">
                <a:solidFill>
                  <a:srgbClr val="E9A25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5,081 alcohol-flagged rows = 46,306 actual offences (9.1× higher) · 6,246 DV-flagged rows = 59,567 offences</a:t>
            </a:r>
          </a:p>
          <a:p>
            <a:pPr algn="l">
              <a:lnSpc>
                <a:spcPts val="1440"/>
              </a:lnSpc>
            </a:pPr>
            <a:endParaRPr lang="en-US" sz="1200" b="1" i="1">
              <a:solidFill>
                <a:srgbClr val="E9A25E"/>
              </a:solidFill>
              <a:latin typeface="Poppins Bold Italics"/>
              <a:ea typeface="Poppins Bold Italics"/>
              <a:cs typeface="Poppins Bold Italics"/>
              <a:sym typeface="Poppins Bold Italics"/>
            </a:endParaRPr>
          </a:p>
          <a:p>
            <a:pPr marL="259082" lvl="1" indent="-129541" algn="l">
              <a:lnSpc>
                <a:spcPts val="1440"/>
              </a:lnSpc>
              <a:buFont typeface="Arial"/>
              <a:buChar char="•"/>
            </a:pPr>
            <a:r>
              <a:rPr lang="en-US" sz="1200" i="1">
                <a:solidFill>
                  <a:srgbClr val="33294B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Computed directly from the raw CSVs (Yes/No flag × Number of offences per row, summed)</a:t>
            </a:r>
          </a:p>
        </p:txBody>
      </p:sp>
      <p:grpSp>
        <p:nvGrpSpPr>
          <p:cNvPr id="44" name="Group 44"/>
          <p:cNvGrpSpPr/>
          <p:nvPr/>
        </p:nvGrpSpPr>
        <p:grpSpPr>
          <a:xfrm>
            <a:off x="1199998" y="7439997"/>
            <a:ext cx="7700000" cy="1750000"/>
            <a:chOff x="0" y="0"/>
            <a:chExt cx="10266667" cy="2333333"/>
          </a:xfrm>
        </p:grpSpPr>
        <p:sp>
          <p:nvSpPr>
            <p:cNvPr id="45" name="Freeform 45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6" name="Group 46"/>
          <p:cNvGrpSpPr/>
          <p:nvPr/>
        </p:nvGrpSpPr>
        <p:grpSpPr>
          <a:xfrm>
            <a:off x="1419997" y="7640003"/>
            <a:ext cx="190005" cy="190005"/>
            <a:chOff x="0" y="0"/>
            <a:chExt cx="253340" cy="253340"/>
          </a:xfrm>
        </p:grpSpPr>
        <p:sp>
          <p:nvSpPr>
            <p:cNvPr id="47" name="Freeform 47"/>
            <p:cNvSpPr/>
            <p:nvPr/>
          </p:nvSpPr>
          <p:spPr>
            <a:xfrm>
              <a:off x="0" y="0"/>
              <a:ext cx="253238" cy="253238"/>
            </a:xfrm>
            <a:custGeom>
              <a:avLst/>
              <a:gdLst/>
              <a:ahLst/>
              <a:cxnLst/>
              <a:rect l="l" t="t" r="r" b="b"/>
              <a:pathLst>
                <a:path w="253238" h="253238">
                  <a:moveTo>
                    <a:pt x="0" y="126619"/>
                  </a:moveTo>
                  <a:cubicBezTo>
                    <a:pt x="0" y="56769"/>
                    <a:pt x="56769" y="0"/>
                    <a:pt x="126619" y="0"/>
                  </a:cubicBezTo>
                  <a:cubicBezTo>
                    <a:pt x="196469" y="0"/>
                    <a:pt x="253238" y="56769"/>
                    <a:pt x="253238" y="126619"/>
                  </a:cubicBezTo>
                  <a:cubicBezTo>
                    <a:pt x="253238" y="196469"/>
                    <a:pt x="196469" y="253238"/>
                    <a:pt x="126619" y="253238"/>
                  </a:cubicBezTo>
                  <a:cubicBezTo>
                    <a:pt x="56769" y="253238"/>
                    <a:pt x="0" y="196596"/>
                    <a:pt x="0" y="126619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8" name="TextBox 48"/>
          <p:cNvSpPr txBox="1"/>
          <p:nvPr/>
        </p:nvSpPr>
        <p:spPr>
          <a:xfrm>
            <a:off x="1511437" y="7956194"/>
            <a:ext cx="6917122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November 2023 recording gap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511437" y="8366674"/>
            <a:ext cx="6917122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The PROMIS→SerPro system migration left November 2023 entirely unrecorded in both crime files</a:t>
            </a:r>
          </a:p>
        </p:txBody>
      </p:sp>
      <p:grpSp>
        <p:nvGrpSpPr>
          <p:cNvPr id="50" name="Group 50"/>
          <p:cNvGrpSpPr/>
          <p:nvPr/>
        </p:nvGrpSpPr>
        <p:grpSpPr>
          <a:xfrm>
            <a:off x="9300000" y="7439997"/>
            <a:ext cx="7700000" cy="1750000"/>
            <a:chOff x="0" y="0"/>
            <a:chExt cx="10266667" cy="2333333"/>
          </a:xfrm>
        </p:grpSpPr>
        <p:sp>
          <p:nvSpPr>
            <p:cNvPr id="51" name="Freeform 51"/>
            <p:cNvSpPr/>
            <p:nvPr/>
          </p:nvSpPr>
          <p:spPr>
            <a:xfrm>
              <a:off x="0" y="0"/>
              <a:ext cx="10266680" cy="2333244"/>
            </a:xfrm>
            <a:custGeom>
              <a:avLst/>
              <a:gdLst/>
              <a:ahLst/>
              <a:cxnLst/>
              <a:rect l="l" t="t" r="r" b="b"/>
              <a:pathLst>
                <a:path w="10266680" h="2333244">
                  <a:moveTo>
                    <a:pt x="0" y="233299"/>
                  </a:moveTo>
                  <a:cubicBezTo>
                    <a:pt x="0" y="104521"/>
                    <a:pt x="104521" y="0"/>
                    <a:pt x="233299" y="0"/>
                  </a:cubicBezTo>
                  <a:lnTo>
                    <a:pt x="10033381" y="0"/>
                  </a:lnTo>
                  <a:cubicBezTo>
                    <a:pt x="10162287" y="0"/>
                    <a:pt x="10266680" y="104521"/>
                    <a:pt x="10266680" y="233299"/>
                  </a:cubicBezTo>
                  <a:lnTo>
                    <a:pt x="10266680" y="2099945"/>
                  </a:lnTo>
                  <a:cubicBezTo>
                    <a:pt x="10266680" y="2228850"/>
                    <a:pt x="10162160" y="2333244"/>
                    <a:pt x="10033381" y="2333244"/>
                  </a:cubicBezTo>
                  <a:lnTo>
                    <a:pt x="233299" y="2333244"/>
                  </a:lnTo>
                  <a:cubicBezTo>
                    <a:pt x="104521" y="2333371"/>
                    <a:pt x="0" y="2228850"/>
                    <a:pt x="0" y="2099945"/>
                  </a:cubicBezTo>
                  <a:close/>
                </a:path>
              </a:pathLst>
            </a:custGeom>
            <a:solidFill>
              <a:srgbClr val="FFFFFF">
                <a:alpha val="5176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2" name="TextBox 52"/>
          <p:cNvSpPr txBox="1"/>
          <p:nvPr/>
        </p:nvSpPr>
        <p:spPr>
          <a:xfrm>
            <a:off x="9641443" y="7576195"/>
            <a:ext cx="7017125" cy="19808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260"/>
              </a:lnSpc>
            </a:pPr>
            <a:r>
              <a:rPr lang="en-US" sz="1050" b="1">
                <a:solidFill>
                  <a:srgbClr val="E8829E"/>
                </a:solidFill>
                <a:latin typeface="Poppins Bold"/>
                <a:ea typeface="Poppins Bold"/>
                <a:cs typeface="Poppins Bold"/>
                <a:sym typeface="Poppins Bold"/>
              </a:rPr>
              <a:t>SOLUTION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9641443" y="7856668"/>
            <a:ext cx="7017125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Retained as NaN, never imputed — avoids injecting artificial values into the assault time series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641443" y="8616667"/>
            <a:ext cx="7017125" cy="438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 i="1">
                <a:solidFill>
                  <a:srgbClr val="E8829E"/>
                </a:solidFill>
                <a:latin typeface="Poppins Bold Italics"/>
                <a:ea typeface="Poppins Bold Italics"/>
                <a:cs typeface="Poppins Bold Italics"/>
                <a:sym typeface="Poppins Bold Italics"/>
              </a:rPr>
              <a:t>Confirmed via manifest.json null-check: exactly 1 of 132 months (0.8%) affected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59998" y="8000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637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Bringing the Three Datasets Together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450472" y="2986746"/>
            <a:ext cx="4233410" cy="681801"/>
            <a:chOff x="0" y="0"/>
            <a:chExt cx="6213088" cy="100063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213139" cy="1000735"/>
            </a:xfrm>
            <a:custGeom>
              <a:avLst/>
              <a:gdLst/>
              <a:ahLst/>
              <a:cxnLst/>
              <a:rect l="l" t="t" r="r" b="b"/>
              <a:pathLst>
                <a:path w="6213139" h="1000735">
                  <a:moveTo>
                    <a:pt x="0" y="300228"/>
                  </a:moveTo>
                  <a:cubicBezTo>
                    <a:pt x="0" y="134388"/>
                    <a:pt x="57547" y="0"/>
                    <a:pt x="128563" y="0"/>
                  </a:cubicBezTo>
                  <a:lnTo>
                    <a:pt x="6084553" y="0"/>
                  </a:lnTo>
                  <a:cubicBezTo>
                    <a:pt x="6155568" y="0"/>
                    <a:pt x="6213139" y="134388"/>
                    <a:pt x="6213139" y="300228"/>
                  </a:cubicBezTo>
                  <a:lnTo>
                    <a:pt x="6213139" y="700532"/>
                  </a:lnTo>
                  <a:cubicBezTo>
                    <a:pt x="6213139" y="866372"/>
                    <a:pt x="6155568" y="1000735"/>
                    <a:pt x="6084553" y="1000735"/>
                  </a:cubicBezTo>
                  <a:lnTo>
                    <a:pt x="128563" y="1000735"/>
                  </a:lnTo>
                  <a:cubicBezTo>
                    <a:pt x="57547" y="1000601"/>
                    <a:pt x="0" y="866213"/>
                    <a:pt x="0" y="700373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-1166245" y="3137692"/>
            <a:ext cx="7424799" cy="226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35"/>
              </a:lnSpc>
            </a:pPr>
            <a:r>
              <a:rPr lang="en-US" sz="1362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Crime (Year x Month x Region)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450472" y="3677200"/>
            <a:ext cx="4233410" cy="545095"/>
            <a:chOff x="0" y="0"/>
            <a:chExt cx="6213088" cy="799998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6213139" cy="800100"/>
            </a:xfrm>
            <a:custGeom>
              <a:avLst/>
              <a:gdLst/>
              <a:ahLst/>
              <a:cxnLst/>
              <a:rect l="l" t="t" r="r" b="b"/>
              <a:pathLst>
                <a:path w="6213139" h="800100">
                  <a:moveTo>
                    <a:pt x="0" y="240030"/>
                  </a:moveTo>
                  <a:cubicBezTo>
                    <a:pt x="0" y="107442"/>
                    <a:pt x="57547" y="0"/>
                    <a:pt x="128563" y="0"/>
                  </a:cubicBezTo>
                  <a:lnTo>
                    <a:pt x="6084553" y="0"/>
                  </a:lnTo>
                  <a:cubicBezTo>
                    <a:pt x="6155568" y="0"/>
                    <a:pt x="6213139" y="107442"/>
                    <a:pt x="6213139" y="240030"/>
                  </a:cubicBezTo>
                  <a:lnTo>
                    <a:pt x="6213139" y="560070"/>
                  </a:lnTo>
                  <a:cubicBezTo>
                    <a:pt x="6213139" y="692658"/>
                    <a:pt x="6155568" y="800100"/>
                    <a:pt x="6084553" y="800100"/>
                  </a:cubicBezTo>
                  <a:lnTo>
                    <a:pt x="128563" y="800100"/>
                  </a:lnTo>
                  <a:cubicBezTo>
                    <a:pt x="57547" y="799973"/>
                    <a:pt x="0" y="692531"/>
                    <a:pt x="0" y="559943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TextBox 16"/>
          <p:cNvSpPr txBox="1"/>
          <p:nvPr/>
        </p:nvSpPr>
        <p:spPr>
          <a:xfrm>
            <a:off x="-1213317" y="3826874"/>
            <a:ext cx="7424799" cy="226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35"/>
              </a:lnSpc>
            </a:pPr>
            <a:r>
              <a:rPr lang="en-US" sz="1362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LEFT JOIN Alcohol (Year x Quarter x Region)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450472" y="4367654"/>
            <a:ext cx="4233410" cy="545095"/>
            <a:chOff x="0" y="0"/>
            <a:chExt cx="6213088" cy="799998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213139" cy="800100"/>
            </a:xfrm>
            <a:custGeom>
              <a:avLst/>
              <a:gdLst/>
              <a:ahLst/>
              <a:cxnLst/>
              <a:rect l="l" t="t" r="r" b="b"/>
              <a:pathLst>
                <a:path w="6213139" h="800100">
                  <a:moveTo>
                    <a:pt x="0" y="240030"/>
                  </a:moveTo>
                  <a:cubicBezTo>
                    <a:pt x="0" y="107442"/>
                    <a:pt x="57547" y="0"/>
                    <a:pt x="128563" y="0"/>
                  </a:cubicBezTo>
                  <a:lnTo>
                    <a:pt x="6084553" y="0"/>
                  </a:lnTo>
                  <a:cubicBezTo>
                    <a:pt x="6155568" y="0"/>
                    <a:pt x="6213139" y="107442"/>
                    <a:pt x="6213139" y="240030"/>
                  </a:cubicBezTo>
                  <a:lnTo>
                    <a:pt x="6213139" y="560070"/>
                  </a:lnTo>
                  <a:cubicBezTo>
                    <a:pt x="6213139" y="692658"/>
                    <a:pt x="6155568" y="800100"/>
                    <a:pt x="6084553" y="800100"/>
                  </a:cubicBezTo>
                  <a:lnTo>
                    <a:pt x="128563" y="800100"/>
                  </a:lnTo>
                  <a:cubicBezTo>
                    <a:pt x="57547" y="799973"/>
                    <a:pt x="0" y="692531"/>
                    <a:pt x="0" y="559943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9" name="TextBox 19"/>
          <p:cNvSpPr txBox="1"/>
          <p:nvPr/>
        </p:nvSpPr>
        <p:spPr>
          <a:xfrm>
            <a:off x="-1213317" y="4517328"/>
            <a:ext cx="7424799" cy="22673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35"/>
              </a:lnSpc>
            </a:pPr>
            <a:r>
              <a:rPr lang="en-US" sz="1362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LEFT JOIN Population (Year x Region)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450472" y="4921835"/>
            <a:ext cx="4097221" cy="508759"/>
            <a:chOff x="0" y="0"/>
            <a:chExt cx="6013213" cy="746671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013238" cy="746633"/>
            </a:xfrm>
            <a:custGeom>
              <a:avLst/>
              <a:gdLst/>
              <a:ahLst/>
              <a:cxnLst/>
              <a:rect l="l" t="t" r="r" b="b"/>
              <a:pathLst>
                <a:path w="6013238" h="746633">
                  <a:moveTo>
                    <a:pt x="0" y="224028"/>
                  </a:moveTo>
                  <a:cubicBezTo>
                    <a:pt x="0" y="100330"/>
                    <a:pt x="96272" y="0"/>
                    <a:pt x="214967" y="0"/>
                  </a:cubicBezTo>
                  <a:lnTo>
                    <a:pt x="5798270" y="0"/>
                  </a:lnTo>
                  <a:cubicBezTo>
                    <a:pt x="5916965" y="0"/>
                    <a:pt x="6013238" y="100330"/>
                    <a:pt x="6013238" y="224028"/>
                  </a:cubicBezTo>
                  <a:lnTo>
                    <a:pt x="6013238" y="522605"/>
                  </a:lnTo>
                  <a:cubicBezTo>
                    <a:pt x="6013238" y="646303"/>
                    <a:pt x="5916965" y="746633"/>
                    <a:pt x="5798270" y="746633"/>
                  </a:cubicBezTo>
                  <a:lnTo>
                    <a:pt x="214967" y="746633"/>
                  </a:lnTo>
                  <a:cubicBezTo>
                    <a:pt x="96272" y="746633"/>
                    <a:pt x="0" y="646430"/>
                    <a:pt x="0" y="522605"/>
                  </a:cubicBezTo>
                  <a:close/>
                </a:path>
              </a:pathLst>
            </a:custGeom>
            <a:solidFill>
              <a:srgbClr val="8B7EC8">
                <a:alpha val="8431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530184" y="5090120"/>
            <a:ext cx="3937796" cy="19124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471"/>
              </a:lnSpc>
            </a:pPr>
            <a:r>
              <a:rPr lang="en-US" sz="1226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nt_crime_merged_2015_2025.csv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5192573" y="1366237"/>
            <a:ext cx="11607422" cy="6971834"/>
            <a:chOff x="0" y="0"/>
            <a:chExt cx="7769542" cy="4666666"/>
          </a:xfrm>
        </p:grpSpPr>
        <p:sp>
          <p:nvSpPr>
            <p:cNvPr id="24" name="Freeform 24" descr="n_region_totals.png"/>
            <p:cNvSpPr/>
            <p:nvPr/>
          </p:nvSpPr>
          <p:spPr>
            <a:xfrm>
              <a:off x="0" y="0"/>
              <a:ext cx="7769593" cy="4666615"/>
            </a:xfrm>
            <a:custGeom>
              <a:avLst/>
              <a:gdLst/>
              <a:ahLst/>
              <a:cxnLst/>
              <a:rect l="l" t="t" r="r" b="b"/>
              <a:pathLst>
                <a:path w="7769593" h="4666615">
                  <a:moveTo>
                    <a:pt x="0" y="0"/>
                  </a:moveTo>
                  <a:lnTo>
                    <a:pt x="7769593" y="0"/>
                  </a:lnTo>
                  <a:lnTo>
                    <a:pt x="7769593" y="4666615"/>
                  </a:lnTo>
                  <a:lnTo>
                    <a:pt x="0" y="466661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498" r="-498" b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199998" y="8499996"/>
            <a:ext cx="5149996" cy="1349997"/>
            <a:chOff x="0" y="0"/>
            <a:chExt cx="6866661" cy="1799996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6866636" cy="1799971"/>
            </a:xfrm>
            <a:custGeom>
              <a:avLst/>
              <a:gdLst/>
              <a:ahLst/>
              <a:cxnLst/>
              <a:rect l="l" t="t" r="r" b="b"/>
              <a:pathLst>
                <a:path w="6866636" h="1799971">
                  <a:moveTo>
                    <a:pt x="0" y="251968"/>
                  </a:moveTo>
                  <a:cubicBezTo>
                    <a:pt x="0" y="112776"/>
                    <a:pt x="112776" y="0"/>
                    <a:pt x="251968" y="0"/>
                  </a:cubicBezTo>
                  <a:lnTo>
                    <a:pt x="6614668" y="0"/>
                  </a:lnTo>
                  <a:cubicBezTo>
                    <a:pt x="6753860" y="0"/>
                    <a:pt x="6866636" y="112776"/>
                    <a:pt x="6866636" y="251968"/>
                  </a:cubicBezTo>
                  <a:lnTo>
                    <a:pt x="6866636" y="1548003"/>
                  </a:lnTo>
                  <a:cubicBezTo>
                    <a:pt x="6866636" y="1687195"/>
                    <a:pt x="6753860" y="1799971"/>
                    <a:pt x="6614668" y="1799971"/>
                  </a:cubicBezTo>
                  <a:lnTo>
                    <a:pt x="251968" y="1799971"/>
                  </a:lnTo>
                  <a:cubicBezTo>
                    <a:pt x="112776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1291438" y="8706669"/>
            <a:ext cx="4967116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696 rows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291438" y="9286199"/>
            <a:ext cx="4967116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9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usable panel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6500003" y="8499996"/>
            <a:ext cx="5149996" cy="1349997"/>
            <a:chOff x="0" y="0"/>
            <a:chExt cx="6866661" cy="1799996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6866636" cy="1799971"/>
            </a:xfrm>
            <a:custGeom>
              <a:avLst/>
              <a:gdLst/>
              <a:ahLst/>
              <a:cxnLst/>
              <a:rect l="l" t="t" r="r" b="b"/>
              <a:pathLst>
                <a:path w="6866636" h="1799971">
                  <a:moveTo>
                    <a:pt x="0" y="251968"/>
                  </a:moveTo>
                  <a:cubicBezTo>
                    <a:pt x="0" y="112776"/>
                    <a:pt x="112776" y="0"/>
                    <a:pt x="251968" y="0"/>
                  </a:cubicBezTo>
                  <a:lnTo>
                    <a:pt x="6614668" y="0"/>
                  </a:lnTo>
                  <a:cubicBezTo>
                    <a:pt x="6753860" y="0"/>
                    <a:pt x="6866636" y="112776"/>
                    <a:pt x="6866636" y="251968"/>
                  </a:cubicBezTo>
                  <a:lnTo>
                    <a:pt x="6866636" y="1548003"/>
                  </a:lnTo>
                  <a:cubicBezTo>
                    <a:pt x="6866636" y="1687195"/>
                    <a:pt x="6753860" y="1799971"/>
                    <a:pt x="6614668" y="1799971"/>
                  </a:cubicBezTo>
                  <a:lnTo>
                    <a:pt x="251968" y="1799971"/>
                  </a:lnTo>
                  <a:cubicBezTo>
                    <a:pt x="112776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6591443" y="8706669"/>
            <a:ext cx="4967116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0 PAC nulls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591443" y="9286199"/>
            <a:ext cx="4967116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9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in 2023-2025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1649999" y="8499996"/>
            <a:ext cx="5149996" cy="1349997"/>
            <a:chOff x="0" y="0"/>
            <a:chExt cx="6866661" cy="1799996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6866636" cy="1799971"/>
            </a:xfrm>
            <a:custGeom>
              <a:avLst/>
              <a:gdLst/>
              <a:ahLst/>
              <a:cxnLst/>
              <a:rect l="l" t="t" r="r" b="b"/>
              <a:pathLst>
                <a:path w="6866636" h="1799971">
                  <a:moveTo>
                    <a:pt x="0" y="251968"/>
                  </a:moveTo>
                  <a:cubicBezTo>
                    <a:pt x="0" y="112776"/>
                    <a:pt x="112776" y="0"/>
                    <a:pt x="251968" y="0"/>
                  </a:cubicBezTo>
                  <a:lnTo>
                    <a:pt x="6614668" y="0"/>
                  </a:lnTo>
                  <a:cubicBezTo>
                    <a:pt x="6753860" y="0"/>
                    <a:pt x="6866636" y="112776"/>
                    <a:pt x="6866636" y="251968"/>
                  </a:cubicBezTo>
                  <a:lnTo>
                    <a:pt x="6866636" y="1548003"/>
                  </a:lnTo>
                  <a:cubicBezTo>
                    <a:pt x="6866636" y="1687195"/>
                    <a:pt x="6753860" y="1799971"/>
                    <a:pt x="6614668" y="1799971"/>
                  </a:cubicBezTo>
                  <a:lnTo>
                    <a:pt x="251968" y="1799971"/>
                  </a:lnTo>
                  <a:cubicBezTo>
                    <a:pt x="112776" y="1799971"/>
                    <a:pt x="0" y="1687195"/>
                    <a:pt x="0" y="1548003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1891439" y="8706669"/>
            <a:ext cx="4967116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2639"/>
              </a:lnSpc>
            </a:pPr>
            <a:r>
              <a:rPr lang="en-US" sz="2199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Nov 2023 = NaN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1891439" y="9286199"/>
            <a:ext cx="4967116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559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confirmed ✓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637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Features Built from the Merged Data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199998" y="1750000"/>
            <a:ext cx="5149996" cy="3099997"/>
            <a:chOff x="0" y="0"/>
            <a:chExt cx="6866661" cy="4133329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1480004" y="2010004"/>
            <a:ext cx="299999" cy="299999"/>
            <a:chOff x="0" y="0"/>
            <a:chExt cx="399999" cy="399999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571444" y="2436200"/>
            <a:ext cx="4407122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log(Assault_rate)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1571444" y="2856671"/>
            <a:ext cx="4407122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Right-skewed → log-normal for linear models</a:t>
            </a:r>
          </a:p>
        </p:txBody>
      </p:sp>
      <p:grpSp>
        <p:nvGrpSpPr>
          <p:cNvPr id="17" name="Group 17"/>
          <p:cNvGrpSpPr/>
          <p:nvPr/>
        </p:nvGrpSpPr>
        <p:grpSpPr>
          <a:xfrm>
            <a:off x="1374713" y="3422117"/>
            <a:ext cx="4696664" cy="1227883"/>
            <a:chOff x="0" y="0"/>
            <a:chExt cx="6120003" cy="1599997"/>
          </a:xfrm>
        </p:grpSpPr>
        <p:sp>
          <p:nvSpPr>
            <p:cNvPr id="18" name="Freeform 18"/>
            <p:cNvSpPr/>
            <p:nvPr/>
          </p:nvSpPr>
          <p:spPr>
            <a:xfrm>
              <a:off x="0" y="0"/>
              <a:ext cx="6120003" cy="1600073"/>
            </a:xfrm>
            <a:custGeom>
              <a:avLst/>
              <a:gdLst/>
              <a:ahLst/>
              <a:cxnLst/>
              <a:rect l="l" t="t" r="r" b="b"/>
              <a:pathLst>
                <a:path w="6120003" h="1600073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lnTo>
                    <a:pt x="5879973" y="0"/>
                  </a:lnTo>
                  <a:cubicBezTo>
                    <a:pt x="6012561" y="0"/>
                    <a:pt x="6120003" y="107442"/>
                    <a:pt x="6120003" y="240030"/>
                  </a:cubicBezTo>
                  <a:lnTo>
                    <a:pt x="6120003" y="1360043"/>
                  </a:lnTo>
                  <a:cubicBezTo>
                    <a:pt x="6120003" y="1492631"/>
                    <a:pt x="6012561" y="1600073"/>
                    <a:pt x="5879973" y="1600073"/>
                  </a:cubicBezTo>
                  <a:lnTo>
                    <a:pt x="240030" y="1600073"/>
                  </a:lnTo>
                  <a:cubicBezTo>
                    <a:pt x="107442" y="1600073"/>
                    <a:pt x="0" y="1492631"/>
                    <a:pt x="0" y="1360043"/>
                  </a:cubicBezTo>
                  <a:close/>
                </a:path>
              </a:pathLst>
            </a:custGeom>
            <a:solidFill>
              <a:srgbClr val="8B7EC8">
                <a:alpha val="1176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9" name="Group 19"/>
          <p:cNvGrpSpPr/>
          <p:nvPr/>
        </p:nvGrpSpPr>
        <p:grpSpPr>
          <a:xfrm>
            <a:off x="1571444" y="3422476"/>
            <a:ext cx="4290003" cy="1130769"/>
            <a:chOff x="0" y="0"/>
            <a:chExt cx="5720004" cy="1507692"/>
          </a:xfrm>
        </p:grpSpPr>
        <p:sp>
          <p:nvSpPr>
            <p:cNvPr id="20" name="Freeform 20"/>
            <p:cNvSpPr/>
            <p:nvPr/>
          </p:nvSpPr>
          <p:spPr>
            <a:xfrm>
              <a:off x="0" y="0"/>
              <a:ext cx="5720000" cy="1507695"/>
            </a:xfrm>
            <a:custGeom>
              <a:avLst/>
              <a:gdLst/>
              <a:ahLst/>
              <a:cxnLst/>
              <a:rect l="l" t="t" r="r" b="b"/>
              <a:pathLst>
                <a:path w="5720000" h="1507695">
                  <a:moveTo>
                    <a:pt x="0" y="0"/>
                  </a:moveTo>
                  <a:lnTo>
                    <a:pt x="5720000" y="0"/>
                  </a:lnTo>
                  <a:lnTo>
                    <a:pt x="5720000" y="1507695"/>
                  </a:lnTo>
                  <a:lnTo>
                    <a:pt x="0" y="150769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7495" b="-2035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21" name="TextBox 21"/>
            <p:cNvSpPr txBox="1"/>
            <p:nvPr/>
          </p:nvSpPr>
          <p:spPr>
            <a:xfrm>
              <a:off x="0" y="-19050"/>
              <a:ext cx="5720004" cy="15267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r>
                <a:rPr lang="en-US" sz="1349" u="none" strike="noStrike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Skewness: 0.96 → 0.06 after transform</a:t>
              </a: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endParaRPr lang="en-US" sz="1349" u="none" strike="noStrike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r>
                <a:rPr lang="en-US" sz="1349" u="none" strike="noStrike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pipeline (skew of Assault_offences before/after log1p)</a:t>
              </a: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endParaRPr lang="en-US" sz="1349" u="none" strike="noStrike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22" name="Group 22"/>
          <p:cNvGrpSpPr/>
          <p:nvPr/>
        </p:nvGrpSpPr>
        <p:grpSpPr>
          <a:xfrm>
            <a:off x="6500003" y="1750000"/>
            <a:ext cx="5149996" cy="3099997"/>
            <a:chOff x="0" y="0"/>
            <a:chExt cx="6866661" cy="4133329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24" name="Group 24"/>
          <p:cNvGrpSpPr/>
          <p:nvPr/>
        </p:nvGrpSpPr>
        <p:grpSpPr>
          <a:xfrm>
            <a:off x="6780000" y="2010004"/>
            <a:ext cx="299999" cy="299999"/>
            <a:chOff x="0" y="0"/>
            <a:chExt cx="399999" cy="399999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6871440" y="2436200"/>
            <a:ext cx="4407122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sin_month, cos_month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6871440" y="2856671"/>
            <a:ext cx="1091545" cy="10191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Cyclic encoding preserves Jan-Dec adjacency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8594798" y="1867547"/>
            <a:ext cx="3354915" cy="3354915"/>
            <a:chOff x="0" y="0"/>
            <a:chExt cx="2066671" cy="2066671"/>
          </a:xfrm>
        </p:grpSpPr>
        <p:sp>
          <p:nvSpPr>
            <p:cNvPr id="29" name="Freeform 29" descr="n_sincos_circle.png"/>
            <p:cNvSpPr/>
            <p:nvPr/>
          </p:nvSpPr>
          <p:spPr>
            <a:xfrm>
              <a:off x="0" y="0"/>
              <a:ext cx="2066671" cy="2066671"/>
            </a:xfrm>
            <a:custGeom>
              <a:avLst/>
              <a:gdLst/>
              <a:ahLst/>
              <a:cxnLst/>
              <a:rect l="l" t="t" r="r" b="b"/>
              <a:pathLst>
                <a:path w="2066671" h="2066671">
                  <a:moveTo>
                    <a:pt x="0" y="0"/>
                  </a:moveTo>
                  <a:lnTo>
                    <a:pt x="2066671" y="0"/>
                  </a:lnTo>
                  <a:lnTo>
                    <a:pt x="2066671" y="2066671"/>
                  </a:lnTo>
                  <a:lnTo>
                    <a:pt x="0" y="206667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0" name="Group 30"/>
          <p:cNvGrpSpPr/>
          <p:nvPr/>
        </p:nvGrpSpPr>
        <p:grpSpPr>
          <a:xfrm>
            <a:off x="11799999" y="1750000"/>
            <a:ext cx="5149996" cy="3099997"/>
            <a:chOff x="0" y="0"/>
            <a:chExt cx="6866661" cy="4133329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2" name="Group 32"/>
          <p:cNvGrpSpPr/>
          <p:nvPr/>
        </p:nvGrpSpPr>
        <p:grpSpPr>
          <a:xfrm>
            <a:off x="12079996" y="2010004"/>
            <a:ext cx="299999" cy="299999"/>
            <a:chOff x="0" y="0"/>
            <a:chExt cx="399999" cy="399999"/>
          </a:xfrm>
        </p:grpSpPr>
        <p:sp>
          <p:nvSpPr>
            <p:cNvPr id="33" name="Freeform 33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4" name="TextBox 34"/>
          <p:cNvSpPr txBox="1"/>
          <p:nvPr/>
        </p:nvSpPr>
        <p:spPr>
          <a:xfrm>
            <a:off x="12171436" y="2436200"/>
            <a:ext cx="4407122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Season (wet/dry)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12171436" y="2856671"/>
            <a:ext cx="4407122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Nov-Apr indicator, cited link to crime incidence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12079996" y="3422117"/>
            <a:ext cx="4696664" cy="1227883"/>
            <a:chOff x="0" y="0"/>
            <a:chExt cx="6120003" cy="1599997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6120003" cy="1600073"/>
            </a:xfrm>
            <a:custGeom>
              <a:avLst/>
              <a:gdLst/>
              <a:ahLst/>
              <a:cxnLst/>
              <a:rect l="l" t="t" r="r" b="b"/>
              <a:pathLst>
                <a:path w="6120003" h="1600073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lnTo>
                    <a:pt x="5879973" y="0"/>
                  </a:lnTo>
                  <a:cubicBezTo>
                    <a:pt x="6012561" y="0"/>
                    <a:pt x="6120003" y="107442"/>
                    <a:pt x="6120003" y="240030"/>
                  </a:cubicBezTo>
                  <a:lnTo>
                    <a:pt x="6120003" y="1360043"/>
                  </a:lnTo>
                  <a:cubicBezTo>
                    <a:pt x="6120003" y="1492631"/>
                    <a:pt x="6012561" y="1600073"/>
                    <a:pt x="5879973" y="1600073"/>
                  </a:cubicBezTo>
                  <a:lnTo>
                    <a:pt x="240030" y="1600073"/>
                  </a:lnTo>
                  <a:cubicBezTo>
                    <a:pt x="107442" y="1600073"/>
                    <a:pt x="0" y="1492631"/>
                    <a:pt x="0" y="1360043"/>
                  </a:cubicBezTo>
                  <a:close/>
                </a:path>
              </a:pathLst>
            </a:custGeom>
            <a:solidFill>
              <a:srgbClr val="3FA593">
                <a:alpha val="1176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38" name="Group 38"/>
          <p:cNvGrpSpPr/>
          <p:nvPr/>
        </p:nvGrpSpPr>
        <p:grpSpPr>
          <a:xfrm>
            <a:off x="12230005" y="3530003"/>
            <a:ext cx="4290003" cy="1330794"/>
            <a:chOff x="0" y="0"/>
            <a:chExt cx="5720004" cy="1774392"/>
          </a:xfrm>
        </p:grpSpPr>
        <p:sp>
          <p:nvSpPr>
            <p:cNvPr id="39" name="Freeform 39"/>
            <p:cNvSpPr/>
            <p:nvPr/>
          </p:nvSpPr>
          <p:spPr>
            <a:xfrm>
              <a:off x="0" y="0"/>
              <a:ext cx="5720000" cy="1774395"/>
            </a:xfrm>
            <a:custGeom>
              <a:avLst/>
              <a:gdLst/>
              <a:ahLst/>
              <a:cxnLst/>
              <a:rect l="l" t="t" r="r" b="b"/>
              <a:pathLst>
                <a:path w="5720000" h="1774395">
                  <a:moveTo>
                    <a:pt x="0" y="0"/>
                  </a:moveTo>
                  <a:lnTo>
                    <a:pt x="5720000" y="0"/>
                  </a:lnTo>
                  <a:lnTo>
                    <a:pt x="5720000" y="1774395"/>
                  </a:lnTo>
                  <a:lnTo>
                    <a:pt x="0" y="177439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3362" b="-22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40" name="TextBox 40"/>
            <p:cNvSpPr txBox="1"/>
            <p:nvPr/>
          </p:nvSpPr>
          <p:spPr>
            <a:xfrm>
              <a:off x="0" y="-19050"/>
              <a:ext cx="5720004" cy="17934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r>
                <a:rPr lang="en-US" sz="1349" u="none" strike="noStrike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Wet 398.7 vs dry 403.1/100k (~1%) - weak alone. Basis: Blakeslee et al. (2018)</a:t>
              </a: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endParaRPr lang="en-US" sz="1349" u="none" strike="noStrike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r>
                <a:rPr lang="en-US" sz="1349" u="none" strike="noStrike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Nov-Apr months and this comparison come from the code</a:t>
              </a: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endParaRPr lang="en-US" sz="1349" u="none" strike="noStrike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41" name="Group 41"/>
          <p:cNvGrpSpPr/>
          <p:nvPr/>
        </p:nvGrpSpPr>
        <p:grpSpPr>
          <a:xfrm>
            <a:off x="1199998" y="5099999"/>
            <a:ext cx="5149996" cy="3099997"/>
            <a:chOff x="0" y="0"/>
            <a:chExt cx="6866661" cy="4133329"/>
          </a:xfrm>
        </p:grpSpPr>
        <p:sp>
          <p:nvSpPr>
            <p:cNvPr id="42" name="Freeform 42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3" name="Group 43"/>
          <p:cNvGrpSpPr/>
          <p:nvPr/>
        </p:nvGrpSpPr>
        <p:grpSpPr>
          <a:xfrm>
            <a:off x="1480004" y="5360003"/>
            <a:ext cx="299999" cy="299999"/>
            <a:chOff x="0" y="0"/>
            <a:chExt cx="399999" cy="399999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1571444" y="5786199"/>
            <a:ext cx="4407122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lag1, lag3, lag12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571444" y="6206671"/>
            <a:ext cx="4407122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Short / quarterly / yearly dependence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1480004" y="6757310"/>
            <a:ext cx="4753299" cy="1242689"/>
            <a:chOff x="0" y="0"/>
            <a:chExt cx="6120003" cy="1599997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6120003" cy="1600073"/>
            </a:xfrm>
            <a:custGeom>
              <a:avLst/>
              <a:gdLst/>
              <a:ahLst/>
              <a:cxnLst/>
              <a:rect l="l" t="t" r="r" b="b"/>
              <a:pathLst>
                <a:path w="6120003" h="1600073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lnTo>
                    <a:pt x="5879973" y="0"/>
                  </a:lnTo>
                  <a:cubicBezTo>
                    <a:pt x="6012561" y="0"/>
                    <a:pt x="6120003" y="107442"/>
                    <a:pt x="6120003" y="240030"/>
                  </a:cubicBezTo>
                  <a:lnTo>
                    <a:pt x="6120003" y="1360043"/>
                  </a:lnTo>
                  <a:cubicBezTo>
                    <a:pt x="6120003" y="1492631"/>
                    <a:pt x="6012561" y="1600073"/>
                    <a:pt x="5879973" y="1600073"/>
                  </a:cubicBezTo>
                  <a:lnTo>
                    <a:pt x="240030" y="1600073"/>
                  </a:lnTo>
                  <a:cubicBezTo>
                    <a:pt x="107442" y="1600073"/>
                    <a:pt x="0" y="1492631"/>
                    <a:pt x="0" y="1360043"/>
                  </a:cubicBezTo>
                  <a:close/>
                </a:path>
              </a:pathLst>
            </a:custGeom>
            <a:solidFill>
              <a:srgbClr val="E8829E">
                <a:alpha val="1176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9" name="Group 49"/>
          <p:cNvGrpSpPr/>
          <p:nvPr/>
        </p:nvGrpSpPr>
        <p:grpSpPr>
          <a:xfrm>
            <a:off x="1630004" y="6880003"/>
            <a:ext cx="4290003" cy="1330794"/>
            <a:chOff x="0" y="0"/>
            <a:chExt cx="5720004" cy="1774392"/>
          </a:xfrm>
        </p:grpSpPr>
        <p:sp>
          <p:nvSpPr>
            <p:cNvPr id="50" name="Freeform 50"/>
            <p:cNvSpPr/>
            <p:nvPr/>
          </p:nvSpPr>
          <p:spPr>
            <a:xfrm>
              <a:off x="0" y="0"/>
              <a:ext cx="5720000" cy="1774395"/>
            </a:xfrm>
            <a:custGeom>
              <a:avLst/>
              <a:gdLst/>
              <a:ahLst/>
              <a:cxnLst/>
              <a:rect l="l" t="t" r="r" b="b"/>
              <a:pathLst>
                <a:path w="5720000" h="1774395">
                  <a:moveTo>
                    <a:pt x="0" y="0"/>
                  </a:moveTo>
                  <a:lnTo>
                    <a:pt x="5720000" y="0"/>
                  </a:lnTo>
                  <a:lnTo>
                    <a:pt x="5720000" y="1774395"/>
                  </a:lnTo>
                  <a:lnTo>
                    <a:pt x="0" y="177439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3362" b="-22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51" name="TextBox 51"/>
            <p:cNvSpPr txBox="1"/>
            <p:nvPr/>
          </p:nvSpPr>
          <p:spPr>
            <a:xfrm>
              <a:off x="0" y="-19050"/>
              <a:ext cx="5720004" cy="17934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r>
                <a:rPr lang="en-US" sz="1349" u="none" strike="noStrike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Autocorrelation: lag1=0.90 · lag3=0.84 · lag12=0.84</a:t>
              </a: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endParaRPr lang="en-US" sz="1349" u="none" strike="noStrike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r>
                <a:rPr lang="en-US" sz="1349" u="none" strike="noStrike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panel (correlation between rate and each lag)</a:t>
              </a: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endParaRPr lang="en-US" sz="1349" u="none" strike="noStrike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grpSp>
        <p:nvGrpSpPr>
          <p:cNvPr id="52" name="Group 52"/>
          <p:cNvGrpSpPr/>
          <p:nvPr/>
        </p:nvGrpSpPr>
        <p:grpSpPr>
          <a:xfrm>
            <a:off x="6500003" y="5099999"/>
            <a:ext cx="5149996" cy="3099997"/>
            <a:chOff x="0" y="0"/>
            <a:chExt cx="6866661" cy="4133329"/>
          </a:xfrm>
        </p:grpSpPr>
        <p:sp>
          <p:nvSpPr>
            <p:cNvPr id="53" name="Freeform 53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54" name="Group 54"/>
          <p:cNvGrpSpPr/>
          <p:nvPr/>
        </p:nvGrpSpPr>
        <p:grpSpPr>
          <a:xfrm>
            <a:off x="6780000" y="5360003"/>
            <a:ext cx="299999" cy="299999"/>
            <a:chOff x="0" y="0"/>
            <a:chExt cx="399999" cy="399999"/>
          </a:xfrm>
        </p:grpSpPr>
        <p:sp>
          <p:nvSpPr>
            <p:cNvPr id="55" name="Freeform 55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6" name="TextBox 56"/>
          <p:cNvSpPr txBox="1"/>
          <p:nvPr/>
        </p:nvSpPr>
        <p:spPr>
          <a:xfrm>
            <a:off x="6871440" y="5786199"/>
            <a:ext cx="4407122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PCA (diagnostic only)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6871440" y="6206671"/>
            <a:ext cx="1102574" cy="1013008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lang="en-US" sz="133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Condenses correlated age bands into components</a:t>
            </a:r>
          </a:p>
        </p:txBody>
      </p:sp>
      <p:grpSp>
        <p:nvGrpSpPr>
          <p:cNvPr id="58" name="Group 58"/>
          <p:cNvGrpSpPr/>
          <p:nvPr/>
        </p:nvGrpSpPr>
        <p:grpSpPr>
          <a:xfrm>
            <a:off x="8907804" y="5712890"/>
            <a:ext cx="2819697" cy="2416182"/>
            <a:chOff x="0" y="0"/>
            <a:chExt cx="2334006" cy="1999996"/>
          </a:xfrm>
        </p:grpSpPr>
        <p:sp>
          <p:nvSpPr>
            <p:cNvPr id="59" name="Freeform 59" descr="n_pca_variance.png"/>
            <p:cNvSpPr/>
            <p:nvPr/>
          </p:nvSpPr>
          <p:spPr>
            <a:xfrm>
              <a:off x="0" y="0"/>
              <a:ext cx="2334006" cy="1999996"/>
            </a:xfrm>
            <a:custGeom>
              <a:avLst/>
              <a:gdLst/>
              <a:ahLst/>
              <a:cxnLst/>
              <a:rect l="l" t="t" r="r" b="b"/>
              <a:pathLst>
                <a:path w="2334006" h="1999996">
                  <a:moveTo>
                    <a:pt x="0" y="0"/>
                  </a:moveTo>
                  <a:lnTo>
                    <a:pt x="2334006" y="0"/>
                  </a:lnTo>
                  <a:lnTo>
                    <a:pt x="2334006" y="1999996"/>
                  </a:lnTo>
                  <a:lnTo>
                    <a:pt x="0" y="199999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t="-13" b="-1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0" name="Group 60"/>
          <p:cNvGrpSpPr/>
          <p:nvPr/>
        </p:nvGrpSpPr>
        <p:grpSpPr>
          <a:xfrm>
            <a:off x="11799999" y="5099999"/>
            <a:ext cx="5149996" cy="3099997"/>
            <a:chOff x="0" y="0"/>
            <a:chExt cx="6866661" cy="4133329"/>
          </a:xfrm>
        </p:grpSpPr>
        <p:sp>
          <p:nvSpPr>
            <p:cNvPr id="61" name="Freeform 61"/>
            <p:cNvSpPr/>
            <p:nvPr/>
          </p:nvSpPr>
          <p:spPr>
            <a:xfrm>
              <a:off x="0" y="0"/>
              <a:ext cx="6866763" cy="4133342"/>
            </a:xfrm>
            <a:custGeom>
              <a:avLst/>
              <a:gdLst/>
              <a:ahLst/>
              <a:cxnLst/>
              <a:rect l="l" t="t" r="r" b="b"/>
              <a:pathLst>
                <a:path w="6866763" h="4133342">
                  <a:moveTo>
                    <a:pt x="0" y="330708"/>
                  </a:moveTo>
                  <a:cubicBezTo>
                    <a:pt x="0" y="148082"/>
                    <a:pt x="148082" y="0"/>
                    <a:pt x="330708" y="0"/>
                  </a:cubicBezTo>
                  <a:lnTo>
                    <a:pt x="6536055" y="0"/>
                  </a:lnTo>
                  <a:cubicBezTo>
                    <a:pt x="6718681" y="0"/>
                    <a:pt x="6866763" y="148082"/>
                    <a:pt x="6866763" y="330708"/>
                  </a:cubicBezTo>
                  <a:lnTo>
                    <a:pt x="6866763" y="3802634"/>
                  </a:lnTo>
                  <a:cubicBezTo>
                    <a:pt x="6866763" y="3985260"/>
                    <a:pt x="6718681" y="4133342"/>
                    <a:pt x="6536055" y="4133342"/>
                  </a:cubicBezTo>
                  <a:lnTo>
                    <a:pt x="330708" y="4133342"/>
                  </a:lnTo>
                  <a:cubicBezTo>
                    <a:pt x="148082" y="4133342"/>
                    <a:pt x="0" y="3985260"/>
                    <a:pt x="0" y="3802634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2" name="Group 62"/>
          <p:cNvGrpSpPr/>
          <p:nvPr/>
        </p:nvGrpSpPr>
        <p:grpSpPr>
          <a:xfrm>
            <a:off x="12079996" y="5360003"/>
            <a:ext cx="299999" cy="299999"/>
            <a:chOff x="0" y="0"/>
            <a:chExt cx="399999" cy="399999"/>
          </a:xfrm>
        </p:grpSpPr>
        <p:sp>
          <p:nvSpPr>
            <p:cNvPr id="63" name="Freeform 63"/>
            <p:cNvSpPr/>
            <p:nvPr/>
          </p:nvSpPr>
          <p:spPr>
            <a:xfrm>
              <a:off x="0" y="0"/>
              <a:ext cx="400050" cy="400050"/>
            </a:xfrm>
            <a:custGeom>
              <a:avLst/>
              <a:gdLst/>
              <a:ahLst/>
              <a:cxnLst/>
              <a:rect l="l" t="t" r="r" b="b"/>
              <a:pathLst>
                <a:path w="400050" h="400050">
                  <a:moveTo>
                    <a:pt x="0" y="200025"/>
                  </a:moveTo>
                  <a:cubicBezTo>
                    <a:pt x="0" y="89535"/>
                    <a:pt x="89535" y="0"/>
                    <a:pt x="200025" y="0"/>
                  </a:cubicBezTo>
                  <a:cubicBezTo>
                    <a:pt x="310515" y="0"/>
                    <a:pt x="400050" y="89535"/>
                    <a:pt x="400050" y="200025"/>
                  </a:cubicBezTo>
                  <a:cubicBezTo>
                    <a:pt x="400050" y="310515"/>
                    <a:pt x="310515" y="400050"/>
                    <a:pt x="200025" y="400050"/>
                  </a:cubicBezTo>
                  <a:cubicBezTo>
                    <a:pt x="89535" y="400050"/>
                    <a:pt x="0" y="310515"/>
                    <a:pt x="0" y="200025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64" name="TextBox 64"/>
          <p:cNvSpPr txBox="1"/>
          <p:nvPr/>
        </p:nvSpPr>
        <p:spPr>
          <a:xfrm>
            <a:off x="12171436" y="5786199"/>
            <a:ext cx="4407122" cy="31808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60"/>
              </a:lnSpc>
            </a:pPr>
            <a:r>
              <a:rPr lang="en-US" sz="15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alcohol_per_capita</a:t>
            </a:r>
          </a:p>
        </p:txBody>
      </p:sp>
      <p:sp>
        <p:nvSpPr>
          <p:cNvPr id="65" name="TextBox 65"/>
          <p:cNvSpPr txBox="1"/>
          <p:nvPr/>
        </p:nvSpPr>
        <p:spPr>
          <a:xfrm>
            <a:off x="12171436" y="6206671"/>
            <a:ext cx="4407122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Per-capita PAC — fair cross-region comparison</a:t>
            </a:r>
          </a:p>
        </p:txBody>
      </p:sp>
      <p:grpSp>
        <p:nvGrpSpPr>
          <p:cNvPr id="66" name="Group 66"/>
          <p:cNvGrpSpPr/>
          <p:nvPr/>
        </p:nvGrpSpPr>
        <p:grpSpPr>
          <a:xfrm>
            <a:off x="12048046" y="6639118"/>
            <a:ext cx="4696664" cy="1479074"/>
            <a:chOff x="0" y="0"/>
            <a:chExt cx="5654066" cy="1780579"/>
          </a:xfrm>
        </p:grpSpPr>
        <p:sp>
          <p:nvSpPr>
            <p:cNvPr id="67" name="Freeform 67"/>
            <p:cNvSpPr/>
            <p:nvPr/>
          </p:nvSpPr>
          <p:spPr>
            <a:xfrm>
              <a:off x="0" y="0"/>
              <a:ext cx="5654065" cy="1780655"/>
            </a:xfrm>
            <a:custGeom>
              <a:avLst/>
              <a:gdLst/>
              <a:ahLst/>
              <a:cxnLst/>
              <a:rect l="l" t="t" r="r" b="b"/>
              <a:pathLst>
                <a:path w="5654065" h="1780655">
                  <a:moveTo>
                    <a:pt x="0" y="267121"/>
                  </a:moveTo>
                  <a:cubicBezTo>
                    <a:pt x="0" y="119568"/>
                    <a:pt x="99262" y="0"/>
                    <a:pt x="221756" y="0"/>
                  </a:cubicBezTo>
                  <a:lnTo>
                    <a:pt x="5432310" y="0"/>
                  </a:lnTo>
                  <a:cubicBezTo>
                    <a:pt x="5554804" y="0"/>
                    <a:pt x="5654065" y="119568"/>
                    <a:pt x="5654065" y="267121"/>
                  </a:cubicBezTo>
                  <a:lnTo>
                    <a:pt x="5654065" y="1513543"/>
                  </a:lnTo>
                  <a:cubicBezTo>
                    <a:pt x="5654065" y="1661096"/>
                    <a:pt x="5554804" y="1780655"/>
                    <a:pt x="5432310" y="1780655"/>
                  </a:cubicBezTo>
                  <a:lnTo>
                    <a:pt x="221756" y="1780655"/>
                  </a:lnTo>
                  <a:cubicBezTo>
                    <a:pt x="99262" y="1780655"/>
                    <a:pt x="0" y="1661096"/>
                    <a:pt x="0" y="1513543"/>
                  </a:cubicBezTo>
                  <a:close/>
                </a:path>
              </a:pathLst>
            </a:custGeom>
            <a:solidFill>
              <a:srgbClr val="3FA593">
                <a:alpha val="1176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8" name="Group 68"/>
          <p:cNvGrpSpPr/>
          <p:nvPr/>
        </p:nvGrpSpPr>
        <p:grpSpPr>
          <a:xfrm>
            <a:off x="12251376" y="6798278"/>
            <a:ext cx="4290003" cy="1330794"/>
            <a:chOff x="0" y="0"/>
            <a:chExt cx="5720004" cy="1774392"/>
          </a:xfrm>
        </p:grpSpPr>
        <p:sp>
          <p:nvSpPr>
            <p:cNvPr id="69" name="Freeform 69"/>
            <p:cNvSpPr/>
            <p:nvPr/>
          </p:nvSpPr>
          <p:spPr>
            <a:xfrm>
              <a:off x="0" y="0"/>
              <a:ext cx="5720000" cy="1774395"/>
            </a:xfrm>
            <a:custGeom>
              <a:avLst/>
              <a:gdLst/>
              <a:ahLst/>
              <a:cxnLst/>
              <a:rect l="l" t="t" r="r" b="b"/>
              <a:pathLst>
                <a:path w="5720000" h="1774395">
                  <a:moveTo>
                    <a:pt x="0" y="0"/>
                  </a:moveTo>
                  <a:lnTo>
                    <a:pt x="5720000" y="0"/>
                  </a:lnTo>
                  <a:lnTo>
                    <a:pt x="5720000" y="1774395"/>
                  </a:lnTo>
                  <a:lnTo>
                    <a:pt x="0" y="1774395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t="-23362" b="-2262"/>
              </a:stretch>
            </a:blipFill>
          </p:spPr>
          <p:txBody>
            <a:bodyPr/>
            <a:lstStyle/>
            <a:p>
              <a:endParaRPr lang="en-US"/>
            </a:p>
          </p:txBody>
        </p:sp>
        <p:sp>
          <p:nvSpPr>
            <p:cNvPr id="70" name="TextBox 70"/>
            <p:cNvSpPr txBox="1"/>
            <p:nvPr/>
          </p:nvSpPr>
          <p:spPr>
            <a:xfrm>
              <a:off x="0" y="-19050"/>
              <a:ext cx="5720004" cy="1793442"/>
            </a:xfrm>
            <a:prstGeom prst="rect">
              <a:avLst/>
            </a:prstGeom>
          </p:spPr>
          <p:txBody>
            <a:bodyPr lIns="0" tIns="0" rIns="0" bIns="0" rtlCol="0" anchor="ctr"/>
            <a:lstStyle/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r>
                <a:rPr lang="en-US" sz="1349" u="none" strike="noStrike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Total PAC declining: 2.43M L (2023) → 2.28M L (2025)</a:t>
              </a: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endParaRPr lang="en-US" sz="1349" u="none" strike="noStrike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r>
                <a:rPr lang="en-US" sz="1349" u="none" strike="noStrike">
                  <a:solidFill>
                    <a:srgbClr val="7A6F91"/>
                  </a:solidFill>
                  <a:latin typeface="Poppins"/>
                  <a:ea typeface="Poppins"/>
                  <a:cs typeface="Poppins"/>
                  <a:sym typeface="Poppins"/>
                </a:rPr>
                <a:t>Computed directly from the raw wholesale-alcohol XLSX files </a:t>
              </a:r>
            </a:p>
            <a:p>
              <a:pPr marL="0" lvl="0" indent="0" algn="l">
                <a:lnSpc>
                  <a:spcPts val="1619"/>
                </a:lnSpc>
                <a:spcBef>
                  <a:spcPct val="0"/>
                </a:spcBef>
              </a:pPr>
              <a:endParaRPr lang="en-US" sz="1349" u="none" strike="noStrike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endParaRPr>
            </a:p>
          </p:txBody>
        </p:sp>
      </p:grpSp>
      <p:sp>
        <p:nvSpPr>
          <p:cNvPr id="71" name="TextBox 71"/>
          <p:cNvSpPr txBox="1"/>
          <p:nvPr/>
        </p:nvSpPr>
        <p:spPr>
          <a:xfrm>
            <a:off x="6871440" y="7500422"/>
            <a:ext cx="1683870" cy="6286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marL="0" lvl="0" indent="0" algn="l">
              <a:lnSpc>
                <a:spcPts val="1240"/>
              </a:lnSpc>
              <a:spcBef>
                <a:spcPct val="0"/>
              </a:spcBef>
            </a:pPr>
            <a:r>
              <a:rPr lang="en-US" sz="103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* </a:t>
            </a:r>
            <a:r>
              <a:rPr lang="en-US" sz="1033" u="none" strike="noStrike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Diagnostic only - not merged into model features (candidate for future work)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637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How We Validated Without Leaking Future Data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1199998" y="1750000"/>
            <a:ext cx="9700003" cy="950004"/>
            <a:chOff x="0" y="0"/>
            <a:chExt cx="12933337" cy="1266673"/>
          </a:xfrm>
        </p:grpSpPr>
        <p:sp>
          <p:nvSpPr>
            <p:cNvPr id="12" name="Freeform 12"/>
            <p:cNvSpPr/>
            <p:nvPr/>
          </p:nvSpPr>
          <p:spPr>
            <a:xfrm>
              <a:off x="0" y="0"/>
              <a:ext cx="12933299" cy="1266571"/>
            </a:xfrm>
            <a:custGeom>
              <a:avLst/>
              <a:gdLst/>
              <a:ahLst/>
              <a:cxnLst/>
              <a:rect l="l" t="t" r="r" b="b"/>
              <a:pathLst>
                <a:path w="12933299" h="1266571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lnTo>
                    <a:pt x="12756007" y="0"/>
                  </a:lnTo>
                  <a:cubicBezTo>
                    <a:pt x="12853924" y="0"/>
                    <a:pt x="12933299" y="79375"/>
                    <a:pt x="12933299" y="177292"/>
                  </a:cubicBezTo>
                  <a:lnTo>
                    <a:pt x="12933299" y="1089279"/>
                  </a:lnTo>
                  <a:cubicBezTo>
                    <a:pt x="12933299" y="1187196"/>
                    <a:pt x="12853924" y="1266571"/>
                    <a:pt x="12756007" y="1266571"/>
                  </a:cubicBezTo>
                  <a:lnTo>
                    <a:pt x="177292" y="1266571"/>
                  </a:lnTo>
                  <a:cubicBezTo>
                    <a:pt x="79375" y="1266698"/>
                    <a:pt x="0" y="1187323"/>
                    <a:pt x="0" y="1089279"/>
                  </a:cubicBezTo>
                  <a:close/>
                </a:path>
              </a:pathLst>
            </a:custGeom>
            <a:solidFill>
              <a:srgbClr val="FFFFFF">
                <a:alpha val="7725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3" name="TextBox 13"/>
          <p:cNvSpPr txBox="1"/>
          <p:nvPr/>
        </p:nvSpPr>
        <p:spPr>
          <a:xfrm>
            <a:off x="1541440" y="1896666"/>
            <a:ext cx="4317121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TRAIN . 2015-2022</a:t>
            </a:r>
          </a:p>
        </p:txBody>
      </p:sp>
      <p:sp>
        <p:nvSpPr>
          <p:cNvPr id="14" name="TextBox 14"/>
          <p:cNvSpPr txBox="1"/>
          <p:nvPr/>
        </p:nvSpPr>
        <p:spPr>
          <a:xfrm>
            <a:off x="1541440" y="2286191"/>
            <a:ext cx="4317121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504 rows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7550001" y="1750000"/>
            <a:ext cx="3350000" cy="950004"/>
            <a:chOff x="0" y="0"/>
            <a:chExt cx="4466666" cy="1266673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4466590" cy="1266571"/>
            </a:xfrm>
            <a:custGeom>
              <a:avLst/>
              <a:gdLst/>
              <a:ahLst/>
              <a:cxnLst/>
              <a:rect l="l" t="t" r="r" b="b"/>
              <a:pathLst>
                <a:path w="4466590" h="1266571">
                  <a:moveTo>
                    <a:pt x="0" y="177292"/>
                  </a:moveTo>
                  <a:cubicBezTo>
                    <a:pt x="0" y="79375"/>
                    <a:pt x="79375" y="0"/>
                    <a:pt x="177292" y="0"/>
                  </a:cubicBezTo>
                  <a:lnTo>
                    <a:pt x="4289298" y="0"/>
                  </a:lnTo>
                  <a:cubicBezTo>
                    <a:pt x="4387215" y="0"/>
                    <a:pt x="4466590" y="79375"/>
                    <a:pt x="4466590" y="177292"/>
                  </a:cubicBezTo>
                  <a:lnTo>
                    <a:pt x="4466590" y="1089279"/>
                  </a:lnTo>
                  <a:cubicBezTo>
                    <a:pt x="4466590" y="1187196"/>
                    <a:pt x="4387215" y="1266571"/>
                    <a:pt x="4289298" y="1266571"/>
                  </a:cubicBezTo>
                  <a:lnTo>
                    <a:pt x="177292" y="1266571"/>
                  </a:lnTo>
                  <a:cubicBezTo>
                    <a:pt x="79375" y="1266698"/>
                    <a:pt x="0" y="1187323"/>
                    <a:pt x="0" y="1089279"/>
                  </a:cubicBezTo>
                  <a:close/>
                </a:path>
              </a:pathLst>
            </a:custGeom>
            <a:solidFill>
              <a:srgbClr val="E9A25E">
                <a:alpha val="8078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7791440" y="1896666"/>
            <a:ext cx="2917117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TEST . 2023-2025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7791440" y="2286191"/>
            <a:ext cx="2917117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FFFFFF"/>
                </a:solidFill>
                <a:latin typeface="Poppins"/>
                <a:ea typeface="Poppins"/>
                <a:cs typeface="Poppins"/>
                <a:sym typeface="Poppins"/>
              </a:rPr>
              <a:t>192 rows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91438" y="3026674"/>
            <a:ext cx="44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Leakage controls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1199998" y="3520002"/>
            <a:ext cx="119996" cy="119996"/>
            <a:chOff x="0" y="0"/>
            <a:chExt cx="159995" cy="159995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1541440" y="3476673"/>
            <a:ext cx="44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Temporal cut-off, no random split</a:t>
            </a:r>
          </a:p>
        </p:txBody>
      </p:sp>
      <p:grpSp>
        <p:nvGrpSpPr>
          <p:cNvPr id="23" name="Group 23"/>
          <p:cNvGrpSpPr/>
          <p:nvPr/>
        </p:nvGrpSpPr>
        <p:grpSpPr>
          <a:xfrm>
            <a:off x="1199998" y="3949998"/>
            <a:ext cx="119996" cy="119996"/>
            <a:chOff x="0" y="0"/>
            <a:chExt cx="159995" cy="159995"/>
          </a:xfrm>
        </p:grpSpPr>
        <p:sp>
          <p:nvSpPr>
            <p:cNvPr id="24" name="Freeform 24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5" name="TextBox 25"/>
          <p:cNvSpPr txBox="1"/>
          <p:nvPr/>
        </p:nvSpPr>
        <p:spPr>
          <a:xfrm>
            <a:off x="1541440" y="3906669"/>
            <a:ext cx="44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TimeSeriesSplit cross-validation</a:t>
            </a:r>
          </a:p>
        </p:txBody>
      </p:sp>
      <p:grpSp>
        <p:nvGrpSpPr>
          <p:cNvPr id="26" name="Group 26"/>
          <p:cNvGrpSpPr/>
          <p:nvPr/>
        </p:nvGrpSpPr>
        <p:grpSpPr>
          <a:xfrm>
            <a:off x="1199998" y="4380005"/>
            <a:ext cx="119996" cy="119996"/>
            <a:chOff x="0" y="0"/>
            <a:chExt cx="159995" cy="159995"/>
          </a:xfrm>
        </p:grpSpPr>
        <p:sp>
          <p:nvSpPr>
            <p:cNvPr id="27" name="Freeform 27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8" name="TextBox 28"/>
          <p:cNvSpPr txBox="1"/>
          <p:nvPr/>
        </p:nvSpPr>
        <p:spPr>
          <a:xfrm>
            <a:off x="1541440" y="4336666"/>
            <a:ext cx="44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Rolling-origin backtest (evaluation.py)</a:t>
            </a:r>
          </a:p>
        </p:txBody>
      </p:sp>
      <p:grpSp>
        <p:nvGrpSpPr>
          <p:cNvPr id="29" name="Group 29"/>
          <p:cNvGrpSpPr/>
          <p:nvPr/>
        </p:nvGrpSpPr>
        <p:grpSpPr>
          <a:xfrm>
            <a:off x="1199998" y="4810001"/>
            <a:ext cx="119996" cy="119996"/>
            <a:chOff x="0" y="0"/>
            <a:chExt cx="159995" cy="159995"/>
          </a:xfrm>
        </p:grpSpPr>
        <p:sp>
          <p:nvSpPr>
            <p:cNvPr id="30" name="Freeform 30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1" name="TextBox 31"/>
          <p:cNvSpPr txBox="1"/>
          <p:nvPr/>
        </p:nvSpPr>
        <p:spPr>
          <a:xfrm>
            <a:off x="1541440" y="4766672"/>
            <a:ext cx="44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Last 6 months excluded from training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6191440" y="3026674"/>
            <a:ext cx="44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Baselines tested (evaluation.py)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6100000" y="3520002"/>
            <a:ext cx="119996" cy="119996"/>
            <a:chOff x="0" y="0"/>
            <a:chExt cx="159995" cy="159995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6441443" y="3476673"/>
            <a:ext cx="44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Seasonal naive</a:t>
            </a:r>
          </a:p>
        </p:txBody>
      </p:sp>
      <p:grpSp>
        <p:nvGrpSpPr>
          <p:cNvPr id="36" name="Group 36"/>
          <p:cNvGrpSpPr/>
          <p:nvPr/>
        </p:nvGrpSpPr>
        <p:grpSpPr>
          <a:xfrm>
            <a:off x="6100000" y="3949998"/>
            <a:ext cx="119996" cy="119996"/>
            <a:chOff x="0" y="0"/>
            <a:chExt cx="159995" cy="159995"/>
          </a:xfrm>
        </p:grpSpPr>
        <p:sp>
          <p:nvSpPr>
            <p:cNvPr id="37" name="Freeform 37"/>
            <p:cNvSpPr/>
            <p:nvPr/>
          </p:nvSpPr>
          <p:spPr>
            <a:xfrm>
              <a:off x="0" y="0"/>
              <a:ext cx="160020" cy="160020"/>
            </a:xfrm>
            <a:custGeom>
              <a:avLst/>
              <a:gdLst/>
              <a:ahLst/>
              <a:cxnLst/>
              <a:rect l="l" t="t" r="r" b="b"/>
              <a:pathLst>
                <a:path w="160020" h="160020">
                  <a:moveTo>
                    <a:pt x="0" y="80010"/>
                  </a:moveTo>
                  <a:cubicBezTo>
                    <a:pt x="0" y="35814"/>
                    <a:pt x="35814" y="0"/>
                    <a:pt x="80010" y="0"/>
                  </a:cubicBezTo>
                  <a:cubicBezTo>
                    <a:pt x="124206" y="0"/>
                    <a:pt x="160020" y="35814"/>
                    <a:pt x="160020" y="80010"/>
                  </a:cubicBezTo>
                  <a:cubicBezTo>
                    <a:pt x="160020" y="124206"/>
                    <a:pt x="124206" y="160020"/>
                    <a:pt x="80010" y="160020"/>
                  </a:cubicBezTo>
                  <a:cubicBezTo>
                    <a:pt x="35814" y="160020"/>
                    <a:pt x="0" y="124206"/>
                    <a:pt x="0" y="8001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8" name="TextBox 38"/>
          <p:cNvSpPr txBox="1"/>
          <p:nvPr/>
        </p:nvSpPr>
        <p:spPr>
          <a:xfrm>
            <a:off x="6441443" y="3906669"/>
            <a:ext cx="44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12-month moving average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6191440" y="4436193"/>
            <a:ext cx="4417124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 i="1">
                <a:solidFill>
                  <a:srgbClr val="8B7EC8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-&gt; Model must beat both to be accepted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10900000" y="3045724"/>
            <a:ext cx="7894265" cy="6476824"/>
            <a:chOff x="0" y="0"/>
            <a:chExt cx="7379573" cy="6054546"/>
          </a:xfrm>
        </p:grpSpPr>
        <p:sp>
          <p:nvSpPr>
            <p:cNvPr id="41" name="Freeform 41" descr="n_rolling_schema.png"/>
            <p:cNvSpPr/>
            <p:nvPr/>
          </p:nvSpPr>
          <p:spPr>
            <a:xfrm>
              <a:off x="0" y="0"/>
              <a:ext cx="7379516" cy="6054597"/>
            </a:xfrm>
            <a:custGeom>
              <a:avLst/>
              <a:gdLst/>
              <a:ahLst/>
              <a:cxnLst/>
              <a:rect l="l" t="t" r="r" b="b"/>
              <a:pathLst>
                <a:path w="7379516" h="6054597">
                  <a:moveTo>
                    <a:pt x="0" y="0"/>
                  </a:moveTo>
                  <a:lnTo>
                    <a:pt x="7379516" y="0"/>
                  </a:lnTo>
                  <a:lnTo>
                    <a:pt x="7379516" y="6054597"/>
                  </a:lnTo>
                  <a:lnTo>
                    <a:pt x="0" y="605459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139" r="-14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1291438" y="5176666"/>
            <a:ext cx="9517123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Sanity check: does the split add up?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1199998" y="5600005"/>
            <a:ext cx="3099997" cy="1300001"/>
            <a:chOff x="0" y="0"/>
            <a:chExt cx="4133329" cy="1733334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4133342" cy="1733423"/>
            </a:xfrm>
            <a:custGeom>
              <a:avLst/>
              <a:gdLst/>
              <a:ahLst/>
              <a:cxnLst/>
              <a:rect l="l" t="t" r="r" b="b"/>
              <a:pathLst>
                <a:path w="4133342" h="1733423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1291438" y="5776674"/>
            <a:ext cx="2917117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8B7EC8"/>
                </a:solidFill>
                <a:latin typeface="Poppins Bold"/>
                <a:ea typeface="Poppins Bold"/>
                <a:cs typeface="Poppins Bold"/>
                <a:sym typeface="Poppins Bold"/>
              </a:rPr>
              <a:t>696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1291438" y="6376673"/>
            <a:ext cx="2917117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6 regions × ~116 months</a:t>
            </a:r>
          </a:p>
        </p:txBody>
      </p:sp>
      <p:grpSp>
        <p:nvGrpSpPr>
          <p:cNvPr id="47" name="Group 47"/>
          <p:cNvGrpSpPr/>
          <p:nvPr/>
        </p:nvGrpSpPr>
        <p:grpSpPr>
          <a:xfrm>
            <a:off x="4450004" y="5600005"/>
            <a:ext cx="3099997" cy="1300001"/>
            <a:chOff x="0" y="0"/>
            <a:chExt cx="4133329" cy="1733334"/>
          </a:xfrm>
        </p:grpSpPr>
        <p:sp>
          <p:nvSpPr>
            <p:cNvPr id="48" name="Freeform 48"/>
            <p:cNvSpPr/>
            <p:nvPr/>
          </p:nvSpPr>
          <p:spPr>
            <a:xfrm>
              <a:off x="0" y="0"/>
              <a:ext cx="4133342" cy="1733423"/>
            </a:xfrm>
            <a:custGeom>
              <a:avLst/>
              <a:gdLst/>
              <a:ahLst/>
              <a:cxnLst/>
              <a:rect l="l" t="t" r="r" b="b"/>
              <a:pathLst>
                <a:path w="4133342" h="1733423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9" name="TextBox 49"/>
          <p:cNvSpPr txBox="1"/>
          <p:nvPr/>
        </p:nvSpPr>
        <p:spPr>
          <a:xfrm>
            <a:off x="4541444" y="5776674"/>
            <a:ext cx="2917117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504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4541444" y="6376673"/>
            <a:ext cx="2917117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rows (72%)</a:t>
            </a:r>
          </a:p>
        </p:txBody>
      </p:sp>
      <p:grpSp>
        <p:nvGrpSpPr>
          <p:cNvPr id="51" name="Group 51"/>
          <p:cNvGrpSpPr/>
          <p:nvPr/>
        </p:nvGrpSpPr>
        <p:grpSpPr>
          <a:xfrm>
            <a:off x="7700000" y="5600005"/>
            <a:ext cx="3099997" cy="1300001"/>
            <a:chOff x="0" y="0"/>
            <a:chExt cx="4133329" cy="1733334"/>
          </a:xfrm>
        </p:grpSpPr>
        <p:sp>
          <p:nvSpPr>
            <p:cNvPr id="52" name="Freeform 52"/>
            <p:cNvSpPr/>
            <p:nvPr/>
          </p:nvSpPr>
          <p:spPr>
            <a:xfrm>
              <a:off x="0" y="0"/>
              <a:ext cx="4133342" cy="1733423"/>
            </a:xfrm>
            <a:custGeom>
              <a:avLst/>
              <a:gdLst/>
              <a:ahLst/>
              <a:cxnLst/>
              <a:rect l="l" t="t" r="r" b="b"/>
              <a:pathLst>
                <a:path w="4133342" h="1733423">
                  <a:moveTo>
                    <a:pt x="0" y="242697"/>
                  </a:moveTo>
                  <a:cubicBezTo>
                    <a:pt x="0" y="108585"/>
                    <a:pt x="108585" y="0"/>
                    <a:pt x="242697" y="0"/>
                  </a:cubicBezTo>
                  <a:lnTo>
                    <a:pt x="3890645" y="0"/>
                  </a:lnTo>
                  <a:cubicBezTo>
                    <a:pt x="4024630" y="0"/>
                    <a:pt x="4133342" y="108585"/>
                    <a:pt x="4133342" y="242697"/>
                  </a:cubicBezTo>
                  <a:lnTo>
                    <a:pt x="4133342" y="1490726"/>
                  </a:lnTo>
                  <a:cubicBezTo>
                    <a:pt x="4133342" y="1624711"/>
                    <a:pt x="4024757" y="1733423"/>
                    <a:pt x="3890645" y="1733423"/>
                  </a:cubicBezTo>
                  <a:lnTo>
                    <a:pt x="242697" y="1733423"/>
                  </a:lnTo>
                  <a:cubicBezTo>
                    <a:pt x="108585" y="1733296"/>
                    <a:pt x="0" y="1624711"/>
                    <a:pt x="0" y="1490726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3" name="TextBox 53"/>
          <p:cNvSpPr txBox="1"/>
          <p:nvPr/>
        </p:nvSpPr>
        <p:spPr>
          <a:xfrm>
            <a:off x="7791440" y="5776674"/>
            <a:ext cx="2917117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3120"/>
              </a:lnSpc>
            </a:pPr>
            <a:r>
              <a:rPr lang="en-US" sz="260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192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7791440" y="6376673"/>
            <a:ext cx="2917117" cy="2190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ctr">
              <a:lnSpc>
                <a:spcPts val="1619"/>
              </a:lnSpc>
            </a:pPr>
            <a:r>
              <a:rPr lang="en-US" sz="13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test rows (28%)</a:t>
            </a:r>
          </a:p>
        </p:txBody>
      </p:sp>
      <p:grpSp>
        <p:nvGrpSpPr>
          <p:cNvPr id="55" name="Group 55"/>
          <p:cNvGrpSpPr/>
          <p:nvPr/>
        </p:nvGrpSpPr>
        <p:grpSpPr>
          <a:xfrm>
            <a:off x="1199998" y="7250001"/>
            <a:ext cx="9700003" cy="1600000"/>
            <a:chOff x="0" y="0"/>
            <a:chExt cx="12933337" cy="2133333"/>
          </a:xfrm>
        </p:grpSpPr>
        <p:sp>
          <p:nvSpPr>
            <p:cNvPr id="56" name="Freeform 56"/>
            <p:cNvSpPr/>
            <p:nvPr/>
          </p:nvSpPr>
          <p:spPr>
            <a:xfrm>
              <a:off x="0" y="0"/>
              <a:ext cx="12933426" cy="2133346"/>
            </a:xfrm>
            <a:custGeom>
              <a:avLst/>
              <a:gdLst/>
              <a:ahLst/>
              <a:cxnLst/>
              <a:rect l="l" t="t" r="r" b="b"/>
              <a:pathLst>
                <a:path w="12933426" h="2133346">
                  <a:moveTo>
                    <a:pt x="0" y="213360"/>
                  </a:moveTo>
                  <a:cubicBezTo>
                    <a:pt x="0" y="95504"/>
                    <a:pt x="95504" y="0"/>
                    <a:pt x="213360" y="0"/>
                  </a:cubicBezTo>
                  <a:lnTo>
                    <a:pt x="12720066" y="0"/>
                  </a:lnTo>
                  <a:cubicBezTo>
                    <a:pt x="12837923" y="0"/>
                    <a:pt x="12933426" y="95504"/>
                    <a:pt x="12933426" y="213360"/>
                  </a:cubicBezTo>
                  <a:lnTo>
                    <a:pt x="12933426" y="1919986"/>
                  </a:lnTo>
                  <a:cubicBezTo>
                    <a:pt x="12933426" y="2037842"/>
                    <a:pt x="12837923" y="2133346"/>
                    <a:pt x="12720066" y="2133346"/>
                  </a:cubicBezTo>
                  <a:lnTo>
                    <a:pt x="213360" y="2133346"/>
                  </a:lnTo>
                  <a:cubicBezTo>
                    <a:pt x="95504" y="2133346"/>
                    <a:pt x="0" y="2037842"/>
                    <a:pt x="0" y="1919986"/>
                  </a:cubicBezTo>
                  <a:close/>
                </a:path>
              </a:pathLst>
            </a:custGeom>
            <a:solidFill>
              <a:srgbClr val="FFFFFF">
                <a:alpha val="63922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7" name="TextBox 57"/>
          <p:cNvSpPr txBox="1"/>
          <p:nvPr/>
        </p:nvSpPr>
        <p:spPr>
          <a:xfrm>
            <a:off x="1541440" y="7456199"/>
            <a:ext cx="9017117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4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Expanding-window backtest: 60-month minimum training window, expanding by 3 months per origin, tested at forecast horizons h = 1, 3, 6, and 12 months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637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What the Data Tells Us Before Modelling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487452" y="2749580"/>
            <a:ext cx="8656548" cy="4269230"/>
            <a:chOff x="0" y="0"/>
            <a:chExt cx="10375193" cy="5116830"/>
          </a:xfrm>
        </p:grpSpPr>
        <p:sp>
          <p:nvSpPr>
            <p:cNvPr id="12" name="Freeform 12" descr="n_eda_trend.png"/>
            <p:cNvSpPr/>
            <p:nvPr/>
          </p:nvSpPr>
          <p:spPr>
            <a:xfrm>
              <a:off x="0" y="0"/>
              <a:ext cx="10375218" cy="5116830"/>
            </a:xfrm>
            <a:custGeom>
              <a:avLst/>
              <a:gdLst/>
              <a:ahLst/>
              <a:cxnLst/>
              <a:rect l="l" t="t" r="r" b="b"/>
              <a:pathLst>
                <a:path w="10375218" h="5116830">
                  <a:moveTo>
                    <a:pt x="0" y="0"/>
                  </a:moveTo>
                  <a:lnTo>
                    <a:pt x="10375218" y="0"/>
                  </a:lnTo>
                  <a:lnTo>
                    <a:pt x="10375218" y="5116830"/>
                  </a:lnTo>
                  <a:lnTo>
                    <a:pt x="0" y="5116830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34" b="-3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304828" y="2749580"/>
            <a:ext cx="8582883" cy="3578863"/>
            <a:chOff x="0" y="0"/>
            <a:chExt cx="9727997" cy="4056349"/>
          </a:xfrm>
        </p:grpSpPr>
        <p:sp>
          <p:nvSpPr>
            <p:cNvPr id="14" name="Freeform 14" descr="n_logtransform.png"/>
            <p:cNvSpPr/>
            <p:nvPr/>
          </p:nvSpPr>
          <p:spPr>
            <a:xfrm>
              <a:off x="0" y="0"/>
              <a:ext cx="9727946" cy="4056387"/>
            </a:xfrm>
            <a:custGeom>
              <a:avLst/>
              <a:gdLst/>
              <a:ahLst/>
              <a:cxnLst/>
              <a:rect l="l" t="t" r="r" b="b"/>
              <a:pathLst>
                <a:path w="9727946" h="4056387">
                  <a:moveTo>
                    <a:pt x="0" y="0"/>
                  </a:moveTo>
                  <a:lnTo>
                    <a:pt x="9727946" y="0"/>
                  </a:lnTo>
                  <a:lnTo>
                    <a:pt x="9727946" y="4056387"/>
                  </a:lnTo>
                  <a:lnTo>
                    <a:pt x="0" y="405638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-173" r="-174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291438" y="8676665"/>
            <a:ext cx="7917123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Assault offences have risen since 2020, sharpest in Top End and Big Rivers (+70% and +51%)</a:t>
            </a:r>
          </a:p>
        </p:txBody>
      </p:sp>
      <p:sp>
        <p:nvSpPr>
          <p:cNvPr id="16" name="TextBox 16"/>
          <p:cNvSpPr txBox="1"/>
          <p:nvPr/>
        </p:nvSpPr>
        <p:spPr>
          <a:xfrm>
            <a:off x="9591437" y="8676665"/>
            <a:ext cx="7417118" cy="42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Log transform reduces skew (0.96 -&gt; 0.06) - stabilises the target for linear models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001" y="69999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637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Choosing the Right Feature Set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1438" y="1926669"/>
            <a:ext cx="717118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V1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2150002" y="1920002"/>
            <a:ext cx="4439526" cy="480003"/>
            <a:chOff x="0" y="0"/>
            <a:chExt cx="5919368" cy="640004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5919343" cy="640080"/>
            </a:xfrm>
            <a:custGeom>
              <a:avLst/>
              <a:gdLst/>
              <a:ahLst/>
              <a:cxnLst/>
              <a:rect l="l" t="t" r="r" b="b"/>
              <a:pathLst>
                <a:path w="5919343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5727319" y="0"/>
                  </a:lnTo>
                  <a:cubicBezTo>
                    <a:pt x="5833364" y="0"/>
                    <a:pt x="5919343" y="85979"/>
                    <a:pt x="5919343" y="192024"/>
                  </a:cubicBezTo>
                  <a:lnTo>
                    <a:pt x="5919343" y="448056"/>
                  </a:lnTo>
                  <a:cubicBezTo>
                    <a:pt x="5919343" y="554101"/>
                    <a:pt x="5833364" y="640080"/>
                    <a:pt x="5727319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8078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6830968" y="1956197"/>
            <a:ext cx="2507344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9"/>
              </a:lnSpc>
            </a:pPr>
            <a:r>
              <a:rPr lang="en-US" sz="15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sin/cos month, Season, lag1/3/12</a:t>
            </a:r>
          </a:p>
        </p:txBody>
      </p:sp>
      <p:sp>
        <p:nvSpPr>
          <p:cNvPr id="15" name="TextBox 15"/>
          <p:cNvSpPr txBox="1"/>
          <p:nvPr/>
        </p:nvSpPr>
        <p:spPr>
          <a:xfrm>
            <a:off x="1291438" y="2876674"/>
            <a:ext cx="717118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V2</a:t>
            </a:r>
          </a:p>
        </p:txBody>
      </p:sp>
      <p:grpSp>
        <p:nvGrpSpPr>
          <p:cNvPr id="16" name="Group 16"/>
          <p:cNvGrpSpPr/>
          <p:nvPr/>
        </p:nvGrpSpPr>
        <p:grpSpPr>
          <a:xfrm>
            <a:off x="2150002" y="2869997"/>
            <a:ext cx="3512029" cy="480003"/>
            <a:chOff x="0" y="0"/>
            <a:chExt cx="4682706" cy="640004"/>
          </a:xfrm>
        </p:grpSpPr>
        <p:sp>
          <p:nvSpPr>
            <p:cNvPr id="17" name="Freeform 17"/>
            <p:cNvSpPr/>
            <p:nvPr/>
          </p:nvSpPr>
          <p:spPr>
            <a:xfrm>
              <a:off x="0" y="0"/>
              <a:ext cx="4682744" cy="640080"/>
            </a:xfrm>
            <a:custGeom>
              <a:avLst/>
              <a:gdLst/>
              <a:ahLst/>
              <a:cxnLst/>
              <a:rect l="l" t="t" r="r" b="b"/>
              <a:pathLst>
                <a:path w="4682744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4490720" y="0"/>
                  </a:lnTo>
                  <a:cubicBezTo>
                    <a:pt x="4596765" y="0"/>
                    <a:pt x="4682744" y="85979"/>
                    <a:pt x="4682744" y="192024"/>
                  </a:cubicBezTo>
                  <a:lnTo>
                    <a:pt x="4682744" y="448056"/>
                  </a:lnTo>
                  <a:cubicBezTo>
                    <a:pt x="4682744" y="554101"/>
                    <a:pt x="4596765" y="640080"/>
                    <a:pt x="4490720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8078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8" name="TextBox 18"/>
          <p:cNvSpPr txBox="1"/>
          <p:nvPr/>
        </p:nvSpPr>
        <p:spPr>
          <a:xfrm>
            <a:off x="5903471" y="2906192"/>
            <a:ext cx="4517117" cy="2381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9"/>
              </a:lnSpc>
            </a:pPr>
            <a:r>
              <a:rPr lang="en-US" sz="15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region dummies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91438" y="3826669"/>
            <a:ext cx="717118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V3</a:t>
            </a:r>
          </a:p>
        </p:txBody>
      </p:sp>
      <p:grpSp>
        <p:nvGrpSpPr>
          <p:cNvPr id="20" name="Group 20"/>
          <p:cNvGrpSpPr/>
          <p:nvPr/>
        </p:nvGrpSpPr>
        <p:grpSpPr>
          <a:xfrm>
            <a:off x="2150002" y="3820001"/>
            <a:ext cx="4961734" cy="480003"/>
            <a:chOff x="0" y="0"/>
            <a:chExt cx="6615646" cy="640004"/>
          </a:xfrm>
        </p:grpSpPr>
        <p:sp>
          <p:nvSpPr>
            <p:cNvPr id="21" name="Freeform 21"/>
            <p:cNvSpPr/>
            <p:nvPr/>
          </p:nvSpPr>
          <p:spPr>
            <a:xfrm>
              <a:off x="0" y="0"/>
              <a:ext cx="6615684" cy="640080"/>
            </a:xfrm>
            <a:custGeom>
              <a:avLst/>
              <a:gdLst/>
              <a:ahLst/>
              <a:cxnLst/>
              <a:rect l="l" t="t" r="r" b="b"/>
              <a:pathLst>
                <a:path w="6615684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6423660" y="0"/>
                  </a:lnTo>
                  <a:cubicBezTo>
                    <a:pt x="6529705" y="0"/>
                    <a:pt x="6615684" y="85979"/>
                    <a:pt x="6615684" y="192024"/>
                  </a:cubicBezTo>
                  <a:lnTo>
                    <a:pt x="6615684" y="448056"/>
                  </a:lnTo>
                  <a:cubicBezTo>
                    <a:pt x="6615684" y="554101"/>
                    <a:pt x="6529705" y="640080"/>
                    <a:pt x="6423660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8B7EC8">
                <a:alpha val="8078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2" name="TextBox 22"/>
          <p:cNvSpPr txBox="1"/>
          <p:nvPr/>
        </p:nvSpPr>
        <p:spPr>
          <a:xfrm>
            <a:off x="7353176" y="3856196"/>
            <a:ext cx="2120277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9"/>
              </a:lnSpc>
            </a:pPr>
            <a:r>
              <a:rPr lang="en-US" sz="15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Alcohol_offences, DV_offences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1291438" y="4776673"/>
            <a:ext cx="717118" cy="327612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V4 Full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2150002" y="4769996"/>
            <a:ext cx="3070879" cy="480003"/>
            <a:chOff x="0" y="0"/>
            <a:chExt cx="4094505" cy="640004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4094480" cy="640080"/>
            </a:xfrm>
            <a:custGeom>
              <a:avLst/>
              <a:gdLst/>
              <a:ahLst/>
              <a:cxnLst/>
              <a:rect l="l" t="t" r="r" b="b"/>
              <a:pathLst>
                <a:path w="4094480" h="640080">
                  <a:moveTo>
                    <a:pt x="0" y="192024"/>
                  </a:moveTo>
                  <a:cubicBezTo>
                    <a:pt x="0" y="85979"/>
                    <a:pt x="85979" y="0"/>
                    <a:pt x="192024" y="0"/>
                  </a:cubicBezTo>
                  <a:lnTo>
                    <a:pt x="3902456" y="0"/>
                  </a:lnTo>
                  <a:cubicBezTo>
                    <a:pt x="4008501" y="0"/>
                    <a:pt x="4094480" y="85979"/>
                    <a:pt x="4094480" y="192024"/>
                  </a:cubicBezTo>
                  <a:lnTo>
                    <a:pt x="4094480" y="448056"/>
                  </a:lnTo>
                  <a:cubicBezTo>
                    <a:pt x="4094480" y="554101"/>
                    <a:pt x="4008501" y="640080"/>
                    <a:pt x="3902456" y="640080"/>
                  </a:cubicBezTo>
                  <a:lnTo>
                    <a:pt x="192024" y="640080"/>
                  </a:lnTo>
                  <a:cubicBezTo>
                    <a:pt x="85979" y="639953"/>
                    <a:pt x="0" y="554101"/>
                    <a:pt x="0" y="448056"/>
                  </a:cubicBezTo>
                  <a:close/>
                </a:path>
              </a:pathLst>
            </a:custGeom>
            <a:solidFill>
              <a:srgbClr val="3FA593">
                <a:alpha val="80784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5462321" y="4806191"/>
            <a:ext cx="3637674" cy="4667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59"/>
              </a:lnSpc>
            </a:pPr>
            <a:r>
              <a:rPr lang="en-US" sz="1549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+ Alcohol_offences, DV_offences + region dummies - selected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2291439" y="4766672"/>
            <a:ext cx="1417120" cy="407613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FFFFFF"/>
                </a:solidFill>
                <a:latin typeface="Poppins Bold"/>
                <a:ea typeface="Poppins Bold"/>
                <a:cs typeface="Poppins Bold"/>
                <a:sym typeface="Poppins Bold"/>
              </a:rPr>
              <a:t>0.1794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616328" y="1838240"/>
            <a:ext cx="9124404" cy="3963522"/>
            <a:chOff x="0" y="0"/>
            <a:chExt cx="7599997" cy="3301340"/>
          </a:xfrm>
        </p:grpSpPr>
        <p:sp>
          <p:nvSpPr>
            <p:cNvPr id="29" name="Freeform 29" descr="n_feature_variant.png"/>
            <p:cNvSpPr/>
            <p:nvPr/>
          </p:nvSpPr>
          <p:spPr>
            <a:xfrm>
              <a:off x="0" y="0"/>
              <a:ext cx="7600061" cy="3301365"/>
            </a:xfrm>
            <a:custGeom>
              <a:avLst/>
              <a:gdLst/>
              <a:ahLst/>
              <a:cxnLst/>
              <a:rect l="l" t="t" r="r" b="b"/>
              <a:pathLst>
                <a:path w="7600061" h="3301365">
                  <a:moveTo>
                    <a:pt x="0" y="0"/>
                  </a:moveTo>
                  <a:lnTo>
                    <a:pt x="7600061" y="0"/>
                  </a:lnTo>
                  <a:lnTo>
                    <a:pt x="7600061" y="3301365"/>
                  </a:lnTo>
                  <a:lnTo>
                    <a:pt x="0" y="330136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t="-1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1291438" y="6126670"/>
            <a:ext cx="7717117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lang="en-US" sz="15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Why did V3 get worse before V4 fixed it?</a:t>
            </a:r>
          </a:p>
        </p:txBody>
      </p:sp>
      <p:grpSp>
        <p:nvGrpSpPr>
          <p:cNvPr id="31" name="Group 31"/>
          <p:cNvGrpSpPr/>
          <p:nvPr/>
        </p:nvGrpSpPr>
        <p:grpSpPr>
          <a:xfrm>
            <a:off x="1291438" y="6485669"/>
            <a:ext cx="7899997" cy="1981371"/>
            <a:chOff x="0" y="0"/>
            <a:chExt cx="10533329" cy="2641829"/>
          </a:xfrm>
        </p:grpSpPr>
        <p:sp>
          <p:nvSpPr>
            <p:cNvPr id="32" name="Freeform 32"/>
            <p:cNvSpPr/>
            <p:nvPr/>
          </p:nvSpPr>
          <p:spPr>
            <a:xfrm>
              <a:off x="0" y="0"/>
              <a:ext cx="10533252" cy="2641841"/>
            </a:xfrm>
            <a:custGeom>
              <a:avLst/>
              <a:gdLst/>
              <a:ahLst/>
              <a:cxnLst/>
              <a:rect l="l" t="t" r="r" b="b"/>
              <a:pathLst>
                <a:path w="10533252" h="2641841">
                  <a:moveTo>
                    <a:pt x="0" y="264163"/>
                  </a:moveTo>
                  <a:cubicBezTo>
                    <a:pt x="0" y="118322"/>
                    <a:pt x="140335" y="0"/>
                    <a:pt x="313309" y="0"/>
                  </a:cubicBezTo>
                  <a:lnTo>
                    <a:pt x="10219944" y="0"/>
                  </a:lnTo>
                  <a:cubicBezTo>
                    <a:pt x="10393045" y="0"/>
                    <a:pt x="10533252" y="118322"/>
                    <a:pt x="10533252" y="264163"/>
                  </a:cubicBezTo>
                  <a:lnTo>
                    <a:pt x="10533252" y="2377677"/>
                  </a:lnTo>
                  <a:cubicBezTo>
                    <a:pt x="10533252" y="2523625"/>
                    <a:pt x="10392918" y="2641841"/>
                    <a:pt x="10219944" y="2641841"/>
                  </a:cubicBezTo>
                  <a:lnTo>
                    <a:pt x="313309" y="2641841"/>
                  </a:lnTo>
                  <a:cubicBezTo>
                    <a:pt x="140335" y="2641841"/>
                    <a:pt x="0" y="2523518"/>
                    <a:pt x="0" y="2377677"/>
                  </a:cubicBezTo>
                  <a:close/>
                </a:path>
              </a:pathLst>
            </a:custGeom>
            <a:solidFill>
              <a:srgbClr val="FFFFFF">
                <a:alpha val="67059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3" name="TextBox 33"/>
          <p:cNvSpPr txBox="1"/>
          <p:nvPr/>
        </p:nvSpPr>
        <p:spPr>
          <a:xfrm>
            <a:off x="1411443" y="6786191"/>
            <a:ext cx="7474226" cy="137080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864"/>
              </a:lnSpc>
            </a:pPr>
            <a:r>
              <a:rPr lang="en-US" sz="1553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V2 → V3: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RMSE rose slightly from 0.2146 to 0.2246 (+4.7%) when crime-context features were added without region dummies</a:t>
            </a:r>
          </a:p>
          <a:p>
            <a:pPr algn="just">
              <a:lnSpc>
                <a:spcPts val="1864"/>
              </a:lnSpc>
            </a:pPr>
            <a:r>
              <a:rPr lang="en-US" sz="1553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Cause: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Crime-context features alone do not control for region-level baseline differences in offence volume</a:t>
            </a:r>
          </a:p>
          <a:p>
            <a:pPr algn="just">
              <a:lnSpc>
                <a:spcPts val="1864"/>
              </a:lnSpc>
            </a:pPr>
            <a:r>
              <a:rPr lang="en-US" sz="1553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Fix (V3→V4): </a:t>
            </a:r>
            <a:r>
              <a:rPr lang="en-US" sz="1553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adding region dummies alongside crime-context features (V4) lets region terms absorb the baseline gap.</a:t>
            </a:r>
          </a:p>
        </p:txBody>
      </p:sp>
      <p:grpSp>
        <p:nvGrpSpPr>
          <p:cNvPr id="34" name="Group 34"/>
          <p:cNvGrpSpPr/>
          <p:nvPr/>
        </p:nvGrpSpPr>
        <p:grpSpPr>
          <a:xfrm>
            <a:off x="1199998" y="9100004"/>
            <a:ext cx="15899997" cy="800005"/>
            <a:chOff x="0" y="0"/>
            <a:chExt cx="21199996" cy="1066673"/>
          </a:xfrm>
        </p:grpSpPr>
        <p:sp>
          <p:nvSpPr>
            <p:cNvPr id="35" name="Freeform 35"/>
            <p:cNvSpPr/>
            <p:nvPr/>
          </p:nvSpPr>
          <p:spPr>
            <a:xfrm>
              <a:off x="0" y="0"/>
              <a:ext cx="21199982" cy="1066673"/>
            </a:xfrm>
            <a:custGeom>
              <a:avLst/>
              <a:gdLst/>
              <a:ahLst/>
              <a:cxnLst/>
              <a:rect l="l" t="t" r="r" b="b"/>
              <a:pathLst>
                <a:path w="21199982" h="1066673">
                  <a:moveTo>
                    <a:pt x="0" y="128016"/>
                  </a:moveTo>
                  <a:cubicBezTo>
                    <a:pt x="0" y="57277"/>
                    <a:pt x="57277" y="0"/>
                    <a:pt x="128016" y="0"/>
                  </a:cubicBezTo>
                  <a:lnTo>
                    <a:pt x="21071967" y="0"/>
                  </a:lnTo>
                  <a:cubicBezTo>
                    <a:pt x="21142706" y="0"/>
                    <a:pt x="21199982" y="57277"/>
                    <a:pt x="21199982" y="128016"/>
                  </a:cubicBezTo>
                  <a:lnTo>
                    <a:pt x="21199982" y="938657"/>
                  </a:lnTo>
                  <a:cubicBezTo>
                    <a:pt x="21199982" y="1009396"/>
                    <a:pt x="21142706" y="1066673"/>
                    <a:pt x="21071967" y="1066673"/>
                  </a:cubicBezTo>
                  <a:lnTo>
                    <a:pt x="128016" y="1066673"/>
                  </a:lnTo>
                  <a:cubicBezTo>
                    <a:pt x="57277" y="1066673"/>
                    <a:pt x="0" y="1009396"/>
                    <a:pt x="0" y="938657"/>
                  </a:cubicBezTo>
                  <a:close/>
                </a:path>
              </a:pathLst>
            </a:custGeom>
            <a:solidFill>
              <a:srgbClr val="FFFFFF">
                <a:alpha val="67059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6" name="TextBox 36"/>
          <p:cNvSpPr txBox="1"/>
          <p:nvPr/>
        </p:nvSpPr>
        <p:spPr>
          <a:xfrm>
            <a:off x="1541440" y="9296667"/>
            <a:ext cx="15217121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Region fixed effects (V3→V4) provided the largest single improvement - confirms temporal autocorrelation in assault rates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637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How the Models Performed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1438" y="1726673"/>
            <a:ext cx="7717117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 per 100k population</a:t>
            </a:r>
          </a:p>
        </p:txBody>
      </p:sp>
      <p:sp>
        <p:nvSpPr>
          <p:cNvPr id="12" name="TextBox 12"/>
          <p:cNvSpPr txBox="1"/>
          <p:nvPr/>
        </p:nvSpPr>
        <p:spPr>
          <a:xfrm>
            <a:off x="9591437" y="1726673"/>
            <a:ext cx="7417118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Per-region RMSE - XGBoost</a:t>
            </a:r>
          </a:p>
        </p:txBody>
      </p:sp>
      <p:grpSp>
        <p:nvGrpSpPr>
          <p:cNvPr id="13" name="Group 13"/>
          <p:cNvGrpSpPr/>
          <p:nvPr/>
        </p:nvGrpSpPr>
        <p:grpSpPr>
          <a:xfrm>
            <a:off x="800100" y="2564604"/>
            <a:ext cx="8141894" cy="5026373"/>
            <a:chOff x="0" y="0"/>
            <a:chExt cx="10111994" cy="6242609"/>
          </a:xfrm>
        </p:grpSpPr>
        <p:sp>
          <p:nvSpPr>
            <p:cNvPr id="14" name="Freeform 14" descr="n_model_compare.png"/>
            <p:cNvSpPr/>
            <p:nvPr/>
          </p:nvSpPr>
          <p:spPr>
            <a:xfrm>
              <a:off x="0" y="0"/>
              <a:ext cx="10111994" cy="6242558"/>
            </a:xfrm>
            <a:custGeom>
              <a:avLst/>
              <a:gdLst/>
              <a:ahLst/>
              <a:cxnLst/>
              <a:rect l="l" t="t" r="r" b="b"/>
              <a:pathLst>
                <a:path w="10111994" h="6242558">
                  <a:moveTo>
                    <a:pt x="0" y="0"/>
                  </a:moveTo>
                  <a:lnTo>
                    <a:pt x="10111994" y="0"/>
                  </a:lnTo>
                  <a:lnTo>
                    <a:pt x="10111994" y="6242558"/>
                  </a:lnTo>
                  <a:lnTo>
                    <a:pt x="0" y="624255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-270" r="-270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651997" y="2669371"/>
            <a:ext cx="7828188" cy="4832709"/>
            <a:chOff x="0" y="0"/>
            <a:chExt cx="9727997" cy="6005551"/>
          </a:xfrm>
        </p:grpSpPr>
        <p:sp>
          <p:nvSpPr>
            <p:cNvPr id="16" name="Freeform 16" descr="n_per_region.png"/>
            <p:cNvSpPr/>
            <p:nvPr/>
          </p:nvSpPr>
          <p:spPr>
            <a:xfrm>
              <a:off x="0" y="0"/>
              <a:ext cx="9727946" cy="6005576"/>
            </a:xfrm>
            <a:custGeom>
              <a:avLst/>
              <a:gdLst/>
              <a:ahLst/>
              <a:cxnLst/>
              <a:rect l="l" t="t" r="r" b="b"/>
              <a:pathLst>
                <a:path w="9727946" h="6005576">
                  <a:moveTo>
                    <a:pt x="0" y="0"/>
                  </a:moveTo>
                  <a:lnTo>
                    <a:pt x="9727946" y="0"/>
                  </a:lnTo>
                  <a:lnTo>
                    <a:pt x="9727946" y="6005576"/>
                  </a:lnTo>
                  <a:lnTo>
                    <a:pt x="0" y="600557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291438" y="9376667"/>
            <a:ext cx="15717117" cy="37760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i="1">
                <a:solidFill>
                  <a:srgbClr val="E9A25E"/>
                </a:solidFill>
                <a:latin typeface="Poppins Italics"/>
                <a:ea typeface="Poppins Italics"/>
                <a:cs typeface="Poppins Italics"/>
                <a:sym typeface="Poppins Italics"/>
              </a:rPr>
              <a:t>Single train/test split - a stricter rolling-origin backtest changes this ranking (next slide)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637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Which Evaluation Do We Trust?</a:t>
            </a:r>
          </a:p>
        </p:txBody>
      </p:sp>
      <p:grpSp>
        <p:nvGrpSpPr>
          <p:cNvPr id="11" name="Group 11"/>
          <p:cNvGrpSpPr/>
          <p:nvPr/>
        </p:nvGrpSpPr>
        <p:grpSpPr>
          <a:xfrm>
            <a:off x="980099" y="2180072"/>
            <a:ext cx="8391301" cy="5541776"/>
            <a:chOff x="0" y="0"/>
            <a:chExt cx="9127388" cy="6027903"/>
          </a:xfrm>
        </p:grpSpPr>
        <p:sp>
          <p:nvSpPr>
            <p:cNvPr id="12" name="Freeform 12" descr="n_backtest.png"/>
            <p:cNvSpPr/>
            <p:nvPr/>
          </p:nvSpPr>
          <p:spPr>
            <a:xfrm>
              <a:off x="0" y="0"/>
              <a:ext cx="9127363" cy="6027928"/>
            </a:xfrm>
            <a:custGeom>
              <a:avLst/>
              <a:gdLst/>
              <a:ahLst/>
              <a:cxnLst/>
              <a:rect l="l" t="t" r="r" b="b"/>
              <a:pathLst>
                <a:path w="9127363" h="6027928">
                  <a:moveTo>
                    <a:pt x="0" y="0"/>
                  </a:moveTo>
                  <a:lnTo>
                    <a:pt x="9127363" y="0"/>
                  </a:lnTo>
                  <a:lnTo>
                    <a:pt x="9127363" y="6027928"/>
                  </a:lnTo>
                  <a:lnTo>
                    <a:pt x="0" y="602792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3" name="Group 13"/>
          <p:cNvGrpSpPr/>
          <p:nvPr/>
        </p:nvGrpSpPr>
        <p:grpSpPr>
          <a:xfrm>
            <a:off x="9606234" y="1834651"/>
            <a:ext cx="7819171" cy="6415352"/>
            <a:chOff x="0" y="0"/>
            <a:chExt cx="10563128" cy="8666670"/>
          </a:xfrm>
        </p:grpSpPr>
        <p:sp>
          <p:nvSpPr>
            <p:cNvPr id="14" name="Freeform 14"/>
            <p:cNvSpPr/>
            <p:nvPr/>
          </p:nvSpPr>
          <p:spPr>
            <a:xfrm>
              <a:off x="0" y="0"/>
              <a:ext cx="10563102" cy="8666607"/>
            </a:xfrm>
            <a:custGeom>
              <a:avLst/>
              <a:gdLst/>
              <a:ahLst/>
              <a:cxnLst/>
              <a:rect l="l" t="t" r="r" b="b"/>
              <a:pathLst>
                <a:path w="10563102" h="8666607">
                  <a:moveTo>
                    <a:pt x="0" y="693293"/>
                  </a:moveTo>
                  <a:cubicBezTo>
                    <a:pt x="0" y="310388"/>
                    <a:pt x="327867" y="0"/>
                    <a:pt x="732334" y="0"/>
                  </a:cubicBezTo>
                  <a:lnTo>
                    <a:pt x="9830767" y="0"/>
                  </a:lnTo>
                  <a:cubicBezTo>
                    <a:pt x="10235235" y="0"/>
                    <a:pt x="10563102" y="310388"/>
                    <a:pt x="10563102" y="693293"/>
                  </a:cubicBezTo>
                  <a:lnTo>
                    <a:pt x="10563102" y="7973314"/>
                  </a:lnTo>
                  <a:cubicBezTo>
                    <a:pt x="10563102" y="8356219"/>
                    <a:pt x="10235235" y="8666607"/>
                    <a:pt x="9830767" y="8666607"/>
                  </a:cubicBezTo>
                  <a:lnTo>
                    <a:pt x="732334" y="8666607"/>
                  </a:lnTo>
                  <a:cubicBezTo>
                    <a:pt x="327867" y="8666607"/>
                    <a:pt x="0" y="8356219"/>
                    <a:pt x="0" y="7973314"/>
                  </a:cubicBezTo>
                  <a:close/>
                </a:path>
              </a:pathLst>
            </a:custGeom>
            <a:solidFill>
              <a:srgbClr val="FFFFFF">
                <a:alpha val="72157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5" name="Group 15"/>
          <p:cNvGrpSpPr/>
          <p:nvPr/>
        </p:nvGrpSpPr>
        <p:grpSpPr>
          <a:xfrm>
            <a:off x="9899999" y="2109997"/>
            <a:ext cx="160001" cy="160001"/>
            <a:chOff x="0" y="0"/>
            <a:chExt cx="213335" cy="213335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0297091" y="2091373"/>
            <a:ext cx="6511635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8"/>
              </a:lnSpc>
            </a:pPr>
            <a:r>
              <a:rPr lang="en-US" sz="1648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Single train/test split (previous slide) - </a:t>
            </a:r>
            <a:r>
              <a:rPr lang="en-US" sz="16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wins - RMSE 84.5 per 100k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9899999" y="3610004"/>
            <a:ext cx="160001" cy="160001"/>
            <a:chOff x="0" y="0"/>
            <a:chExt cx="213335" cy="213335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0297091" y="3590108"/>
            <a:ext cx="6711473" cy="5048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8"/>
              </a:lnSpc>
            </a:pPr>
            <a:r>
              <a:rPr lang="en-US" sz="1648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Rolling-origin backtest (this slide) - </a:t>
            </a:r>
            <a:r>
              <a:rPr lang="en-US" sz="16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wins at 1 month; 12-month moving average wins from 3 months onward (3, 6, 12)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9899999" y="5110001"/>
            <a:ext cx="160001" cy="160001"/>
            <a:chOff x="0" y="0"/>
            <a:chExt cx="213335" cy="213335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0297091" y="5088852"/>
            <a:ext cx="6511635" cy="752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8"/>
              </a:lnSpc>
            </a:pPr>
            <a:r>
              <a:rPr lang="en-US" sz="1648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Why - </a:t>
            </a:r>
            <a:r>
              <a:rPr lang="en-US" sz="16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at 1 month there is enough recent signal for XGBoost to exploit; beyond that, assault rates are dominated by a slow-moving local level and added model complexity helps little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9899999" y="6609998"/>
            <a:ext cx="160001" cy="160001"/>
            <a:chOff x="0" y="0"/>
            <a:chExt cx="213335" cy="213335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213360" cy="213360"/>
            </a:xfrm>
            <a:custGeom>
              <a:avLst/>
              <a:gdLst/>
              <a:ahLst/>
              <a:cxnLst/>
              <a:rect l="l" t="t" r="r" b="b"/>
              <a:pathLst>
                <a:path w="213360" h="213360">
                  <a:moveTo>
                    <a:pt x="0" y="106680"/>
                  </a:moveTo>
                  <a:cubicBezTo>
                    <a:pt x="0" y="47752"/>
                    <a:pt x="47752" y="0"/>
                    <a:pt x="106680" y="0"/>
                  </a:cubicBezTo>
                  <a:cubicBezTo>
                    <a:pt x="165608" y="0"/>
                    <a:pt x="213360" y="47752"/>
                    <a:pt x="213360" y="106680"/>
                  </a:cubicBezTo>
                  <a:cubicBezTo>
                    <a:pt x="213360" y="165608"/>
                    <a:pt x="165608" y="213360"/>
                    <a:pt x="106680" y="213360"/>
                  </a:cubicBezTo>
                  <a:cubicBezTo>
                    <a:pt x="47752" y="213360"/>
                    <a:pt x="0" y="165608"/>
                    <a:pt x="0" y="106680"/>
                  </a:cubicBezTo>
                  <a:close/>
                </a:path>
              </a:pathLst>
            </a:custGeom>
            <a:solidFill>
              <a:srgbClr val="E8829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0297091" y="6587587"/>
            <a:ext cx="6511635" cy="7524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978"/>
              </a:lnSpc>
            </a:pPr>
            <a:r>
              <a:rPr lang="en-US" sz="1648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Practical implication - </a:t>
            </a:r>
            <a:r>
              <a:rPr lang="en-US" sz="1648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XGBoost for 1-month-ahead forecasts; 12-month moving average as the reference forecast from 3 months onward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1291438" y="8586197"/>
            <a:ext cx="7917123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Rolling-origin backtest (evaluation.py) - leakage-free, repeated out-of-sample tests at each horizon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9691440" y="8586197"/>
            <a:ext cx="7317124" cy="4476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99"/>
              </a:lnSpc>
            </a:pPr>
            <a:r>
              <a:rPr lang="en-US" sz="1499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Reported as a finding, not a failure - any model we deploy must now beat this benchmark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8B7EC8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0" name="Group 10"/>
          <p:cNvGrpSpPr/>
          <p:nvPr/>
        </p:nvGrpSpPr>
        <p:grpSpPr>
          <a:xfrm>
            <a:off x="1199998" y="2499998"/>
            <a:ext cx="7500004" cy="2450001"/>
            <a:chOff x="0" y="0"/>
            <a:chExt cx="10000005" cy="3266669"/>
          </a:xfrm>
        </p:grpSpPr>
        <p:sp>
          <p:nvSpPr>
            <p:cNvPr id="11" name="Freeform 11"/>
            <p:cNvSpPr/>
            <p:nvPr/>
          </p:nvSpPr>
          <p:spPr>
            <a:xfrm>
              <a:off x="0" y="0"/>
              <a:ext cx="9999980" cy="3266694"/>
            </a:xfrm>
            <a:custGeom>
              <a:avLst/>
              <a:gdLst/>
              <a:ahLst/>
              <a:cxnLst/>
              <a:rect l="l" t="t" r="r" b="b"/>
              <a:pathLst>
                <a:path w="9999980" h="3266694">
                  <a:moveTo>
                    <a:pt x="0" y="261366"/>
                  </a:moveTo>
                  <a:cubicBezTo>
                    <a:pt x="0" y="116967"/>
                    <a:pt x="116967" y="0"/>
                    <a:pt x="261366" y="0"/>
                  </a:cubicBezTo>
                  <a:lnTo>
                    <a:pt x="9738614" y="0"/>
                  </a:lnTo>
                  <a:cubicBezTo>
                    <a:pt x="9882886" y="0"/>
                    <a:pt x="9999980" y="116967"/>
                    <a:pt x="9999980" y="261366"/>
                  </a:cubicBezTo>
                  <a:lnTo>
                    <a:pt x="9999980" y="3005328"/>
                  </a:lnTo>
                  <a:cubicBezTo>
                    <a:pt x="9999980" y="3149600"/>
                    <a:pt x="9883013" y="3266694"/>
                    <a:pt x="9738614" y="3266694"/>
                  </a:cubicBezTo>
                  <a:lnTo>
                    <a:pt x="261366" y="3266694"/>
                  </a:lnTo>
                  <a:cubicBezTo>
                    <a:pt x="116967" y="3266694"/>
                    <a:pt x="0" y="3149727"/>
                    <a:pt x="0" y="3005328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9600000" y="2499998"/>
            <a:ext cx="7500004" cy="2450001"/>
            <a:chOff x="0" y="0"/>
            <a:chExt cx="10000005" cy="3266669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9999980" cy="3266694"/>
            </a:xfrm>
            <a:custGeom>
              <a:avLst/>
              <a:gdLst/>
              <a:ahLst/>
              <a:cxnLst/>
              <a:rect l="l" t="t" r="r" b="b"/>
              <a:pathLst>
                <a:path w="9999980" h="3266694">
                  <a:moveTo>
                    <a:pt x="0" y="261366"/>
                  </a:moveTo>
                  <a:cubicBezTo>
                    <a:pt x="0" y="116967"/>
                    <a:pt x="116967" y="0"/>
                    <a:pt x="261366" y="0"/>
                  </a:cubicBezTo>
                  <a:lnTo>
                    <a:pt x="9738614" y="0"/>
                  </a:lnTo>
                  <a:cubicBezTo>
                    <a:pt x="9882886" y="0"/>
                    <a:pt x="9999980" y="116967"/>
                    <a:pt x="9999980" y="261366"/>
                  </a:cubicBezTo>
                  <a:lnTo>
                    <a:pt x="9999980" y="3005328"/>
                  </a:lnTo>
                  <a:cubicBezTo>
                    <a:pt x="9999980" y="3149600"/>
                    <a:pt x="9883013" y="3266694"/>
                    <a:pt x="9738614" y="3266694"/>
                  </a:cubicBezTo>
                  <a:lnTo>
                    <a:pt x="261366" y="3266694"/>
                  </a:lnTo>
                  <a:cubicBezTo>
                    <a:pt x="116967" y="3266694"/>
                    <a:pt x="0" y="3149727"/>
                    <a:pt x="0" y="3005328"/>
                  </a:cubicBezTo>
                  <a:close/>
                </a:path>
              </a:pathLst>
            </a:custGeom>
            <a:solidFill>
              <a:srgbClr val="FFFFFF">
                <a:alpha val="73725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14" name="Group 14"/>
          <p:cNvGrpSpPr/>
          <p:nvPr/>
        </p:nvGrpSpPr>
        <p:grpSpPr>
          <a:xfrm>
            <a:off x="1199998" y="8599999"/>
            <a:ext cx="15899997" cy="1150001"/>
            <a:chOff x="0" y="0"/>
            <a:chExt cx="21199996" cy="1533334"/>
          </a:xfrm>
        </p:grpSpPr>
        <p:sp>
          <p:nvSpPr>
            <p:cNvPr id="15" name="Freeform 15"/>
            <p:cNvSpPr/>
            <p:nvPr/>
          </p:nvSpPr>
          <p:spPr>
            <a:xfrm>
              <a:off x="0" y="0"/>
              <a:ext cx="21199983" cy="1533271"/>
            </a:xfrm>
            <a:custGeom>
              <a:avLst/>
              <a:gdLst/>
              <a:ahLst/>
              <a:cxnLst/>
              <a:rect l="l" t="t" r="r" b="b"/>
              <a:pathLst>
                <a:path w="21199983" h="1533271">
                  <a:moveTo>
                    <a:pt x="0" y="153289"/>
                  </a:moveTo>
                  <a:cubicBezTo>
                    <a:pt x="0" y="68707"/>
                    <a:pt x="68707" y="0"/>
                    <a:pt x="153289" y="0"/>
                  </a:cubicBezTo>
                  <a:lnTo>
                    <a:pt x="21046694" y="0"/>
                  </a:lnTo>
                  <a:cubicBezTo>
                    <a:pt x="21131403" y="0"/>
                    <a:pt x="21199983" y="68707"/>
                    <a:pt x="21199983" y="153289"/>
                  </a:cubicBezTo>
                  <a:lnTo>
                    <a:pt x="21199983" y="1379982"/>
                  </a:lnTo>
                  <a:cubicBezTo>
                    <a:pt x="21199983" y="1464691"/>
                    <a:pt x="21131276" y="1533271"/>
                    <a:pt x="21046694" y="1533271"/>
                  </a:cubicBezTo>
                  <a:lnTo>
                    <a:pt x="153289" y="1533271"/>
                  </a:lnTo>
                  <a:cubicBezTo>
                    <a:pt x="68707" y="1533271"/>
                    <a:pt x="0" y="1464691"/>
                    <a:pt x="0" y="1379982"/>
                  </a:cubicBezTo>
                  <a:close/>
                </a:path>
              </a:pathLst>
            </a:custGeom>
            <a:solidFill>
              <a:srgbClr val="FFFFFF">
                <a:alpha val="67059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6" name="Freeform 16"/>
          <p:cNvSpPr/>
          <p:nvPr/>
        </p:nvSpPr>
        <p:spPr>
          <a:xfrm>
            <a:off x="6139265" y="6156326"/>
            <a:ext cx="6683401" cy="1804671"/>
          </a:xfrm>
          <a:custGeom>
            <a:avLst/>
            <a:gdLst/>
            <a:ahLst/>
            <a:cxnLst/>
            <a:rect l="l" t="t" r="r" b="b"/>
            <a:pathLst>
              <a:path w="6683401" h="1804671">
                <a:moveTo>
                  <a:pt x="0" y="0"/>
                </a:moveTo>
                <a:lnTo>
                  <a:pt x="6683401" y="0"/>
                </a:lnTo>
                <a:lnTo>
                  <a:pt x="6683401" y="1804672"/>
                </a:lnTo>
                <a:lnTo>
                  <a:pt x="0" y="1804672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sp>
        <p:nvSpPr>
          <p:cNvPr id="17" name="TextBox 17"/>
          <p:cNvSpPr txBox="1"/>
          <p:nvPr/>
        </p:nvSpPr>
        <p:spPr>
          <a:xfrm>
            <a:off x="1411443" y="657149"/>
            <a:ext cx="11817125" cy="63713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Does Alcohol Supply Improve Predictions?</a:t>
            </a:r>
          </a:p>
        </p:txBody>
      </p:sp>
      <p:sp>
        <p:nvSpPr>
          <p:cNvPr id="18" name="TextBox 18"/>
          <p:cNvSpPr txBox="1"/>
          <p:nvPr/>
        </p:nvSpPr>
        <p:spPr>
          <a:xfrm>
            <a:off x="1291438" y="1736198"/>
            <a:ext cx="7317124" cy="298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Model A - no alcohol</a:t>
            </a:r>
          </a:p>
        </p:txBody>
      </p:sp>
      <p:sp>
        <p:nvSpPr>
          <p:cNvPr id="19" name="TextBox 19"/>
          <p:cNvSpPr txBox="1"/>
          <p:nvPr/>
        </p:nvSpPr>
        <p:spPr>
          <a:xfrm>
            <a:off x="1291438" y="2146192"/>
            <a:ext cx="7317124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2015-2022 (504 rows) - Test 2023-2025 (192 rows)</a:t>
            </a:r>
          </a:p>
        </p:txBody>
      </p:sp>
      <p:sp>
        <p:nvSpPr>
          <p:cNvPr id="20" name="TextBox 20"/>
          <p:cNvSpPr txBox="1"/>
          <p:nvPr/>
        </p:nvSpPr>
        <p:spPr>
          <a:xfrm>
            <a:off x="1411443" y="2646674"/>
            <a:ext cx="2167118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Model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3761442" y="2646674"/>
            <a:ext cx="1517123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RMSE(log)</a:t>
            </a:r>
          </a:p>
        </p:txBody>
      </p:sp>
      <p:sp>
        <p:nvSpPr>
          <p:cNvPr id="22" name="TextBox 22"/>
          <p:cNvSpPr txBox="1"/>
          <p:nvPr/>
        </p:nvSpPr>
        <p:spPr>
          <a:xfrm>
            <a:off x="5461444" y="2646674"/>
            <a:ext cx="1517123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MAE(log)</a:t>
            </a:r>
          </a:p>
        </p:txBody>
      </p:sp>
      <p:sp>
        <p:nvSpPr>
          <p:cNvPr id="23" name="TextBox 23"/>
          <p:cNvSpPr txBox="1"/>
          <p:nvPr/>
        </p:nvSpPr>
        <p:spPr>
          <a:xfrm>
            <a:off x="7161438" y="2646674"/>
            <a:ext cx="1567120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RMSE(100k)</a:t>
            </a:r>
          </a:p>
        </p:txBody>
      </p:sp>
      <p:sp>
        <p:nvSpPr>
          <p:cNvPr id="24" name="TextBox 24"/>
          <p:cNvSpPr txBox="1"/>
          <p:nvPr/>
        </p:nvSpPr>
        <p:spPr>
          <a:xfrm>
            <a:off x="1411443" y="3036199"/>
            <a:ext cx="2167118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Linear Reg</a:t>
            </a:r>
          </a:p>
        </p:txBody>
      </p:sp>
      <p:sp>
        <p:nvSpPr>
          <p:cNvPr id="25" name="TextBox 25"/>
          <p:cNvSpPr txBox="1"/>
          <p:nvPr/>
        </p:nvSpPr>
        <p:spPr>
          <a:xfrm>
            <a:off x="3761442" y="3036199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0.2010</a:t>
            </a:r>
          </a:p>
        </p:txBody>
      </p:sp>
      <p:sp>
        <p:nvSpPr>
          <p:cNvPr id="26" name="TextBox 26"/>
          <p:cNvSpPr txBox="1"/>
          <p:nvPr/>
        </p:nvSpPr>
        <p:spPr>
          <a:xfrm>
            <a:off x="5461444" y="3036199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0.1686</a:t>
            </a:r>
          </a:p>
        </p:txBody>
      </p:sp>
      <p:sp>
        <p:nvSpPr>
          <p:cNvPr id="27" name="TextBox 27"/>
          <p:cNvSpPr txBox="1"/>
          <p:nvPr/>
        </p:nvSpPr>
        <p:spPr>
          <a:xfrm>
            <a:off x="7161438" y="3036199"/>
            <a:ext cx="1567120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106.0</a:t>
            </a:r>
          </a:p>
        </p:txBody>
      </p:sp>
      <p:sp>
        <p:nvSpPr>
          <p:cNvPr id="28" name="TextBox 28"/>
          <p:cNvSpPr txBox="1"/>
          <p:nvPr/>
        </p:nvSpPr>
        <p:spPr>
          <a:xfrm>
            <a:off x="1411443" y="3496199"/>
            <a:ext cx="2167118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Ridge (a=0.1)</a:t>
            </a:r>
          </a:p>
        </p:txBody>
      </p:sp>
      <p:sp>
        <p:nvSpPr>
          <p:cNvPr id="29" name="TextBox 29"/>
          <p:cNvSpPr txBox="1"/>
          <p:nvPr/>
        </p:nvSpPr>
        <p:spPr>
          <a:xfrm>
            <a:off x="3761442" y="3496199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0.2004</a:t>
            </a:r>
          </a:p>
        </p:txBody>
      </p:sp>
      <p:sp>
        <p:nvSpPr>
          <p:cNvPr id="30" name="TextBox 30"/>
          <p:cNvSpPr txBox="1"/>
          <p:nvPr/>
        </p:nvSpPr>
        <p:spPr>
          <a:xfrm>
            <a:off x="5461444" y="3496199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0.1681</a:t>
            </a:r>
          </a:p>
        </p:txBody>
      </p:sp>
      <p:sp>
        <p:nvSpPr>
          <p:cNvPr id="31" name="TextBox 31"/>
          <p:cNvSpPr txBox="1"/>
          <p:nvPr/>
        </p:nvSpPr>
        <p:spPr>
          <a:xfrm>
            <a:off x="7161438" y="3496199"/>
            <a:ext cx="1567120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105.6</a:t>
            </a:r>
          </a:p>
        </p:txBody>
      </p:sp>
      <p:sp>
        <p:nvSpPr>
          <p:cNvPr id="32" name="TextBox 32"/>
          <p:cNvSpPr txBox="1"/>
          <p:nvPr/>
        </p:nvSpPr>
        <p:spPr>
          <a:xfrm>
            <a:off x="1411443" y="3956199"/>
            <a:ext cx="2167118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Lasso (a=0.01)</a:t>
            </a:r>
          </a:p>
        </p:txBody>
      </p:sp>
      <p:sp>
        <p:nvSpPr>
          <p:cNvPr id="33" name="TextBox 33"/>
          <p:cNvSpPr txBox="1"/>
          <p:nvPr/>
        </p:nvSpPr>
        <p:spPr>
          <a:xfrm>
            <a:off x="3761442" y="3956199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0.2153</a:t>
            </a:r>
          </a:p>
        </p:txBody>
      </p:sp>
      <p:sp>
        <p:nvSpPr>
          <p:cNvPr id="34" name="TextBox 34"/>
          <p:cNvSpPr txBox="1"/>
          <p:nvPr/>
        </p:nvSpPr>
        <p:spPr>
          <a:xfrm>
            <a:off x="5461444" y="3956199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0.1693</a:t>
            </a:r>
          </a:p>
        </p:txBody>
      </p:sp>
      <p:sp>
        <p:nvSpPr>
          <p:cNvPr id="35" name="TextBox 35"/>
          <p:cNvSpPr txBox="1"/>
          <p:nvPr/>
        </p:nvSpPr>
        <p:spPr>
          <a:xfrm>
            <a:off x="7161438" y="3956199"/>
            <a:ext cx="1567120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140.0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1411443" y="4416200"/>
            <a:ext cx="2167118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XGBoost</a:t>
            </a:r>
          </a:p>
        </p:txBody>
      </p:sp>
      <p:sp>
        <p:nvSpPr>
          <p:cNvPr id="37" name="TextBox 37"/>
          <p:cNvSpPr txBox="1"/>
          <p:nvPr/>
        </p:nvSpPr>
        <p:spPr>
          <a:xfrm>
            <a:off x="3761442" y="4416200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0.1517</a:t>
            </a:r>
          </a:p>
        </p:txBody>
      </p:sp>
      <p:sp>
        <p:nvSpPr>
          <p:cNvPr id="38" name="TextBox 38"/>
          <p:cNvSpPr txBox="1"/>
          <p:nvPr/>
        </p:nvSpPr>
        <p:spPr>
          <a:xfrm>
            <a:off x="5461444" y="4416200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0.1227</a:t>
            </a:r>
          </a:p>
        </p:txBody>
      </p:sp>
      <p:sp>
        <p:nvSpPr>
          <p:cNvPr id="39" name="TextBox 39"/>
          <p:cNvSpPr txBox="1"/>
          <p:nvPr/>
        </p:nvSpPr>
        <p:spPr>
          <a:xfrm>
            <a:off x="7161438" y="4416200"/>
            <a:ext cx="1567120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84.5 - best</a:t>
            </a:r>
          </a:p>
        </p:txBody>
      </p:sp>
      <p:sp>
        <p:nvSpPr>
          <p:cNvPr id="40" name="TextBox 40"/>
          <p:cNvSpPr txBox="1"/>
          <p:nvPr/>
        </p:nvSpPr>
        <p:spPr>
          <a:xfrm>
            <a:off x="9691440" y="1736198"/>
            <a:ext cx="7317124" cy="29808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980"/>
              </a:lnSpc>
            </a:pPr>
            <a:r>
              <a:rPr lang="en-US" sz="165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Model B - with alcohol</a:t>
            </a:r>
          </a:p>
        </p:txBody>
      </p:sp>
      <p:sp>
        <p:nvSpPr>
          <p:cNvPr id="41" name="TextBox 41"/>
          <p:cNvSpPr txBox="1"/>
          <p:nvPr/>
        </p:nvSpPr>
        <p:spPr>
          <a:xfrm>
            <a:off x="9691440" y="2146192"/>
            <a:ext cx="7317124" cy="1905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439"/>
              </a:lnSpc>
            </a:pPr>
            <a:r>
              <a:rPr lang="en-US" sz="1200">
                <a:solidFill>
                  <a:srgbClr val="7A6F91"/>
                </a:solidFill>
                <a:latin typeface="Poppins"/>
                <a:ea typeface="Poppins"/>
                <a:cs typeface="Poppins"/>
                <a:sym typeface="Poppins"/>
              </a:rPr>
              <a:t>Train 2023-2024 (120 rows) - Test 2025 (72 rows)</a:t>
            </a:r>
          </a:p>
        </p:txBody>
      </p:sp>
      <p:sp>
        <p:nvSpPr>
          <p:cNvPr id="42" name="TextBox 42"/>
          <p:cNvSpPr txBox="1"/>
          <p:nvPr/>
        </p:nvSpPr>
        <p:spPr>
          <a:xfrm>
            <a:off x="9811436" y="2646674"/>
            <a:ext cx="2167118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Model</a:t>
            </a:r>
          </a:p>
        </p:txBody>
      </p:sp>
      <p:sp>
        <p:nvSpPr>
          <p:cNvPr id="43" name="TextBox 43"/>
          <p:cNvSpPr txBox="1"/>
          <p:nvPr/>
        </p:nvSpPr>
        <p:spPr>
          <a:xfrm>
            <a:off x="12161444" y="2646674"/>
            <a:ext cx="1517123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RMSE(log)</a:t>
            </a:r>
          </a:p>
        </p:txBody>
      </p:sp>
      <p:sp>
        <p:nvSpPr>
          <p:cNvPr id="44" name="TextBox 44"/>
          <p:cNvSpPr txBox="1"/>
          <p:nvPr/>
        </p:nvSpPr>
        <p:spPr>
          <a:xfrm>
            <a:off x="13861437" y="2646674"/>
            <a:ext cx="1517123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MAE(log)</a:t>
            </a:r>
          </a:p>
        </p:txBody>
      </p:sp>
      <p:sp>
        <p:nvSpPr>
          <p:cNvPr id="45" name="TextBox 45"/>
          <p:cNvSpPr txBox="1"/>
          <p:nvPr/>
        </p:nvSpPr>
        <p:spPr>
          <a:xfrm>
            <a:off x="15561440" y="2646674"/>
            <a:ext cx="1567120" cy="20760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320"/>
              </a:lnSpc>
            </a:pPr>
            <a:r>
              <a:rPr lang="en-US" sz="1100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RMSE(100k)</a:t>
            </a:r>
          </a:p>
        </p:txBody>
      </p:sp>
      <p:sp>
        <p:nvSpPr>
          <p:cNvPr id="46" name="TextBox 46"/>
          <p:cNvSpPr txBox="1"/>
          <p:nvPr/>
        </p:nvSpPr>
        <p:spPr>
          <a:xfrm>
            <a:off x="9811436" y="3036199"/>
            <a:ext cx="2167118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Linear Reg</a:t>
            </a:r>
          </a:p>
        </p:txBody>
      </p:sp>
      <p:sp>
        <p:nvSpPr>
          <p:cNvPr id="47" name="TextBox 47"/>
          <p:cNvSpPr txBox="1"/>
          <p:nvPr/>
        </p:nvSpPr>
        <p:spPr>
          <a:xfrm>
            <a:off x="12161444" y="3036199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0.1284</a:t>
            </a:r>
          </a:p>
        </p:txBody>
      </p:sp>
      <p:sp>
        <p:nvSpPr>
          <p:cNvPr id="48" name="TextBox 48"/>
          <p:cNvSpPr txBox="1"/>
          <p:nvPr/>
        </p:nvSpPr>
        <p:spPr>
          <a:xfrm>
            <a:off x="13861437" y="3036199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0.0838</a:t>
            </a:r>
          </a:p>
        </p:txBody>
      </p:sp>
      <p:sp>
        <p:nvSpPr>
          <p:cNvPr id="49" name="TextBox 49"/>
          <p:cNvSpPr txBox="1"/>
          <p:nvPr/>
        </p:nvSpPr>
        <p:spPr>
          <a:xfrm>
            <a:off x="15561440" y="3036199"/>
            <a:ext cx="1567120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57.1 - best</a:t>
            </a:r>
          </a:p>
        </p:txBody>
      </p:sp>
      <p:sp>
        <p:nvSpPr>
          <p:cNvPr id="50" name="TextBox 50"/>
          <p:cNvSpPr txBox="1"/>
          <p:nvPr/>
        </p:nvSpPr>
        <p:spPr>
          <a:xfrm>
            <a:off x="9811436" y="3496199"/>
            <a:ext cx="2167118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Ridge (a=1)</a:t>
            </a:r>
          </a:p>
        </p:txBody>
      </p:sp>
      <p:sp>
        <p:nvSpPr>
          <p:cNvPr id="51" name="TextBox 51"/>
          <p:cNvSpPr txBox="1"/>
          <p:nvPr/>
        </p:nvSpPr>
        <p:spPr>
          <a:xfrm>
            <a:off x="12161444" y="3496199"/>
            <a:ext cx="1517123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0.1607</a:t>
            </a:r>
          </a:p>
        </p:txBody>
      </p:sp>
      <p:sp>
        <p:nvSpPr>
          <p:cNvPr id="52" name="TextBox 52"/>
          <p:cNvSpPr txBox="1"/>
          <p:nvPr/>
        </p:nvSpPr>
        <p:spPr>
          <a:xfrm>
            <a:off x="13861437" y="3496199"/>
            <a:ext cx="1517123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0.1139</a:t>
            </a:r>
          </a:p>
        </p:txBody>
      </p:sp>
      <p:sp>
        <p:nvSpPr>
          <p:cNvPr id="53" name="TextBox 53"/>
          <p:cNvSpPr txBox="1"/>
          <p:nvPr/>
        </p:nvSpPr>
        <p:spPr>
          <a:xfrm>
            <a:off x="15561440" y="3496199"/>
            <a:ext cx="156712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79.8</a:t>
            </a:r>
          </a:p>
        </p:txBody>
      </p:sp>
      <p:sp>
        <p:nvSpPr>
          <p:cNvPr id="54" name="TextBox 54"/>
          <p:cNvSpPr txBox="1"/>
          <p:nvPr/>
        </p:nvSpPr>
        <p:spPr>
          <a:xfrm>
            <a:off x="9811436" y="3956199"/>
            <a:ext cx="2167118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Lasso (a=0.01)</a:t>
            </a:r>
          </a:p>
        </p:txBody>
      </p:sp>
      <p:sp>
        <p:nvSpPr>
          <p:cNvPr id="55" name="TextBox 55"/>
          <p:cNvSpPr txBox="1"/>
          <p:nvPr/>
        </p:nvSpPr>
        <p:spPr>
          <a:xfrm>
            <a:off x="12161444" y="3956199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0.2058</a:t>
            </a:r>
          </a:p>
        </p:txBody>
      </p:sp>
      <p:sp>
        <p:nvSpPr>
          <p:cNvPr id="56" name="TextBox 56"/>
          <p:cNvSpPr txBox="1"/>
          <p:nvPr/>
        </p:nvSpPr>
        <p:spPr>
          <a:xfrm>
            <a:off x="13861437" y="3956199"/>
            <a:ext cx="1517123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0.1553</a:t>
            </a:r>
          </a:p>
        </p:txBody>
      </p:sp>
      <p:sp>
        <p:nvSpPr>
          <p:cNvPr id="57" name="TextBox 57"/>
          <p:cNvSpPr txBox="1"/>
          <p:nvPr/>
        </p:nvSpPr>
        <p:spPr>
          <a:xfrm>
            <a:off x="15561440" y="3956199"/>
            <a:ext cx="1567120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116.1</a:t>
            </a:r>
          </a:p>
        </p:txBody>
      </p:sp>
      <p:sp>
        <p:nvSpPr>
          <p:cNvPr id="58" name="TextBox 58"/>
          <p:cNvSpPr txBox="1"/>
          <p:nvPr/>
        </p:nvSpPr>
        <p:spPr>
          <a:xfrm>
            <a:off x="9811436" y="4416200"/>
            <a:ext cx="2167118" cy="26808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</a:p>
        </p:txBody>
      </p:sp>
      <p:sp>
        <p:nvSpPr>
          <p:cNvPr id="59" name="TextBox 59"/>
          <p:cNvSpPr txBox="1"/>
          <p:nvPr/>
        </p:nvSpPr>
        <p:spPr>
          <a:xfrm>
            <a:off x="12161444" y="4416200"/>
            <a:ext cx="1517123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0.1945</a:t>
            </a:r>
          </a:p>
        </p:txBody>
      </p:sp>
      <p:sp>
        <p:nvSpPr>
          <p:cNvPr id="60" name="TextBox 60"/>
          <p:cNvSpPr txBox="1"/>
          <p:nvPr/>
        </p:nvSpPr>
        <p:spPr>
          <a:xfrm>
            <a:off x="13861437" y="4416200"/>
            <a:ext cx="1517123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0.1407</a:t>
            </a:r>
          </a:p>
        </p:txBody>
      </p:sp>
      <p:sp>
        <p:nvSpPr>
          <p:cNvPr id="61" name="TextBox 61"/>
          <p:cNvSpPr txBox="1"/>
          <p:nvPr/>
        </p:nvSpPr>
        <p:spPr>
          <a:xfrm>
            <a:off x="15561440" y="4416200"/>
            <a:ext cx="1567120" cy="2000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lang="en-US" sz="125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94.1</a:t>
            </a:r>
          </a:p>
        </p:txBody>
      </p:sp>
      <p:sp>
        <p:nvSpPr>
          <p:cNvPr id="62" name="TextBox 62"/>
          <p:cNvSpPr txBox="1"/>
          <p:nvPr/>
        </p:nvSpPr>
        <p:spPr>
          <a:xfrm>
            <a:off x="1291438" y="5286194"/>
            <a:ext cx="15717117" cy="22860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739"/>
              </a:lnSpc>
            </a:pPr>
            <a:r>
              <a:rPr lang="en-US" sz="1449" b="1">
                <a:solidFill>
                  <a:srgbClr val="7A6F91"/>
                </a:solidFill>
                <a:latin typeface="Poppins Bold"/>
                <a:ea typeface="Poppins Bold"/>
                <a:cs typeface="Poppins Bold"/>
                <a:sym typeface="Poppins Bold"/>
              </a:rPr>
              <a:t>The alcohol_per_capita coefficient stays small and positive across all models (+0.04 to +0.06)</a:t>
            </a:r>
          </a:p>
        </p:txBody>
      </p:sp>
      <p:sp>
        <p:nvSpPr>
          <p:cNvPr id="63" name="TextBox 63"/>
          <p:cNvSpPr txBox="1"/>
          <p:nvPr/>
        </p:nvSpPr>
        <p:spPr>
          <a:xfrm>
            <a:off x="1591437" y="8786193"/>
            <a:ext cx="15117118" cy="39052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559"/>
              </a:lnSpc>
            </a:pPr>
            <a:r>
              <a:rPr lang="en-US" sz="12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Model B trains on far fewer rows (120 vs 504) over a different period - RMSE differences reflect data scarcity as much as the alcohol predictor. Alcohol shows a small, positive, but weak and uncertain association with assault rates.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Technical Challenges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0097" y="2548409"/>
            <a:ext cx="7717117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Four Key Challenges Encountered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60097" y="3322015"/>
            <a:ext cx="150000" cy="150000"/>
            <a:chOff x="0" y="0"/>
            <a:chExt cx="200000" cy="200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21543" y="3308213"/>
            <a:ext cx="13986592" cy="534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1: Schema mismatch across 10 years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PROMIS and </a:t>
            </a: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SerPro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use different offence labels for the same crime. Required a manual 11-entry translation table.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60097" y="4282021"/>
            <a:ext cx="150000" cy="150000"/>
            <a:chOff x="0" y="0"/>
            <a:chExt cx="200000" cy="20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521543" y="4268219"/>
            <a:ext cx="13986592" cy="803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2: Region boundary mismatch (7 ≠ 6)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"NT Balance" rows had no direct region label. Resolved via SA2 geographic lookup matching 16 suburb codes to NTG regions. Without this fix, Greater Darwin population is double-counted.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60097" y="5242017"/>
            <a:ext cx="150000" cy="150000"/>
            <a:chOff x="0" y="0"/>
            <a:chExt cx="200000" cy="200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21543" y="5228215"/>
            <a:ext cx="13986592" cy="534057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3: Alcohol data too short to model reliably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Wholesale alcohol supply only from 2023. Model B trains on 120 rows vs 504 for Model A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60097" y="6202023"/>
            <a:ext cx="150000" cy="150000"/>
            <a:chOff x="0" y="0"/>
            <a:chExt cx="200000" cy="200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21543" y="6188212"/>
            <a:ext cx="13986592" cy="803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Challenge 4: </a:t>
            </a:r>
            <a:r>
              <a:rPr lang="en-US" sz="1749" b="1" dirty="0" err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XGBoost</a:t>
            </a: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 vs moving average trade-off</a:t>
            </a:r>
          </a:p>
          <a:p>
            <a:pPr algn="just">
              <a:lnSpc>
                <a:spcPts val="2099"/>
              </a:lnSpc>
            </a:pP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outperforms only at h=1 month, not beyond. This is a genuine finding: assault rates are mean-reverting at longer horizons where a simple moving average captures the local level better.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Ethics &amp; Governance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0097" y="2548409"/>
            <a:ext cx="7717117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CARE Principles Applied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60097" y="3322015"/>
            <a:ext cx="150000" cy="150000"/>
            <a:chOff x="0" y="0"/>
            <a:chExt cx="200000" cy="200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21543" y="3308213"/>
            <a:ext cx="13986592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 — Collective Benefit</a:t>
            </a:r>
          </a:p>
          <a:p>
            <a:pPr algn="just">
              <a:lnSpc>
                <a:spcPts val="2099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Forecasts are designed to support public safety resource planning across all NT regions, not to surveil or target any individual or community group.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60097" y="4282021"/>
            <a:ext cx="150000" cy="150000"/>
            <a:chOff x="0" y="0"/>
            <a:chExt cx="200000" cy="20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521543" y="4268219"/>
            <a:ext cx="13986592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 — Authority to Control</a:t>
            </a:r>
          </a:p>
          <a:p>
            <a:pPr algn="just">
              <a:lnSpc>
                <a:spcPts val="2099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All data is sourced from publicly released NT Government datasets. No personal or identifiable information is collected or stored.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60097" y="5242017"/>
            <a:ext cx="150000" cy="150000"/>
            <a:chOff x="0" y="0"/>
            <a:chExt cx="200000" cy="200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21543" y="5228215"/>
            <a:ext cx="13986592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R — Responsibility</a:t>
            </a:r>
          </a:p>
          <a:p>
            <a:pPr algn="just">
              <a:lnSpc>
                <a:spcPts val="2099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The pipeline logs every ingest run to manifest.json for full traceability. Provisional months are excluded from evaluation to prevent misleading accuracy claims.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60097" y="6202023"/>
            <a:ext cx="150000" cy="150000"/>
            <a:chOff x="0" y="0"/>
            <a:chExt cx="200000" cy="200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21543" y="6188212"/>
            <a:ext cx="13986592" cy="7810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E — Ethics</a:t>
            </a:r>
          </a:p>
          <a:p>
            <a:pPr algn="just">
              <a:lnSpc>
                <a:spcPts val="2099"/>
              </a:lnSpc>
            </a:pPr>
            <a:r>
              <a:rPr lang="en-US" sz="174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Forecast outputs should inform planning decisions, not be used to justify increased policing of specific communities. Model limitations (small alcohol sample, regional aggregation) are explicitly documented.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AU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System Demonstration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310097" y="2548409"/>
            <a:ext cx="7717117" cy="333375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519"/>
              </a:lnSpc>
            </a:pPr>
            <a:r>
              <a:rPr lang="en-US" sz="20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Current System + Streamlit Dashboard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60097" y="3322015"/>
            <a:ext cx="150000" cy="150000"/>
            <a:chOff x="0" y="0"/>
            <a:chExt cx="200000" cy="200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21543" y="3308213"/>
            <a:ext cx="13986592" cy="134197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outputs (live)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nt_crime_merged_2015_2025.csv (696 rows)  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E4_backtest_metrics.csv 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E5_prediction_intervals.csv </a:t>
            </a:r>
          </a:p>
          <a:p>
            <a:pPr algn="just">
              <a:lnSpc>
                <a:spcPts val="2099"/>
              </a:lnSpc>
            </a:pP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regression_plots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/ (per-region forecast charts)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32388" y="4928702"/>
            <a:ext cx="150000" cy="150000"/>
            <a:chOff x="0" y="0"/>
            <a:chExt cx="200000" cy="20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493834" y="4914900"/>
            <a:ext cx="13986592" cy="10726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 err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Streamlit</a:t>
            </a: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 Dashboard  (in development )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Region selector → monthly forecast chart with 80% prediction intervals 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Model toggle: </a:t>
            </a: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(h=1) / 12-month MA (h=3–12) 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Auto-refresh when new monthly data is added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60097" y="6362942"/>
            <a:ext cx="150000" cy="150000"/>
            <a:chOff x="0" y="0"/>
            <a:chExt cx="200000" cy="200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493834" y="6286500"/>
            <a:ext cx="13986592" cy="803361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Deployment target</a:t>
            </a:r>
          </a:p>
          <a:p>
            <a:pPr algn="just">
              <a:lnSpc>
                <a:spcPts val="2099"/>
              </a:lnSpc>
            </a:pP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Streamlit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Cloud: accessible to NT Police analysts without local installation. Drift monitoring to flag when new data falls outside historical prediction intervals.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32388" y="7367111"/>
            <a:ext cx="150000" cy="150000"/>
            <a:chOff x="0" y="0"/>
            <a:chExt cx="200000" cy="200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AU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493834" y="7353300"/>
            <a:ext cx="13986592" cy="107266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099"/>
              </a:lnSpc>
            </a:pPr>
            <a:r>
              <a:rPr lang="en-US" sz="1749" b="1" dirty="0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Access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Repository: 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  <a:hlinkClick r:id="rId4"/>
              </a:rPr>
              <a:t>https://github.com/HendrickDang/PRT661-DATA-SCIENCE-PRACTICE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Run: python Updated_End_to_End_pipeline.py </a:t>
            </a:r>
          </a:p>
          <a:p>
            <a:pPr algn="just">
              <a:lnSpc>
                <a:spcPts val="2099"/>
              </a:lnSpc>
            </a:pP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Dashboard: </a:t>
            </a:r>
            <a:r>
              <a:rPr lang="en-US" sz="1749" dirty="0" err="1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streamlit</a:t>
            </a:r>
            <a:r>
              <a:rPr lang="en-US" sz="1749" dirty="0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 run app.py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000000"/>
                </a:solidFill>
                <a:latin typeface="Poppins Bold"/>
                <a:ea typeface="Poppins Bold"/>
                <a:cs typeface="Poppins Bold"/>
                <a:sym typeface="Poppins Bold"/>
              </a:rPr>
              <a:t>Pipeline Status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291438" y="1776670"/>
            <a:ext cx="7717117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DONE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99998" y="2249996"/>
            <a:ext cx="150000" cy="150000"/>
            <a:chOff x="0" y="0"/>
            <a:chExt cx="200000" cy="200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561443" y="2226669"/>
            <a:ext cx="73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Raw data ingestion + validation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199998" y="2729998"/>
            <a:ext cx="150000" cy="150000"/>
            <a:chOff x="0" y="0"/>
            <a:chExt cx="200000" cy="20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561443" y="2706672"/>
            <a:ext cx="73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Schema harmonisation (PROMIS -&gt; ANZSOC)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99998" y="3210001"/>
            <a:ext cx="150000" cy="150000"/>
            <a:chOff x="0" y="0"/>
            <a:chExt cx="200000" cy="200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561443" y="3186674"/>
            <a:ext cx="73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Region crosswalk (7 -&gt; 6 regions)</a:t>
            </a:r>
          </a:p>
        </p:txBody>
      </p:sp>
      <p:grpSp>
        <p:nvGrpSpPr>
          <p:cNvPr id="21" name="Group 21"/>
          <p:cNvGrpSpPr/>
          <p:nvPr/>
        </p:nvGrpSpPr>
        <p:grpSpPr>
          <a:xfrm>
            <a:off x="1199998" y="3690004"/>
            <a:ext cx="150000" cy="150000"/>
            <a:chOff x="0" y="0"/>
            <a:chExt cx="200000" cy="200000"/>
          </a:xfrm>
        </p:grpSpPr>
        <p:sp>
          <p:nvSpPr>
            <p:cNvPr id="22" name="Freeform 22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3" name="TextBox 23"/>
          <p:cNvSpPr txBox="1"/>
          <p:nvPr/>
        </p:nvSpPr>
        <p:spPr>
          <a:xfrm>
            <a:off x="1561443" y="3666668"/>
            <a:ext cx="73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Feature engineering (lags, cyclical, PCA)</a:t>
            </a:r>
          </a:p>
        </p:txBody>
      </p:sp>
      <p:grpSp>
        <p:nvGrpSpPr>
          <p:cNvPr id="24" name="Group 24"/>
          <p:cNvGrpSpPr/>
          <p:nvPr/>
        </p:nvGrpSpPr>
        <p:grpSpPr>
          <a:xfrm>
            <a:off x="1199998" y="4169997"/>
            <a:ext cx="150000" cy="150000"/>
            <a:chOff x="0" y="0"/>
            <a:chExt cx="200000" cy="200000"/>
          </a:xfrm>
        </p:grpSpPr>
        <p:sp>
          <p:nvSpPr>
            <p:cNvPr id="25" name="Freeform 25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6" name="TextBox 26"/>
          <p:cNvSpPr txBox="1"/>
          <p:nvPr/>
        </p:nvSpPr>
        <p:spPr>
          <a:xfrm>
            <a:off x="1561443" y="4146671"/>
            <a:ext cx="73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Model training + evaluation (4 models)</a:t>
            </a:r>
          </a:p>
        </p:txBody>
      </p:sp>
      <p:grpSp>
        <p:nvGrpSpPr>
          <p:cNvPr id="27" name="Group 27"/>
          <p:cNvGrpSpPr/>
          <p:nvPr/>
        </p:nvGrpSpPr>
        <p:grpSpPr>
          <a:xfrm>
            <a:off x="1199998" y="4650000"/>
            <a:ext cx="150000" cy="150000"/>
            <a:chOff x="0" y="0"/>
            <a:chExt cx="200000" cy="200000"/>
          </a:xfrm>
        </p:grpSpPr>
        <p:sp>
          <p:nvSpPr>
            <p:cNvPr id="28" name="Freeform 28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9" name="TextBox 29"/>
          <p:cNvSpPr txBox="1"/>
          <p:nvPr/>
        </p:nvSpPr>
        <p:spPr>
          <a:xfrm>
            <a:off x="1561443" y="4626674"/>
            <a:ext cx="73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Leakage-free CV + rolling-origin backtest</a:t>
            </a:r>
          </a:p>
        </p:txBody>
      </p:sp>
      <p:grpSp>
        <p:nvGrpSpPr>
          <p:cNvPr id="30" name="Group 30"/>
          <p:cNvGrpSpPr/>
          <p:nvPr/>
        </p:nvGrpSpPr>
        <p:grpSpPr>
          <a:xfrm>
            <a:off x="1199998" y="5130003"/>
            <a:ext cx="150000" cy="150000"/>
            <a:chOff x="0" y="0"/>
            <a:chExt cx="200000" cy="200000"/>
          </a:xfrm>
        </p:grpSpPr>
        <p:sp>
          <p:nvSpPr>
            <p:cNvPr id="31" name="Freeform 31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2" name="TextBox 32"/>
          <p:cNvSpPr txBox="1"/>
          <p:nvPr/>
        </p:nvSpPr>
        <p:spPr>
          <a:xfrm>
            <a:off x="1561443" y="5106667"/>
            <a:ext cx="73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End-to-end pipeline in a single script</a:t>
            </a:r>
          </a:p>
        </p:txBody>
      </p:sp>
      <p:grpSp>
        <p:nvGrpSpPr>
          <p:cNvPr id="33" name="Group 33"/>
          <p:cNvGrpSpPr/>
          <p:nvPr/>
        </p:nvGrpSpPr>
        <p:grpSpPr>
          <a:xfrm>
            <a:off x="1199998" y="5609996"/>
            <a:ext cx="150000" cy="150000"/>
            <a:chOff x="0" y="0"/>
            <a:chExt cx="200000" cy="200000"/>
          </a:xfrm>
        </p:grpSpPr>
        <p:sp>
          <p:nvSpPr>
            <p:cNvPr id="34" name="Freeform 34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5" name="TextBox 35"/>
          <p:cNvSpPr txBox="1"/>
          <p:nvPr/>
        </p:nvSpPr>
        <p:spPr>
          <a:xfrm>
            <a:off x="1561443" y="5586670"/>
            <a:ext cx="7317124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Ethics &amp; governance reviewed (CARE Principles)</a:t>
            </a:r>
          </a:p>
        </p:txBody>
      </p:sp>
      <p:sp>
        <p:nvSpPr>
          <p:cNvPr id="36" name="TextBox 36"/>
          <p:cNvSpPr txBox="1"/>
          <p:nvPr/>
        </p:nvSpPr>
        <p:spPr>
          <a:xfrm>
            <a:off x="9691440" y="1776670"/>
            <a:ext cx="7317124" cy="213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b="1" dirty="0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FUTURE WORK BEFORE ASSIGNMENT 4</a:t>
            </a:r>
          </a:p>
        </p:txBody>
      </p:sp>
      <p:grpSp>
        <p:nvGrpSpPr>
          <p:cNvPr id="40" name="Group 40"/>
          <p:cNvGrpSpPr/>
          <p:nvPr/>
        </p:nvGrpSpPr>
        <p:grpSpPr>
          <a:xfrm>
            <a:off x="9600000" y="2271226"/>
            <a:ext cx="150000" cy="150000"/>
            <a:chOff x="0" y="0"/>
            <a:chExt cx="200000" cy="200000"/>
          </a:xfrm>
        </p:grpSpPr>
        <p:sp>
          <p:nvSpPr>
            <p:cNvPr id="41" name="Freeform 41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2" name="TextBox 42"/>
          <p:cNvSpPr txBox="1"/>
          <p:nvPr/>
        </p:nvSpPr>
        <p:spPr>
          <a:xfrm>
            <a:off x="9961436" y="2247900"/>
            <a:ext cx="7017125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Deployment to Streamlit Cloud (Week 10)</a:t>
            </a:r>
          </a:p>
        </p:txBody>
      </p:sp>
      <p:grpSp>
        <p:nvGrpSpPr>
          <p:cNvPr id="43" name="Group 43"/>
          <p:cNvGrpSpPr/>
          <p:nvPr/>
        </p:nvGrpSpPr>
        <p:grpSpPr>
          <a:xfrm>
            <a:off x="9600000" y="2751229"/>
            <a:ext cx="150000" cy="150000"/>
            <a:chOff x="0" y="0"/>
            <a:chExt cx="200000" cy="200000"/>
          </a:xfrm>
        </p:grpSpPr>
        <p:sp>
          <p:nvSpPr>
            <p:cNvPr id="44" name="Freeform 44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45" name="TextBox 45"/>
          <p:cNvSpPr txBox="1"/>
          <p:nvPr/>
        </p:nvSpPr>
        <p:spPr>
          <a:xfrm>
            <a:off x="9961436" y="2727902"/>
            <a:ext cx="7017125" cy="27760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Monitoring + drift detection (Week 10)</a:t>
            </a:r>
          </a:p>
        </p:txBody>
      </p:sp>
      <p:grpSp>
        <p:nvGrpSpPr>
          <p:cNvPr id="46" name="Group 46"/>
          <p:cNvGrpSpPr/>
          <p:nvPr/>
        </p:nvGrpSpPr>
        <p:grpSpPr>
          <a:xfrm>
            <a:off x="9508550" y="4416781"/>
            <a:ext cx="7200005" cy="3960000"/>
            <a:chOff x="0" y="0"/>
            <a:chExt cx="9600006" cy="5280000"/>
          </a:xfrm>
        </p:grpSpPr>
        <p:sp>
          <p:nvSpPr>
            <p:cNvPr id="47" name="Freeform 47" descr="n_roadmap.png"/>
            <p:cNvSpPr/>
            <p:nvPr/>
          </p:nvSpPr>
          <p:spPr>
            <a:xfrm>
              <a:off x="0" y="0"/>
              <a:ext cx="9600057" cy="5280025"/>
            </a:xfrm>
            <a:custGeom>
              <a:avLst/>
              <a:gdLst/>
              <a:ahLst/>
              <a:cxnLst/>
              <a:rect l="l" t="t" r="r" b="b"/>
              <a:pathLst>
                <a:path w="9600057" h="5280025">
                  <a:moveTo>
                    <a:pt x="0" y="0"/>
                  </a:moveTo>
                  <a:lnTo>
                    <a:pt x="9600057" y="0"/>
                  </a:lnTo>
                  <a:lnTo>
                    <a:pt x="9600057" y="5280025"/>
                  </a:lnTo>
                  <a:lnTo>
                    <a:pt x="0" y="528002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8" name="Group 48"/>
          <p:cNvGrpSpPr/>
          <p:nvPr/>
        </p:nvGrpSpPr>
        <p:grpSpPr>
          <a:xfrm>
            <a:off x="1199998" y="8850001"/>
            <a:ext cx="15899997" cy="899998"/>
            <a:chOff x="0" y="0"/>
            <a:chExt cx="21199996" cy="1199998"/>
          </a:xfrm>
        </p:grpSpPr>
        <p:sp>
          <p:nvSpPr>
            <p:cNvPr id="49" name="Freeform 49"/>
            <p:cNvSpPr/>
            <p:nvPr/>
          </p:nvSpPr>
          <p:spPr>
            <a:xfrm>
              <a:off x="0" y="0"/>
              <a:ext cx="21199982" cy="1200023"/>
            </a:xfrm>
            <a:custGeom>
              <a:avLst/>
              <a:gdLst/>
              <a:ahLst/>
              <a:cxnLst/>
              <a:rect l="l" t="t" r="r" b="b"/>
              <a:pathLst>
                <a:path w="21199982" h="1200023">
                  <a:moveTo>
                    <a:pt x="0" y="144018"/>
                  </a:moveTo>
                  <a:cubicBezTo>
                    <a:pt x="0" y="64516"/>
                    <a:pt x="64516" y="0"/>
                    <a:pt x="144018" y="0"/>
                  </a:cubicBezTo>
                  <a:lnTo>
                    <a:pt x="21055964" y="0"/>
                  </a:lnTo>
                  <a:cubicBezTo>
                    <a:pt x="21135467" y="0"/>
                    <a:pt x="21199982" y="64516"/>
                    <a:pt x="21199982" y="144018"/>
                  </a:cubicBezTo>
                  <a:lnTo>
                    <a:pt x="21199982" y="1056005"/>
                  </a:lnTo>
                  <a:cubicBezTo>
                    <a:pt x="21199982" y="1135507"/>
                    <a:pt x="21135467" y="1200023"/>
                    <a:pt x="21055964" y="1200023"/>
                  </a:cubicBezTo>
                  <a:lnTo>
                    <a:pt x="144018" y="1200023"/>
                  </a:lnTo>
                  <a:cubicBezTo>
                    <a:pt x="64516" y="1200023"/>
                    <a:pt x="0" y="1135507"/>
                    <a:pt x="0" y="1056005"/>
                  </a:cubicBezTo>
                  <a:close/>
                </a:path>
              </a:pathLst>
            </a:custGeom>
            <a:solidFill>
              <a:srgbClr val="FFFFFF">
                <a:alpha val="67059"/>
              </a:srgbClr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0" name="TextBox 50"/>
          <p:cNvSpPr txBox="1"/>
          <p:nvPr/>
        </p:nvSpPr>
        <p:spPr>
          <a:xfrm>
            <a:off x="1591437" y="9076668"/>
            <a:ext cx="15117118" cy="213776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lang="en-US" sz="140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The pipeline is complete and reproducible. All remaining work is deployment and monitoring</a:t>
            </a:r>
          </a:p>
        </p:txBody>
      </p:sp>
      <p:grpSp>
        <p:nvGrpSpPr>
          <p:cNvPr id="51" name="Group 33">
            <a:extLst>
              <a:ext uri="{FF2B5EF4-FFF2-40B4-BE49-F238E27FC236}">
                <a16:creationId xmlns:a16="http://schemas.microsoft.com/office/drawing/2014/main" id="{4FC27293-E22B-C444-F303-566BE1CA97CE}"/>
              </a:ext>
            </a:extLst>
          </p:cNvPr>
          <p:cNvGrpSpPr/>
          <p:nvPr/>
        </p:nvGrpSpPr>
        <p:grpSpPr>
          <a:xfrm>
            <a:off x="1236831" y="6032220"/>
            <a:ext cx="150000" cy="150000"/>
            <a:chOff x="0" y="0"/>
            <a:chExt cx="200000" cy="200000"/>
          </a:xfrm>
        </p:grpSpPr>
        <p:sp>
          <p:nvSpPr>
            <p:cNvPr id="52" name="Freeform 34">
              <a:extLst>
                <a:ext uri="{FF2B5EF4-FFF2-40B4-BE49-F238E27FC236}">
                  <a16:creationId xmlns:a16="http://schemas.microsoft.com/office/drawing/2014/main" id="{60E0B400-908B-D55E-9809-2C34A6C3BE94}"/>
                </a:ext>
              </a:extLst>
            </p:cNvPr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3" name="TextBox 35">
            <a:extLst>
              <a:ext uri="{FF2B5EF4-FFF2-40B4-BE49-F238E27FC236}">
                <a16:creationId xmlns:a16="http://schemas.microsoft.com/office/drawing/2014/main" id="{3A1B6DAD-4F18-F1AD-CDE8-8CEDE9CA9486}"/>
              </a:ext>
            </a:extLst>
          </p:cNvPr>
          <p:cNvSpPr txBox="1"/>
          <p:nvPr/>
        </p:nvSpPr>
        <p:spPr>
          <a:xfrm>
            <a:off x="1598276" y="6008894"/>
            <a:ext cx="7317124" cy="20518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1620"/>
              </a:lnSpc>
            </a:pPr>
            <a:r>
              <a:rPr lang="en-US" sz="1350" dirty="0" err="1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Streamlit</a:t>
            </a:r>
            <a:r>
              <a:rPr lang="en-US" sz="1350" dirty="0">
                <a:solidFill>
                  <a:srgbClr val="000000"/>
                </a:solidFill>
                <a:latin typeface="Poppins"/>
                <a:ea typeface="Poppins"/>
                <a:cs typeface="Poppins"/>
                <a:sym typeface="Poppins"/>
              </a:rPr>
              <a:t> Dashboard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0" y="0"/>
            <a:ext cx="18288000" cy="10287000"/>
            <a:chOff x="0" y="0"/>
            <a:chExt cx="24384000" cy="13716000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24384000" cy="13716000"/>
            </a:xfrm>
            <a:custGeom>
              <a:avLst/>
              <a:gdLst/>
              <a:ahLst/>
              <a:cxnLst/>
              <a:rect l="l" t="t" r="r" b="b"/>
              <a:pathLst>
                <a:path w="24384000" h="13716000">
                  <a:moveTo>
                    <a:pt x="0" y="0"/>
                  </a:moveTo>
                  <a:lnTo>
                    <a:pt x="24384000" y="0"/>
                  </a:lnTo>
                  <a:lnTo>
                    <a:pt x="24384000" y="13716000"/>
                  </a:lnTo>
                  <a:lnTo>
                    <a:pt x="0" y="13716000"/>
                  </a:lnTo>
                  <a:close/>
                </a:path>
              </a:pathLst>
            </a:custGeom>
            <a:solidFill>
              <a:srgbClr val="D9F0FF"/>
            </a:solid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4" name="Group 4"/>
          <p:cNvGrpSpPr/>
          <p:nvPr/>
        </p:nvGrpSpPr>
        <p:grpSpPr>
          <a:xfrm>
            <a:off x="59998" y="80000"/>
            <a:ext cx="678161" cy="480003"/>
            <a:chOff x="0" y="0"/>
            <a:chExt cx="904215" cy="640004"/>
          </a:xfrm>
        </p:grpSpPr>
        <p:sp>
          <p:nvSpPr>
            <p:cNvPr id="5" name="Freeform 5" descr="deco_hat.png"/>
            <p:cNvSpPr/>
            <p:nvPr/>
          </p:nvSpPr>
          <p:spPr>
            <a:xfrm>
              <a:off x="0" y="0"/>
              <a:ext cx="904240" cy="639953"/>
            </a:xfrm>
            <a:custGeom>
              <a:avLst/>
              <a:gdLst/>
              <a:ahLst/>
              <a:cxnLst/>
              <a:rect l="l" t="t" r="r" b="b"/>
              <a:pathLst>
                <a:path w="904240" h="639953">
                  <a:moveTo>
                    <a:pt x="0" y="0"/>
                  </a:moveTo>
                  <a:lnTo>
                    <a:pt x="904240" y="0"/>
                  </a:lnTo>
                  <a:lnTo>
                    <a:pt x="904240" y="639953"/>
                  </a:lnTo>
                  <a:lnTo>
                    <a:pt x="0" y="63995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2"/>
              <a:stretch>
                <a:fillRect r="2" b="-7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6" name="Group 6"/>
          <p:cNvGrpSpPr/>
          <p:nvPr/>
        </p:nvGrpSpPr>
        <p:grpSpPr>
          <a:xfrm>
            <a:off x="17667999" y="69999"/>
            <a:ext cx="439426" cy="560003"/>
            <a:chOff x="0" y="0"/>
            <a:chExt cx="585902" cy="746671"/>
          </a:xfrm>
        </p:grpSpPr>
        <p:sp>
          <p:nvSpPr>
            <p:cNvPr id="7" name="Freeform 7" descr="deco_cuffs.png"/>
            <p:cNvSpPr/>
            <p:nvPr/>
          </p:nvSpPr>
          <p:spPr>
            <a:xfrm>
              <a:off x="0" y="0"/>
              <a:ext cx="585851" cy="746633"/>
            </a:xfrm>
            <a:custGeom>
              <a:avLst/>
              <a:gdLst/>
              <a:ahLst/>
              <a:cxnLst/>
              <a:rect l="l" t="t" r="r" b="b"/>
              <a:pathLst>
                <a:path w="585851" h="746633">
                  <a:moveTo>
                    <a:pt x="0" y="0"/>
                  </a:moveTo>
                  <a:lnTo>
                    <a:pt x="585851" y="0"/>
                  </a:lnTo>
                  <a:lnTo>
                    <a:pt x="585851" y="746633"/>
                  </a:lnTo>
                  <a:lnTo>
                    <a:pt x="0" y="74663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r="-8" b="-5"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grpSp>
        <p:nvGrpSpPr>
          <p:cNvPr id="8" name="Group 8"/>
          <p:cNvGrpSpPr/>
          <p:nvPr/>
        </p:nvGrpSpPr>
        <p:grpSpPr>
          <a:xfrm>
            <a:off x="800100" y="700002"/>
            <a:ext cx="359997" cy="359997"/>
            <a:chOff x="0" y="0"/>
            <a:chExt cx="479996" cy="479996"/>
          </a:xfrm>
        </p:grpSpPr>
        <p:sp>
          <p:nvSpPr>
            <p:cNvPr id="9" name="Freeform 9"/>
            <p:cNvSpPr/>
            <p:nvPr/>
          </p:nvSpPr>
          <p:spPr>
            <a:xfrm>
              <a:off x="0" y="0"/>
              <a:ext cx="480060" cy="480060"/>
            </a:xfrm>
            <a:custGeom>
              <a:avLst/>
              <a:gdLst/>
              <a:ahLst/>
              <a:cxnLst/>
              <a:rect l="l" t="t" r="r" b="b"/>
              <a:pathLst>
                <a:path w="480060" h="480060">
                  <a:moveTo>
                    <a:pt x="0" y="240030"/>
                  </a:moveTo>
                  <a:cubicBezTo>
                    <a:pt x="0" y="107442"/>
                    <a:pt x="107442" y="0"/>
                    <a:pt x="240030" y="0"/>
                  </a:cubicBezTo>
                  <a:cubicBezTo>
                    <a:pt x="372618" y="0"/>
                    <a:pt x="480060" y="107442"/>
                    <a:pt x="480060" y="240030"/>
                  </a:cubicBezTo>
                  <a:cubicBezTo>
                    <a:pt x="480060" y="372618"/>
                    <a:pt x="372491" y="480060"/>
                    <a:pt x="240030" y="480060"/>
                  </a:cubicBezTo>
                  <a:cubicBezTo>
                    <a:pt x="107569" y="480060"/>
                    <a:pt x="0" y="372491"/>
                    <a:pt x="0" y="240030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0" name="TextBox 10"/>
          <p:cNvSpPr txBox="1"/>
          <p:nvPr/>
        </p:nvSpPr>
        <p:spPr>
          <a:xfrm>
            <a:off x="1411443" y="657149"/>
            <a:ext cx="11817125" cy="5143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840"/>
              </a:lnSpc>
            </a:pPr>
            <a:r>
              <a:rPr lang="en-US" sz="3200" b="1">
                <a:solidFill>
                  <a:srgbClr val="33294B"/>
                </a:solidFill>
                <a:latin typeface="Poppins Bold"/>
                <a:ea typeface="Poppins Bold"/>
                <a:cs typeface="Poppins Bold"/>
                <a:sym typeface="Poppins Bold"/>
              </a:rPr>
              <a:t>Conclusions &amp; Recommendations</a:t>
            </a:r>
          </a:p>
        </p:txBody>
      </p:sp>
      <p:sp>
        <p:nvSpPr>
          <p:cNvPr id="11" name="TextBox 11"/>
          <p:cNvSpPr txBox="1"/>
          <p:nvPr/>
        </p:nvSpPr>
        <p:spPr>
          <a:xfrm>
            <a:off x="1199998" y="2380945"/>
            <a:ext cx="7717117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1799" b="1">
                <a:solidFill>
                  <a:srgbClr val="3FA593"/>
                </a:solidFill>
                <a:latin typeface="Poppins Bold"/>
                <a:ea typeface="Poppins Bold"/>
                <a:cs typeface="Poppins Bold"/>
                <a:sym typeface="Poppins Bold"/>
              </a:rPr>
              <a:t>What We Found</a:t>
            </a:r>
          </a:p>
        </p:txBody>
      </p:sp>
      <p:grpSp>
        <p:nvGrpSpPr>
          <p:cNvPr id="12" name="Group 12"/>
          <p:cNvGrpSpPr/>
          <p:nvPr/>
        </p:nvGrpSpPr>
        <p:grpSpPr>
          <a:xfrm>
            <a:off x="1103700" y="2897134"/>
            <a:ext cx="150000" cy="150000"/>
            <a:chOff x="0" y="0"/>
            <a:chExt cx="200000" cy="2000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4" name="TextBox 14"/>
          <p:cNvSpPr txBox="1"/>
          <p:nvPr/>
        </p:nvSpPr>
        <p:spPr>
          <a:xfrm>
            <a:off x="1470003" y="2830944"/>
            <a:ext cx="7317124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XGBoost achieves the best short-horizon accuracy: 29% skill improvement over seasonal naive at h = 1 month</a:t>
            </a:r>
          </a:p>
        </p:txBody>
      </p:sp>
      <p:grpSp>
        <p:nvGrpSpPr>
          <p:cNvPr id="15" name="Group 15"/>
          <p:cNvGrpSpPr/>
          <p:nvPr/>
        </p:nvGrpSpPr>
        <p:grpSpPr>
          <a:xfrm>
            <a:off x="1028700" y="5161197"/>
            <a:ext cx="150000" cy="150000"/>
            <a:chOff x="0" y="0"/>
            <a:chExt cx="200000" cy="200000"/>
          </a:xfrm>
        </p:grpSpPr>
        <p:sp>
          <p:nvSpPr>
            <p:cNvPr id="16" name="Freeform 1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17" name="TextBox 17"/>
          <p:cNvSpPr txBox="1"/>
          <p:nvPr/>
        </p:nvSpPr>
        <p:spPr>
          <a:xfrm>
            <a:off x="1470003" y="3787197"/>
            <a:ext cx="7317124" cy="81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Beyond 1 month, the 12-month moving average outperforms all models at h = 3, 6, and 12 — added complexity does not help at longer horizons</a:t>
            </a:r>
          </a:p>
        </p:txBody>
      </p:sp>
      <p:grpSp>
        <p:nvGrpSpPr>
          <p:cNvPr id="18" name="Group 18"/>
          <p:cNvGrpSpPr/>
          <p:nvPr/>
        </p:nvGrpSpPr>
        <p:grpSpPr>
          <a:xfrm>
            <a:off x="1103700" y="4007139"/>
            <a:ext cx="150000" cy="150000"/>
            <a:chOff x="0" y="0"/>
            <a:chExt cx="200000" cy="200000"/>
          </a:xfrm>
        </p:grpSpPr>
        <p:sp>
          <p:nvSpPr>
            <p:cNvPr id="19" name="Freeform 1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3FA593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0" name="TextBox 20"/>
          <p:cNvSpPr txBox="1"/>
          <p:nvPr/>
        </p:nvSpPr>
        <p:spPr>
          <a:xfrm>
            <a:off x="1470003" y="4892097"/>
            <a:ext cx="7317124" cy="8191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Alcohol supply shows a small positive association with assault rates (+0.04 to +0.06 per capita) but the 2023–2025 window is too short to draw firm conclusions</a:t>
            </a:r>
          </a:p>
        </p:txBody>
      </p:sp>
      <p:sp>
        <p:nvSpPr>
          <p:cNvPr id="21" name="TextBox 21"/>
          <p:cNvSpPr txBox="1"/>
          <p:nvPr/>
        </p:nvSpPr>
        <p:spPr>
          <a:xfrm>
            <a:off x="9600000" y="2380945"/>
            <a:ext cx="7317124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2159"/>
              </a:lnSpc>
            </a:pPr>
            <a:r>
              <a:rPr lang="en-US" sz="1799" b="1">
                <a:solidFill>
                  <a:srgbClr val="E9A25E"/>
                </a:solidFill>
                <a:latin typeface="Poppins Bold"/>
                <a:ea typeface="Poppins Bold"/>
                <a:cs typeface="Poppins Bold"/>
                <a:sym typeface="Poppins Bold"/>
              </a:rPr>
              <a:t>Recommendations</a:t>
            </a:r>
          </a:p>
        </p:txBody>
      </p:sp>
      <p:grpSp>
        <p:nvGrpSpPr>
          <p:cNvPr id="22" name="Group 22"/>
          <p:cNvGrpSpPr/>
          <p:nvPr/>
        </p:nvGrpSpPr>
        <p:grpSpPr>
          <a:xfrm>
            <a:off x="9503702" y="2897134"/>
            <a:ext cx="150000" cy="150000"/>
            <a:chOff x="0" y="0"/>
            <a:chExt cx="200000" cy="200000"/>
          </a:xfrm>
        </p:grpSpPr>
        <p:sp>
          <p:nvSpPr>
            <p:cNvPr id="23" name="Freeform 23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4" name="TextBox 24"/>
          <p:cNvSpPr txBox="1"/>
          <p:nvPr/>
        </p:nvSpPr>
        <p:spPr>
          <a:xfrm>
            <a:off x="9869995" y="2830944"/>
            <a:ext cx="7017125" cy="2857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Deploy XGBoost for 1-month-ahead operational forecasts</a:t>
            </a:r>
          </a:p>
        </p:txBody>
      </p:sp>
      <p:grpSp>
        <p:nvGrpSpPr>
          <p:cNvPr id="25" name="Group 25"/>
          <p:cNvGrpSpPr/>
          <p:nvPr/>
        </p:nvGrpSpPr>
        <p:grpSpPr>
          <a:xfrm>
            <a:off x="9503702" y="4007139"/>
            <a:ext cx="150000" cy="150000"/>
            <a:chOff x="0" y="0"/>
            <a:chExt cx="200000" cy="200000"/>
          </a:xfrm>
        </p:grpSpPr>
        <p:sp>
          <p:nvSpPr>
            <p:cNvPr id="26" name="Freeform 26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27" name="TextBox 27"/>
          <p:cNvSpPr txBox="1"/>
          <p:nvPr/>
        </p:nvSpPr>
        <p:spPr>
          <a:xfrm>
            <a:off x="9869995" y="3787197"/>
            <a:ext cx="7017125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Use 12-month moving average as the reference benchmark for 3–12 month planning horizons</a:t>
            </a:r>
          </a:p>
        </p:txBody>
      </p:sp>
      <p:grpSp>
        <p:nvGrpSpPr>
          <p:cNvPr id="28" name="Group 28"/>
          <p:cNvGrpSpPr/>
          <p:nvPr/>
        </p:nvGrpSpPr>
        <p:grpSpPr>
          <a:xfrm>
            <a:off x="9503702" y="5161197"/>
            <a:ext cx="150000" cy="150000"/>
            <a:chOff x="0" y="0"/>
            <a:chExt cx="200000" cy="200000"/>
          </a:xfrm>
        </p:grpSpPr>
        <p:sp>
          <p:nvSpPr>
            <p:cNvPr id="29" name="Freeform 29"/>
            <p:cNvSpPr/>
            <p:nvPr/>
          </p:nvSpPr>
          <p:spPr>
            <a:xfrm>
              <a:off x="0" y="0"/>
              <a:ext cx="199898" cy="199898"/>
            </a:xfrm>
            <a:custGeom>
              <a:avLst/>
              <a:gdLst/>
              <a:ahLst/>
              <a:cxnLst/>
              <a:rect l="l" t="t" r="r" b="b"/>
              <a:pathLst>
                <a:path w="199898" h="199898">
                  <a:moveTo>
                    <a:pt x="0" y="99949"/>
                  </a:moveTo>
                  <a:cubicBezTo>
                    <a:pt x="0" y="44831"/>
                    <a:pt x="44831" y="0"/>
                    <a:pt x="99949" y="0"/>
                  </a:cubicBezTo>
                  <a:cubicBezTo>
                    <a:pt x="155067" y="0"/>
                    <a:pt x="199898" y="44831"/>
                    <a:pt x="199898" y="99949"/>
                  </a:cubicBezTo>
                  <a:cubicBezTo>
                    <a:pt x="199898" y="155067"/>
                    <a:pt x="155067" y="199898"/>
                    <a:pt x="99949" y="199898"/>
                  </a:cubicBezTo>
                  <a:cubicBezTo>
                    <a:pt x="44831" y="199898"/>
                    <a:pt x="0" y="155194"/>
                    <a:pt x="0" y="99949"/>
                  </a:cubicBezTo>
                  <a:close/>
                </a:path>
              </a:pathLst>
            </a:custGeom>
            <a:solidFill>
              <a:srgbClr val="E9A25E"/>
            </a:solid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30" name="TextBox 30"/>
          <p:cNvSpPr txBox="1"/>
          <p:nvPr/>
        </p:nvSpPr>
        <p:spPr>
          <a:xfrm>
            <a:off x="9899999" y="4936160"/>
            <a:ext cx="7017125" cy="552450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2159"/>
              </a:lnSpc>
            </a:pPr>
            <a:r>
              <a:rPr lang="en-US" sz="1799">
                <a:solidFill>
                  <a:srgbClr val="33294B"/>
                </a:solidFill>
                <a:latin typeface="Poppins"/>
                <a:ea typeface="Poppins"/>
                <a:cs typeface="Poppins"/>
                <a:sym typeface="Poppins"/>
              </a:rPr>
              <a:t>Collect alcohol supply data from 2015 onward to properly evaluate its predictive value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 rot="-10800000">
            <a:off x="0" y="0"/>
            <a:ext cx="367633" cy="10287000"/>
            <a:chOff x="0" y="0"/>
            <a:chExt cx="96825" cy="2709333"/>
          </a:xfrm>
        </p:grpSpPr>
        <p:sp>
          <p:nvSpPr>
            <p:cNvPr id="3" name="Freeform 3"/>
            <p:cNvSpPr/>
            <p:nvPr/>
          </p:nvSpPr>
          <p:spPr>
            <a:xfrm>
              <a:off x="0" y="0"/>
              <a:ext cx="96825" cy="2709333"/>
            </a:xfrm>
            <a:custGeom>
              <a:avLst/>
              <a:gdLst/>
              <a:ahLst/>
              <a:cxnLst/>
              <a:rect l="l" t="t" r="r" b="b"/>
              <a:pathLst>
                <a:path w="96825" h="2709333">
                  <a:moveTo>
                    <a:pt x="0" y="0"/>
                  </a:moveTo>
                  <a:lnTo>
                    <a:pt x="96825" y="0"/>
                  </a:lnTo>
                  <a:lnTo>
                    <a:pt x="96825" y="2709333"/>
                  </a:lnTo>
                  <a:lnTo>
                    <a:pt x="0" y="2709333"/>
                  </a:ln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2700000"/>
            </a:gradFill>
          </p:spPr>
          <p:txBody>
            <a:bodyPr/>
            <a:lstStyle/>
            <a:p>
              <a:endParaRPr lang="en-US"/>
            </a:p>
          </p:txBody>
        </p:sp>
        <p:sp>
          <p:nvSpPr>
            <p:cNvPr id="4" name="TextBox 4"/>
            <p:cNvSpPr txBox="1"/>
            <p:nvPr/>
          </p:nvSpPr>
          <p:spPr>
            <a:xfrm>
              <a:off x="0" y="-38100"/>
              <a:ext cx="96825" cy="2747433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2659"/>
                </a:lnSpc>
                <a:spcBef>
                  <a:spcPct val="0"/>
                </a:spcBef>
              </a:pPr>
              <a:endParaRPr/>
            </a:p>
          </p:txBody>
        </p:sp>
      </p:grpSp>
      <p:sp>
        <p:nvSpPr>
          <p:cNvPr id="5" name="Freeform 5"/>
          <p:cNvSpPr/>
          <p:nvPr/>
        </p:nvSpPr>
        <p:spPr>
          <a:xfrm>
            <a:off x="1028700" y="891823"/>
            <a:ext cx="847008" cy="847008"/>
          </a:xfrm>
          <a:custGeom>
            <a:avLst/>
            <a:gdLst/>
            <a:ahLst/>
            <a:cxnLst/>
            <a:rect l="l" t="t" r="r" b="b"/>
            <a:pathLst>
              <a:path w="847008" h="847008">
                <a:moveTo>
                  <a:pt x="0" y="0"/>
                </a:moveTo>
                <a:lnTo>
                  <a:pt x="847008" y="0"/>
                </a:lnTo>
                <a:lnTo>
                  <a:pt x="847008" y="847008"/>
                </a:lnTo>
                <a:lnTo>
                  <a:pt x="0" y="847008"/>
                </a:lnTo>
                <a:lnTo>
                  <a:pt x="0" y="0"/>
                </a:lnTo>
                <a:close/>
              </a:path>
            </a:pathLst>
          </a:custGeom>
          <a:blipFill>
            <a:blip>
              <a:extLst>
                <a:ext uri="{96DAC541-7B7A-43D3-8B79-37D633B846F1}">
                  <asvg:svgBlip xmlns:asvg="http://schemas.microsoft.com/office/drawing/2016/SVG/main" r:embed="rId2"/>
                </a:ext>
              </a:extLst>
            </a:blip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6" name="Group 6"/>
          <p:cNvGrpSpPr/>
          <p:nvPr/>
        </p:nvGrpSpPr>
        <p:grpSpPr>
          <a:xfrm>
            <a:off x="10191726" y="1580598"/>
            <a:ext cx="7244181" cy="7244181"/>
            <a:chOff x="0" y="0"/>
            <a:chExt cx="812800" cy="812800"/>
          </a:xfrm>
        </p:grpSpPr>
        <p:sp>
          <p:nvSpPr>
            <p:cNvPr id="7" name="Freeform 7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gradFill rotWithShape="1">
              <a:gsLst>
                <a:gs pos="0">
                  <a:srgbClr val="60A5FA">
                    <a:alpha val="100000"/>
                  </a:srgbClr>
                </a:gs>
                <a:gs pos="100000">
                  <a:srgbClr val="FFFFFF">
                    <a:alpha val="100000"/>
                  </a:srgbClr>
                </a:gs>
              </a:gsLst>
              <a:lin ang="5400000"/>
            </a:gradFill>
            <a:ln cap="sq">
              <a:noFill/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8" name="TextBox 8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9" name="Group 9"/>
          <p:cNvGrpSpPr/>
          <p:nvPr/>
        </p:nvGrpSpPr>
        <p:grpSpPr>
          <a:xfrm>
            <a:off x="10319354" y="-4277500"/>
            <a:ext cx="7116554" cy="7116554"/>
            <a:chOff x="0" y="0"/>
            <a:chExt cx="812800" cy="812800"/>
          </a:xfrm>
        </p:grpSpPr>
        <p:sp>
          <p:nvSpPr>
            <p:cNvPr id="10" name="Freeform 10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47625" cap="sq">
              <a:solidFill>
                <a:srgbClr val="60A5FA"/>
              </a:soli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1" name="TextBox 11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grpSp>
        <p:nvGrpSpPr>
          <p:cNvPr id="12" name="Group 12"/>
          <p:cNvGrpSpPr/>
          <p:nvPr/>
        </p:nvGrpSpPr>
        <p:grpSpPr>
          <a:xfrm>
            <a:off x="10191726" y="6977077"/>
            <a:ext cx="7244181" cy="7244181"/>
            <a:chOff x="0" y="0"/>
            <a:chExt cx="812800" cy="812800"/>
          </a:xfrm>
        </p:grpSpPr>
        <p:sp>
          <p:nvSpPr>
            <p:cNvPr id="13" name="Freeform 13"/>
            <p:cNvSpPr/>
            <p:nvPr/>
          </p:nvSpPr>
          <p:spPr>
            <a:xfrm>
              <a:off x="0" y="0"/>
              <a:ext cx="812800" cy="812800"/>
            </a:xfrm>
            <a:custGeom>
              <a:avLst/>
              <a:gdLst/>
              <a:ahLst/>
              <a:cxnLst/>
              <a:rect l="l" t="t" r="r" b="b"/>
              <a:pathLst>
                <a:path w="812800" h="812800">
                  <a:moveTo>
                    <a:pt x="406400" y="0"/>
                  </a:moveTo>
                  <a:cubicBezTo>
                    <a:pt x="181951" y="0"/>
                    <a:pt x="0" y="181951"/>
                    <a:pt x="0" y="406400"/>
                  </a:cubicBezTo>
                  <a:cubicBezTo>
                    <a:pt x="0" y="630849"/>
                    <a:pt x="181951" y="812800"/>
                    <a:pt x="406400" y="812800"/>
                  </a:cubicBezTo>
                  <a:cubicBezTo>
                    <a:pt x="630849" y="812800"/>
                    <a:pt x="812800" y="630849"/>
                    <a:pt x="812800" y="406400"/>
                  </a:cubicBezTo>
                  <a:cubicBezTo>
                    <a:pt x="812800" y="181951"/>
                    <a:pt x="630849" y="0"/>
                    <a:pt x="406400" y="0"/>
                  </a:cubicBezTo>
                  <a:close/>
                </a:path>
              </a:pathLst>
            </a:custGeom>
            <a:ln w="952500" cap="sq">
              <a:gradFill>
                <a:gsLst>
                  <a:gs pos="0">
                    <a:srgbClr val="60A5FA">
                      <a:alpha val="100000"/>
                    </a:srgbClr>
                  </a:gs>
                  <a:gs pos="100000">
                    <a:srgbClr val="FFFFFF">
                      <a:alpha val="100000"/>
                    </a:srgbClr>
                  </a:gs>
                </a:gsLst>
                <a:lin ang="5400000"/>
              </a:gradFill>
              <a:prstDash val="solid"/>
              <a:miter/>
            </a:ln>
          </p:spPr>
          <p:txBody>
            <a:bodyPr/>
            <a:lstStyle/>
            <a:p>
              <a:endParaRPr lang="en-US"/>
            </a:p>
          </p:txBody>
        </p:sp>
        <p:sp>
          <p:nvSpPr>
            <p:cNvPr id="14" name="TextBox 14"/>
            <p:cNvSpPr txBox="1"/>
            <p:nvPr/>
          </p:nvSpPr>
          <p:spPr>
            <a:xfrm>
              <a:off x="76200" y="28575"/>
              <a:ext cx="660400" cy="708025"/>
            </a:xfrm>
            <a:prstGeom prst="rect">
              <a:avLst/>
            </a:prstGeom>
          </p:spPr>
          <p:txBody>
            <a:bodyPr lIns="50800" tIns="50800" rIns="50800" bIns="50800" rtlCol="0" anchor="ctr"/>
            <a:lstStyle/>
            <a:p>
              <a:pPr algn="ctr">
                <a:lnSpc>
                  <a:spcPts val="3499"/>
                </a:lnSpc>
              </a:pPr>
              <a:endParaRPr/>
            </a:p>
          </p:txBody>
        </p:sp>
      </p:grpSp>
      <p:sp>
        <p:nvSpPr>
          <p:cNvPr id="15" name="TextBox 15"/>
          <p:cNvSpPr txBox="1"/>
          <p:nvPr/>
        </p:nvSpPr>
        <p:spPr>
          <a:xfrm>
            <a:off x="1028700" y="3055194"/>
            <a:ext cx="9522802" cy="198754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just">
              <a:lnSpc>
                <a:spcPts val="15400"/>
              </a:lnSpc>
            </a:pPr>
            <a:r>
              <a:rPr lang="en-US" sz="11000" b="1">
                <a:solidFill>
                  <a:srgbClr val="1E293B"/>
                </a:solidFill>
                <a:latin typeface="Poppins Semi-Bold"/>
                <a:ea typeface="Poppins Semi-Bold"/>
                <a:cs typeface="Poppins Semi-Bold"/>
                <a:sym typeface="Poppins Semi-Bold"/>
              </a:rPr>
              <a:t>Thank you!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91</TotalTime>
  <Words>2370</Words>
  <Application>Microsoft Office PowerPoint</Application>
  <PresentationFormat>Custom</PresentationFormat>
  <Paragraphs>276</Paragraphs>
  <Slides>20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31" baseType="lpstr">
      <vt:lpstr>Poppins Bold Italics</vt:lpstr>
      <vt:lpstr>Canva Sans</vt:lpstr>
      <vt:lpstr>Calibri</vt:lpstr>
      <vt:lpstr>Poppins Italics</vt:lpstr>
      <vt:lpstr>Canva Sans Bold</vt:lpstr>
      <vt:lpstr>Poppins</vt:lpstr>
      <vt:lpstr>Open Sans Bold</vt:lpstr>
      <vt:lpstr>Poppins Bold</vt:lpstr>
      <vt:lpstr>Poppins Semi-Bold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PRT661_Assessment2.pptx</dc:title>
  <cp:lastModifiedBy>Emma Tran</cp:lastModifiedBy>
  <cp:revision>2</cp:revision>
  <dcterms:created xsi:type="dcterms:W3CDTF">2006-08-16T00:00:00Z</dcterms:created>
  <dcterms:modified xsi:type="dcterms:W3CDTF">2026-09-24T11:06:04Z</dcterms:modified>
  <dc:identifier>DAHVLJRknP0</dc:identifier>
</cp:coreProperties>
</file>