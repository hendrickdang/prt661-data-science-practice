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8288000" cy="10287000"/>
  <p:notesSz cx="6858000" cy="9144000"/>
  <p:embeddedFontLst>
    <p:embeddedFont>
      <p:font typeface="Open Sans Bold" charset="1" panose="00000000000000000000"/>
      <p:regular r:id="rId26"/>
    </p:embeddedFont>
    <p:embeddedFont>
      <p:font typeface="Canva Sans 1 Bold" charset="1" panose="020B0803030501040103"/>
      <p:regular r:id="rId27"/>
    </p:embeddedFont>
    <p:embeddedFont>
      <p:font typeface="Canva Sans 1" charset="1" panose="020B0503030501040103"/>
      <p:regular r:id="rId28"/>
    </p:embeddedFont>
    <p:embeddedFont>
      <p:font typeface="Poppins Bold" charset="1" panose="00000800000000000000"/>
      <p:regular r:id="rId29"/>
    </p:embeddedFont>
    <p:embeddedFont>
      <p:font typeface="Poppins" charset="1" panose="00000500000000000000"/>
      <p:regular r:id="rId30"/>
    </p:embeddedFont>
    <p:embeddedFont>
      <p:font typeface="Poppins Bold Italics" charset="1" panose="00000800000000000000"/>
      <p:regular r:id="rId31"/>
    </p:embeddedFont>
    <p:embeddedFont>
      <p:font typeface="Poppins Italics" charset="1" panose="00000500000000000000"/>
      <p:regular r:id="rId32"/>
    </p:embeddedFont>
    <p:embeddedFont>
      <p:font typeface="Poppins Semi-Bold" charset="1" panose="00000700000000000000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5.png" Type="http://schemas.openxmlformats.org/officeDocument/2006/relationships/image"/><Relationship Id="rId5" Target="../media/image16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7.jpeg" Type="http://schemas.openxmlformats.org/officeDocument/2006/relationships/image"/><Relationship Id="rId5" Target="../media/image18.jpe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22.png" Type="http://schemas.openxmlformats.org/officeDocument/2006/relationships/image"/><Relationship Id="rId5" Target="../media/image23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Relationship Id="rId6" Target="../media/image26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27.png" Type="http://schemas.openxmlformats.org/officeDocument/2006/relationships/image"/><Relationship Id="rId5" Target="../media/image28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29.png" Type="http://schemas.openxmlformats.org/officeDocument/2006/relationships/image"/><Relationship Id="rId5" Target="../media/image3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3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3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https://github.com/HendrickDang/PRT661-DATA-SCIENCE-PRACTICE" TargetMode="External" Type="http://schemas.openxmlformats.org/officeDocument/2006/relationships/hyperlink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33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367636" cy="10431666"/>
          </a:xfrm>
          <a:custGeom>
            <a:avLst/>
            <a:gdLst/>
            <a:ahLst/>
            <a:cxnLst/>
            <a:rect r="r" b="b" t="t" l="l"/>
            <a:pathLst>
              <a:path h="10431666" w="367636">
                <a:moveTo>
                  <a:pt x="0" y="0"/>
                </a:moveTo>
                <a:lnTo>
                  <a:pt x="367636" y="0"/>
                </a:lnTo>
                <a:lnTo>
                  <a:pt x="367636" y="10431666"/>
                </a:lnTo>
                <a:lnTo>
                  <a:pt x="0" y="104316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191721" y="1580598"/>
            <a:ext cx="7244182" cy="7244182"/>
          </a:xfrm>
          <a:custGeom>
            <a:avLst/>
            <a:gdLst/>
            <a:ahLst/>
            <a:cxnLst/>
            <a:rect r="r" b="b" t="t" l="l"/>
            <a:pathLst>
              <a:path h="7244182" w="7244182">
                <a:moveTo>
                  <a:pt x="0" y="0"/>
                </a:moveTo>
                <a:lnTo>
                  <a:pt x="7244182" y="0"/>
                </a:lnTo>
                <a:lnTo>
                  <a:pt x="7244182" y="7244181"/>
                </a:lnTo>
                <a:lnTo>
                  <a:pt x="0" y="724418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110864" y="-4485989"/>
            <a:ext cx="7533542" cy="7533542"/>
          </a:xfrm>
          <a:custGeom>
            <a:avLst/>
            <a:gdLst/>
            <a:ahLst/>
            <a:cxnLst/>
            <a:rect r="r" b="b" t="t" l="l"/>
            <a:pathLst>
              <a:path h="7533542" w="7533542">
                <a:moveTo>
                  <a:pt x="0" y="0"/>
                </a:moveTo>
                <a:lnTo>
                  <a:pt x="7533541" y="0"/>
                </a:lnTo>
                <a:lnTo>
                  <a:pt x="7533541" y="7533541"/>
                </a:lnTo>
                <a:lnTo>
                  <a:pt x="0" y="75335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569177" y="-5352583"/>
            <a:ext cx="15733452" cy="15733452"/>
          </a:xfrm>
          <a:custGeom>
            <a:avLst/>
            <a:gdLst/>
            <a:ahLst/>
            <a:cxnLst/>
            <a:rect r="r" b="b" t="t" l="l"/>
            <a:pathLst>
              <a:path h="15733452" w="15733452">
                <a:moveTo>
                  <a:pt x="0" y="0"/>
                </a:moveTo>
                <a:lnTo>
                  <a:pt x="15733452" y="0"/>
                </a:lnTo>
                <a:lnTo>
                  <a:pt x="15733452" y="15733452"/>
                </a:lnTo>
                <a:lnTo>
                  <a:pt x="0" y="157334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255701" y="1032767"/>
            <a:ext cx="8063655" cy="908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8"/>
              </a:lnSpc>
            </a:pPr>
            <a:r>
              <a:rPr lang="en-US" sz="2499" b="true">
                <a:solidFill>
                  <a:srgbClr val="1E293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PRT661 DATA SCIENCE PRACTICE</a:t>
            </a:r>
          </a:p>
          <a:p>
            <a:pPr algn="l">
              <a:lnSpc>
                <a:spcPts val="3498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2361743"/>
            <a:ext cx="9163021" cy="20561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20"/>
              </a:lnSpc>
            </a:pPr>
            <a:r>
              <a:rPr lang="en-US" sz="3800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FORECASTING ASSAULT RATES ACROSS NT REGIONS TO SUPPORT PUBLIC SAFETY RESOURCE PLANNING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4875076"/>
            <a:ext cx="7693574" cy="537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Submitted by: Group DAN2 - THEME2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7441930"/>
            <a:ext cx="6743700" cy="199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8"/>
              </a:lnSpc>
            </a:pPr>
            <a:r>
              <a:rPr lang="en-US" sz="2615" b="true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Student: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Thi Xuan Thanh Tran (Emma) - S389244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Ngoc Anh Nguyen (Will) - S386805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Van Hoi Dang (Hendrick) - S395598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Le Nhat Minh Tran (Thomas) - S390789</a:t>
            </a:r>
          </a:p>
        </p:txBody>
      </p:sp>
      <p:grpSp>
        <p:nvGrpSpPr>
          <p:cNvPr name="Group 10" id="10"/>
          <p:cNvGrpSpPr/>
          <p:nvPr/>
        </p:nvGrpSpPr>
        <p:grpSpPr>
          <a:xfrm rot="-10800000">
            <a:off x="0" y="0"/>
            <a:ext cx="367633" cy="10287000"/>
            <a:chOff x="0" y="0"/>
            <a:chExt cx="96825" cy="270933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6825" cy="2709333"/>
            </a:xfrm>
            <a:custGeom>
              <a:avLst/>
              <a:gdLst/>
              <a:ahLst/>
              <a:cxnLst/>
              <a:rect r="r" b="b" t="t" l="l"/>
              <a:pathLst>
                <a:path h="2709333" w="96825">
                  <a:moveTo>
                    <a:pt x="0" y="0"/>
                  </a:moveTo>
                  <a:lnTo>
                    <a:pt x="96825" y="0"/>
                  </a:lnTo>
                  <a:lnTo>
                    <a:pt x="968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true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96825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191726" y="1580598"/>
            <a:ext cx="7244181" cy="7244181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5400000"/>
            </a:gradFill>
            <a:ln cap="sq">
              <a:noFill/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0319354" y="-4277500"/>
            <a:ext cx="7116554" cy="7116554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7625" cap="sq">
              <a:solidFill>
                <a:srgbClr val="60A5FA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3813817" y="-1107946"/>
            <a:ext cx="7244181" cy="7244181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gradFill>
                <a:gsLst>
                  <a:gs pos="0">
                    <a:srgbClr val="60A5FA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028700" y="891823"/>
            <a:ext cx="847008" cy="847008"/>
          </a:xfrm>
          <a:custGeom>
            <a:avLst/>
            <a:gdLst/>
            <a:ahLst/>
            <a:cxnLst/>
            <a:rect r="r" b="b" t="t" l="l"/>
            <a:pathLst>
              <a:path h="847008" w="847008">
                <a:moveTo>
                  <a:pt x="0" y="0"/>
                </a:moveTo>
                <a:lnTo>
                  <a:pt x="847008" y="0"/>
                </a:lnTo>
                <a:lnTo>
                  <a:pt x="847008" y="847008"/>
                </a:lnTo>
                <a:lnTo>
                  <a:pt x="0" y="8470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291438" y="519522"/>
            <a:ext cx="15617123" cy="70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Overview &amp; Objectives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160097" y="3322015"/>
            <a:ext cx="149924" cy="149924"/>
            <a:chOff x="0" y="0"/>
            <a:chExt cx="199898" cy="19989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521543" y="3298688"/>
            <a:ext cx="13986596" cy="812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Assault is the most prevalent violent crime in the Northern Territory. Rates consistently exceed national averages. NT Police and policymakers need forward-looking insights to allocate resources and plan interventions effectively.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60097" y="4282021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521543" y="4258694"/>
            <a:ext cx="13986596" cy="812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What We Built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an end-to-end forecasting pipeline that predicts monthly assault rates per 100,000 population across 6 NT regions at horizons of 1, 3, 6, and 12 months ahead and deliver an interactive Streamlit dashboard for operational use.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60097" y="5242017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160097" y="6681311"/>
            <a:ext cx="149924" cy="149924"/>
            <a:chOff x="0" y="0"/>
            <a:chExt cx="199898" cy="19989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310097" y="2529364"/>
            <a:ext cx="771711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Background &amp; Goals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21543" y="5218690"/>
            <a:ext cx="13986596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1. Forecast assault rates per 100k population across 6 NT regions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2. Identify key drivers: seasonality, regional effects, alcohol supply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3. Ensure leakage-free evaluation via rolling-origin backtest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4. Deliver a deployable dashboard for non-technical PFES staff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521543" y="6657975"/>
            <a:ext cx="13986596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Target Users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Primary: Shift commanders, regional operations managers, strategic planning staff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Secondary: PFES analysts for budget &amp; policy submissions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99998" y="1750000"/>
            <a:ext cx="7900035" cy="820102"/>
            <a:chOff x="0" y="0"/>
            <a:chExt cx="10533380" cy="109347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533380" cy="1093470"/>
            </a:xfrm>
            <a:custGeom>
              <a:avLst/>
              <a:gdLst/>
              <a:ahLst/>
              <a:cxnLst/>
              <a:rect r="r" b="b" t="t" l="l"/>
              <a:pathLst>
                <a:path h="1093470" w="1053338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419997" y="2029997"/>
            <a:ext cx="230029" cy="230029"/>
            <a:chOff x="0" y="0"/>
            <a:chExt cx="306705" cy="3067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06705" cy="306705"/>
            </a:xfrm>
            <a:custGeom>
              <a:avLst/>
              <a:gdLst/>
              <a:ahLst/>
              <a:cxnLst/>
              <a:rect r="r" b="b" t="t" l="l"/>
              <a:pathLst>
                <a:path h="306705" w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199998" y="2750001"/>
            <a:ext cx="7900035" cy="820102"/>
            <a:chOff x="0" y="0"/>
            <a:chExt cx="10533380" cy="109347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533380" cy="1093470"/>
            </a:xfrm>
            <a:custGeom>
              <a:avLst/>
              <a:gdLst/>
              <a:ahLst/>
              <a:cxnLst/>
              <a:rect r="r" b="b" t="t" l="l"/>
              <a:pathLst>
                <a:path h="1093470" w="1053338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419997" y="3029998"/>
            <a:ext cx="230029" cy="230029"/>
            <a:chOff x="0" y="0"/>
            <a:chExt cx="306705" cy="30670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06705" cy="306705"/>
            </a:xfrm>
            <a:custGeom>
              <a:avLst/>
              <a:gdLst/>
              <a:ahLst/>
              <a:cxnLst/>
              <a:rect r="r" b="b" t="t" l="l"/>
              <a:pathLst>
                <a:path h="306705" w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199998" y="3750002"/>
            <a:ext cx="7900035" cy="820102"/>
            <a:chOff x="0" y="0"/>
            <a:chExt cx="10533380" cy="109347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533380" cy="1093470"/>
            </a:xfrm>
            <a:custGeom>
              <a:avLst/>
              <a:gdLst/>
              <a:ahLst/>
              <a:cxnLst/>
              <a:rect r="r" b="b" t="t" l="l"/>
              <a:pathLst>
                <a:path h="1093470" w="1053338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419997" y="4029999"/>
            <a:ext cx="230029" cy="230029"/>
            <a:chOff x="0" y="0"/>
            <a:chExt cx="306705" cy="30670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06705" cy="306705"/>
            </a:xfrm>
            <a:custGeom>
              <a:avLst/>
              <a:gdLst/>
              <a:ahLst/>
              <a:cxnLst/>
              <a:rect r="r" b="b" t="t" l="l"/>
              <a:pathLst>
                <a:path h="306705" w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357170" y="1820999"/>
            <a:ext cx="7509320" cy="3408045"/>
            <a:chOff x="0" y="0"/>
            <a:chExt cx="10012426" cy="4544060"/>
          </a:xfrm>
        </p:grpSpPr>
        <p:sp>
          <p:nvSpPr>
            <p:cNvPr name="Freeform 23" id="23" descr="n_dataset_sizes.png"/>
            <p:cNvSpPr/>
            <p:nvPr/>
          </p:nvSpPr>
          <p:spPr>
            <a:xfrm flipH="false" flipV="false" rot="0">
              <a:off x="0" y="0"/>
              <a:ext cx="10012426" cy="4544060"/>
            </a:xfrm>
            <a:custGeom>
              <a:avLst/>
              <a:gdLst/>
              <a:ahLst/>
              <a:cxnLst/>
              <a:rect r="r" b="b" t="t" l="l"/>
              <a:pathLst>
                <a:path h="4544060" w="10012426">
                  <a:moveTo>
                    <a:pt x="0" y="0"/>
                  </a:moveTo>
                  <a:lnTo>
                    <a:pt x="10012426" y="0"/>
                  </a:lnTo>
                  <a:lnTo>
                    <a:pt x="10012426" y="4544060"/>
                  </a:lnTo>
                  <a:lnTo>
                    <a:pt x="0" y="4544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2186" r="0" b="-2185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9499997" y="5754995"/>
            <a:ext cx="120015" cy="120015"/>
            <a:chOff x="0" y="0"/>
            <a:chExt cx="160020" cy="1600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499997" y="6105001"/>
            <a:ext cx="120015" cy="120015"/>
            <a:chOff x="0" y="0"/>
            <a:chExt cx="160020" cy="1600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499997" y="6454997"/>
            <a:ext cx="120015" cy="120015"/>
            <a:chOff x="0" y="0"/>
            <a:chExt cx="160020" cy="1600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499997" y="6805003"/>
            <a:ext cx="120015" cy="120015"/>
            <a:chOff x="0" y="0"/>
            <a:chExt cx="160020" cy="16002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499997" y="7154999"/>
            <a:ext cx="120015" cy="120015"/>
            <a:chOff x="0" y="0"/>
            <a:chExt cx="160020" cy="1600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199998" y="7550001"/>
            <a:ext cx="15899987" cy="1149953"/>
            <a:chOff x="0" y="0"/>
            <a:chExt cx="21199983" cy="153327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1199983" cy="1533271"/>
            </a:xfrm>
            <a:custGeom>
              <a:avLst/>
              <a:gdLst/>
              <a:ahLst/>
              <a:cxnLst/>
              <a:rect r="r" b="b" t="t" l="l"/>
              <a:pathLst>
                <a:path h="1533271" w="21199983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21046694" y="0"/>
                  </a:lnTo>
                  <a:cubicBezTo>
                    <a:pt x="21131403" y="0"/>
                    <a:pt x="21199983" y="68707"/>
                    <a:pt x="21199983" y="153289"/>
                  </a:cubicBezTo>
                  <a:lnTo>
                    <a:pt x="21199983" y="1379982"/>
                  </a:lnTo>
                  <a:cubicBezTo>
                    <a:pt x="21199983" y="1464691"/>
                    <a:pt x="21131276" y="1533271"/>
                    <a:pt x="21046694" y="1533271"/>
                  </a:cubicBezTo>
                  <a:lnTo>
                    <a:pt x="153289" y="1533271"/>
                  </a:lnTo>
                  <a:cubicBezTo>
                    <a:pt x="68707" y="1533271"/>
                    <a:pt x="0" y="1464691"/>
                    <a:pt x="0" y="1379982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199998" y="8850001"/>
            <a:ext cx="15899987" cy="900017"/>
            <a:chOff x="0" y="0"/>
            <a:chExt cx="21199983" cy="1200023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1199982" cy="1200023"/>
            </a:xfrm>
            <a:custGeom>
              <a:avLst/>
              <a:gdLst/>
              <a:ahLst/>
              <a:cxnLst/>
              <a:rect r="r" b="b" t="t" l="l"/>
              <a:pathLst>
                <a:path h="1200023" w="21199982">
                  <a:moveTo>
                    <a:pt x="0" y="144018"/>
                  </a:moveTo>
                  <a:cubicBezTo>
                    <a:pt x="0" y="64516"/>
                    <a:pt x="64516" y="0"/>
                    <a:pt x="144018" y="0"/>
                  </a:cubicBezTo>
                  <a:lnTo>
                    <a:pt x="21055964" y="0"/>
                  </a:lnTo>
                  <a:cubicBezTo>
                    <a:pt x="21135467" y="0"/>
                    <a:pt x="21199982" y="64516"/>
                    <a:pt x="21199982" y="144018"/>
                  </a:cubicBezTo>
                  <a:lnTo>
                    <a:pt x="21199982" y="1056005"/>
                  </a:lnTo>
                  <a:cubicBezTo>
                    <a:pt x="21199982" y="1135507"/>
                    <a:pt x="21135467" y="1200023"/>
                    <a:pt x="21055964" y="1200023"/>
                  </a:cubicBezTo>
                  <a:lnTo>
                    <a:pt x="144018" y="1200023"/>
                  </a:lnTo>
                  <a:cubicBezTo>
                    <a:pt x="64516" y="1200023"/>
                    <a:pt x="0" y="1135507"/>
                    <a:pt x="0" y="1056005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Where the Data Comes From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911439" y="1828571"/>
            <a:ext cx="6817119" cy="315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NT Crime Statistics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911439" y="2206666"/>
            <a:ext cx="6817119" cy="24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55,146 rows · CSV · 2015-2025 · Irregular cadence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911439" y="2828573"/>
            <a:ext cx="6817119" cy="315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Population Estimates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911439" y="3206667"/>
            <a:ext cx="6817119" cy="24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17,280 rows · XLSX · 1986-2025 · Annual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911439" y="3828574"/>
            <a:ext cx="6817119" cy="315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Wholesale Alcohol Supply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911439" y="4206669"/>
            <a:ext cx="6817119" cy="24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84 rows · XLSX · 2023-2025 only · Quarterly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591437" y="5457615"/>
            <a:ext cx="7417118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5 automated checks on every ingest run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841440" y="5726668"/>
            <a:ext cx="7117118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Fuzzy filename matching 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841440" y="6076674"/>
            <a:ext cx="7117118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Empty-dataframe check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9841440" y="6426670"/>
            <a:ext cx="7117118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Duplicate column-name check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841440" y="6776666"/>
            <a:ext cx="7117118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Fully-null column check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841440" y="7126672"/>
            <a:ext cx="7117118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Row/column counts + warnings → manifest.json</a:t>
            </a:r>
          </a:p>
          <a:p>
            <a:pPr algn="l">
              <a:lnSpc>
                <a:spcPts val="1439"/>
              </a:lnSpc>
            </a:pPr>
          </a:p>
        </p:txBody>
      </p:sp>
      <p:sp>
        <p:nvSpPr>
          <p:cNvPr name="TextBox 51" id="51"/>
          <p:cNvSpPr txBox="true"/>
          <p:nvPr/>
        </p:nvSpPr>
        <p:spPr>
          <a:xfrm rot="0">
            <a:off x="1591437" y="7707620"/>
            <a:ext cx="15117118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Alcohol supply data only covers 2023-2025 (12 quarters) - far shorter than the 2015-2025 crime/population window. This limits Model B (Slide 11) to a much smaller sample.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591437" y="9057618"/>
            <a:ext cx="15117118" cy="496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Fuzzy filename matching handles naming differences between teammates' downloads. Every run writes manifest.json with row/column counts for traceability.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6423241" y="1351540"/>
            <a:ext cx="10836059" cy="8767039"/>
            <a:chOff x="0" y="0"/>
            <a:chExt cx="14448079" cy="1168938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48028" cy="11689334"/>
            </a:xfrm>
            <a:custGeom>
              <a:avLst/>
              <a:gdLst/>
              <a:ahLst/>
              <a:cxnLst/>
              <a:rect r="r" b="b" t="t" l="l"/>
              <a:pathLst>
                <a:path h="11689334" w="14448028">
                  <a:moveTo>
                    <a:pt x="0" y="0"/>
                  </a:moveTo>
                  <a:lnTo>
                    <a:pt x="14448028" y="0"/>
                  </a:lnTo>
                  <a:lnTo>
                    <a:pt x="14448028" y="11689334"/>
                  </a:lnTo>
                  <a:lnTo>
                    <a:pt x="0" y="116893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38" r="0" b="-138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291438" y="519522"/>
            <a:ext cx="15617123" cy="70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Architecture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1672257"/>
            <a:ext cx="3850005" cy="1499997"/>
            <a:chOff x="0" y="0"/>
            <a:chExt cx="5133340" cy="199999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133340" cy="1999996"/>
            </a:xfrm>
            <a:custGeom>
              <a:avLst/>
              <a:gdLst/>
              <a:ahLst/>
              <a:cxnLst/>
              <a:rect r="r" b="b" t="t" l="l"/>
              <a:pathLst>
                <a:path h="1999996" w="5133340">
                  <a:moveTo>
                    <a:pt x="0" y="280035"/>
                  </a:moveTo>
                  <a:cubicBezTo>
                    <a:pt x="0" y="125349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25349"/>
                    <a:pt x="5133340" y="280035"/>
                  </a:cubicBezTo>
                  <a:lnTo>
                    <a:pt x="5133340" y="1719961"/>
                  </a:lnTo>
                  <a:cubicBezTo>
                    <a:pt x="5133340" y="1874647"/>
                    <a:pt x="5007991" y="1999996"/>
                    <a:pt x="4853305" y="1999996"/>
                  </a:cubicBezTo>
                  <a:lnTo>
                    <a:pt x="280035" y="1999996"/>
                  </a:lnTo>
                  <a:cubicBezTo>
                    <a:pt x="125349" y="1999996"/>
                    <a:pt x="0" y="1874647"/>
                    <a:pt x="0" y="1719961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120140" y="1789881"/>
            <a:ext cx="3667115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true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55,146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20140" y="2359876"/>
            <a:ext cx="3667115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crime records merged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028700" y="3643503"/>
            <a:ext cx="3850005" cy="1966722"/>
            <a:chOff x="0" y="0"/>
            <a:chExt cx="5133340" cy="262229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133340" cy="2622296"/>
            </a:xfrm>
            <a:custGeom>
              <a:avLst/>
              <a:gdLst/>
              <a:ahLst/>
              <a:cxnLst/>
              <a:rect r="r" b="b" t="t" l="l"/>
              <a:pathLst>
                <a:path h="2622296" w="5133340">
                  <a:moveTo>
                    <a:pt x="0" y="367157"/>
                  </a:moveTo>
                  <a:cubicBezTo>
                    <a:pt x="0" y="164338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64338"/>
                    <a:pt x="5133340" y="367157"/>
                  </a:cubicBezTo>
                  <a:lnTo>
                    <a:pt x="5133340" y="2255139"/>
                  </a:lnTo>
                  <a:cubicBezTo>
                    <a:pt x="5133340" y="2457958"/>
                    <a:pt x="5007991" y="2622296"/>
                    <a:pt x="4853305" y="2622296"/>
                  </a:cubicBezTo>
                  <a:lnTo>
                    <a:pt x="280035" y="2622296"/>
                  </a:lnTo>
                  <a:cubicBezTo>
                    <a:pt x="125349" y="2622296"/>
                    <a:pt x="0" y="2457958"/>
                    <a:pt x="0" y="2255139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120140" y="3761127"/>
            <a:ext cx="3667115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6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20140" y="4331122"/>
            <a:ext cx="3667115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NT regions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028700" y="6076950"/>
            <a:ext cx="3850005" cy="1499997"/>
            <a:chOff x="0" y="0"/>
            <a:chExt cx="5133340" cy="199999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133340" cy="1999996"/>
            </a:xfrm>
            <a:custGeom>
              <a:avLst/>
              <a:gdLst/>
              <a:ahLst/>
              <a:cxnLst/>
              <a:rect r="r" b="b" t="t" l="l"/>
              <a:pathLst>
                <a:path h="1999996" w="5133340">
                  <a:moveTo>
                    <a:pt x="0" y="280035"/>
                  </a:moveTo>
                  <a:cubicBezTo>
                    <a:pt x="0" y="125349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25349"/>
                    <a:pt x="5133340" y="280035"/>
                  </a:cubicBezTo>
                  <a:lnTo>
                    <a:pt x="5133340" y="1719961"/>
                  </a:lnTo>
                  <a:cubicBezTo>
                    <a:pt x="5133340" y="1874647"/>
                    <a:pt x="5007991" y="1999996"/>
                    <a:pt x="4853305" y="1999996"/>
                  </a:cubicBezTo>
                  <a:lnTo>
                    <a:pt x="280035" y="1999996"/>
                  </a:lnTo>
                  <a:cubicBezTo>
                    <a:pt x="125349" y="1999996"/>
                    <a:pt x="0" y="1874647"/>
                    <a:pt x="0" y="1719961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120140" y="6194574"/>
            <a:ext cx="3667115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2015-2025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20140" y="6764569"/>
            <a:ext cx="3667115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10-year monthly panel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028700" y="8043672"/>
            <a:ext cx="3850005" cy="1723301"/>
            <a:chOff x="0" y="0"/>
            <a:chExt cx="5133340" cy="229773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133340" cy="2297684"/>
            </a:xfrm>
            <a:custGeom>
              <a:avLst/>
              <a:gdLst/>
              <a:ahLst/>
              <a:cxnLst/>
              <a:rect r="r" b="b" t="t" l="l"/>
              <a:pathLst>
                <a:path h="2297684" w="5133340">
                  <a:moveTo>
                    <a:pt x="0" y="321691"/>
                  </a:moveTo>
                  <a:cubicBezTo>
                    <a:pt x="0" y="144018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44018"/>
                    <a:pt x="5133340" y="321691"/>
                  </a:cubicBezTo>
                  <a:lnTo>
                    <a:pt x="5133340" y="1975993"/>
                  </a:lnTo>
                  <a:cubicBezTo>
                    <a:pt x="5133340" y="2153666"/>
                    <a:pt x="5007991" y="2297684"/>
                    <a:pt x="4853305" y="2297684"/>
                  </a:cubicBezTo>
                  <a:lnTo>
                    <a:pt x="280035" y="2297684"/>
                  </a:lnTo>
                  <a:cubicBezTo>
                    <a:pt x="125349" y="2297684"/>
                    <a:pt x="0" y="2153793"/>
                    <a:pt x="0" y="197599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120140" y="8161296"/>
            <a:ext cx="3667115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true">
                <a:solidFill>
                  <a:srgbClr val="E8829E"/>
                </a:solidFill>
                <a:latin typeface="Poppins Bold"/>
                <a:ea typeface="Poppins Bold"/>
                <a:cs typeface="Poppins Bold"/>
                <a:sym typeface="Poppins Bold"/>
              </a:rPr>
              <a:t>4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20140" y="8731291"/>
            <a:ext cx="3667115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models benchmarked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20140" y="4701121"/>
            <a:ext cx="3667115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Greater Darwin, Top End, Central Australia,</a:t>
            </a:r>
          </a:p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Big Rivers, Barkly, East Arnhem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20140" y="9101290"/>
            <a:ext cx="3667115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Linear Regression, Ridge, Lasso,</a:t>
            </a:r>
          </a:p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60097" y="3322015"/>
            <a:ext cx="149924" cy="149924"/>
            <a:chOff x="0" y="0"/>
            <a:chExt cx="199898" cy="19989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60097" y="4282021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160097" y="5242017"/>
            <a:ext cx="149924" cy="149924"/>
            <a:chOff x="0" y="0"/>
            <a:chExt cx="199898" cy="19989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60097" y="6202023"/>
            <a:ext cx="149924" cy="149924"/>
            <a:chOff x="0" y="0"/>
            <a:chExt cx="199898" cy="19989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Workflow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10097" y="2529364"/>
            <a:ext cx="771711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End-to-end in a single Python script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521543" y="3298688"/>
            <a:ext cx="13986596" cy="541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1: Raw Data → Validated Panel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python Updated_End_to_End_pipeline.py  →  nt_crime_merged_2015_2025.csv (696 rows, 0 nulls except Nov 2023)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521543" y="4258694"/>
            <a:ext cx="13986596" cy="541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2: Feature Engineering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Log-transform target → cyclic encoding → lag1/3/12 → region dummies → break indicators → V1–V5 variant frames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21543" y="5218690"/>
            <a:ext cx="13986596" cy="540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3: Model Training + CV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TimeSeriesSplit (5 folds) on 2015–2022 → select best feature variant → fit Linear, Ridge(α=1), Lasso(α=0.01), XGBoost(depth=3)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521543" y="6178687"/>
            <a:ext cx="13986596" cy="541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4: Evaluation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evaluation.py: rolling-origin backtest (60-month min train, step=3, h=1/3/6/12) → metrics CSVs → prediction intervals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Problems &amp; Solutions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199998" y="1649997"/>
            <a:ext cx="7700010" cy="1749933"/>
            <a:chOff x="0" y="0"/>
            <a:chExt cx="10266680" cy="233324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419997" y="1850003"/>
            <a:ext cx="189929" cy="189929"/>
            <a:chOff x="0" y="0"/>
            <a:chExt cx="253238" cy="25323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3238" cy="253238"/>
            </a:xfrm>
            <a:custGeom>
              <a:avLst/>
              <a:gdLst/>
              <a:ahLst/>
              <a:cxnLst/>
              <a:rect r="r" b="b" t="t" l="l"/>
              <a:pathLst>
                <a:path h="253238" w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511437" y="2156670"/>
            <a:ext cx="691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Two systems, two label sets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11437" y="2557624"/>
            <a:ext cx="6917122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NT Police switched recording systems (PROMIS → SerPro, Nov 2023) and reclassified offence categories (ANZSOC, Apr 2025) — old and new files use different category names for the same offence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00000" y="1649997"/>
            <a:ext cx="7700010" cy="1749933"/>
            <a:chOff x="0" y="0"/>
            <a:chExt cx="10266680" cy="233324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9641443" y="1776670"/>
            <a:ext cx="7017125" cy="207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true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641443" y="2047618"/>
            <a:ext cx="7017125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11-entry manual translation table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41443" y="2807618"/>
            <a:ext cx="7017125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b="true" sz="1400" i="true">
                <a:solidFill>
                  <a:srgbClr val="8B7EC8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e.g. ‘Acts intended to cause Injury’ (old) → ‘02 Assault’ (ANZSOC)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199998" y="3580000"/>
            <a:ext cx="7700010" cy="1749933"/>
            <a:chOff x="0" y="0"/>
            <a:chExt cx="10266680" cy="233324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419997" y="3779996"/>
            <a:ext cx="189929" cy="189929"/>
            <a:chOff x="0" y="0"/>
            <a:chExt cx="253238" cy="25323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53238" cy="253238"/>
            </a:xfrm>
            <a:custGeom>
              <a:avLst/>
              <a:gdLst/>
              <a:ahLst/>
              <a:cxnLst/>
              <a:rect r="r" b="b" t="t" l="l"/>
              <a:pathLst>
                <a:path h="253238" w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511437" y="4086673"/>
            <a:ext cx="691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7 police regions ≠ 6 government regions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511437" y="4487618"/>
            <a:ext cx="6637210" cy="842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612"/>
              </a:lnSpc>
            </a:pPr>
            <a:r>
              <a:rPr lang="en-US" sz="134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Crime data is reported by 7 NT Police districts; population &amp; alcohol data use 6 NT Government (NTG) statistical regions. Without correction, Greater Darwin's population would be counted under both ‘Darwin’ and ‘Palmerston’ rows — doubling the denominator and halving true per-capita rates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9300000" y="3580000"/>
            <a:ext cx="7700010" cy="1749933"/>
            <a:chOff x="0" y="0"/>
            <a:chExt cx="10266680" cy="23332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9641443" y="3706673"/>
            <a:ext cx="7017125" cy="207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641443" y="3977621"/>
            <a:ext cx="7017125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Two-stage crosswalk: direct name-map (6 regions) + SA2 lookup table (16 codes) for generic ‘NT Balance’ rows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641443" y="4737621"/>
            <a:ext cx="7017125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b="true" sz="1400" i="true">
                <a:solidFill>
                  <a:srgbClr val="3FA593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e.g. Darwin + Palmerston → Greater Darwin = 34,454 assaults (2015-2025)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199998" y="5510003"/>
            <a:ext cx="7700010" cy="1749933"/>
            <a:chOff x="0" y="0"/>
            <a:chExt cx="10266680" cy="233324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419997" y="5709999"/>
            <a:ext cx="189929" cy="189929"/>
            <a:chOff x="0" y="0"/>
            <a:chExt cx="253238" cy="25323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53238" cy="253238"/>
            </a:xfrm>
            <a:custGeom>
              <a:avLst/>
              <a:gdLst/>
              <a:ahLst/>
              <a:cxnLst/>
              <a:rect r="r" b="b" t="t" l="l"/>
              <a:pathLst>
                <a:path h="253238" w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1511437" y="6016666"/>
            <a:ext cx="691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Rows ≠ offences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511437" y="6417621"/>
            <a:ext cx="6917122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One row can represent hundreds of offences (‘Number of offences’ column) - counting flagged ROWS badly undercounts true alcohol/DV-linked offence volume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9300000" y="5510003"/>
            <a:ext cx="7700010" cy="1749933"/>
            <a:chOff x="0" y="0"/>
            <a:chExt cx="10266680" cy="233324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9641443" y="5636666"/>
            <a:ext cx="7017125" cy="207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641443" y="5907624"/>
            <a:ext cx="7017125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Multiply the Yes/No flag by Number of offences per row before aggregating, not row count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619717" y="6325229"/>
            <a:ext cx="7217712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b="true" sz="1200" i="true">
                <a:solidFill>
                  <a:srgbClr val="E9A25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5,081 alcohol-flagged rows = 46,306 actual offences (9.1× higher) · 6,246 DV-flagged rows = 59,567 offences</a:t>
            </a:r>
          </a:p>
          <a:p>
            <a:pPr algn="l">
              <a:lnSpc>
                <a:spcPts val="1439"/>
              </a:lnSpc>
            </a:pPr>
          </a:p>
          <a:p>
            <a:pPr algn="l" marL="274322" indent="-91441" lvl="2">
              <a:lnSpc>
                <a:spcPts val="1439"/>
              </a:lnSpc>
              <a:buFont typeface="Arial"/>
              <a:buChar char="⚬"/>
            </a:pPr>
            <a:r>
              <a:rPr lang="en-US" sz="1200" i="true">
                <a:solidFill>
                  <a:srgbClr val="33294B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Computed directly from the raw CSVs (Yes/No flag × Number of offences per row, summed)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199998" y="7439997"/>
            <a:ext cx="7700010" cy="1749933"/>
            <a:chOff x="0" y="0"/>
            <a:chExt cx="10266680" cy="233324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419997" y="7640003"/>
            <a:ext cx="189929" cy="189929"/>
            <a:chOff x="0" y="0"/>
            <a:chExt cx="253238" cy="25323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53238" cy="253238"/>
            </a:xfrm>
            <a:custGeom>
              <a:avLst/>
              <a:gdLst/>
              <a:ahLst/>
              <a:cxnLst/>
              <a:rect r="r" b="b" t="t" l="l"/>
              <a:pathLst>
                <a:path h="253238" w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E8829E"/>
            </a:solidFill>
          </p:spPr>
        </p:sp>
      </p:grpSp>
      <p:sp>
        <p:nvSpPr>
          <p:cNvPr name="TextBox 48" id="48"/>
          <p:cNvSpPr txBox="true"/>
          <p:nvPr/>
        </p:nvSpPr>
        <p:spPr>
          <a:xfrm rot="0">
            <a:off x="1511437" y="7946669"/>
            <a:ext cx="691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November 2023 recording gap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511437" y="8347624"/>
            <a:ext cx="6917122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The PROMIS→SerPro system migration left November 2023 entirely unrecorded in both crime files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9300000" y="7439997"/>
            <a:ext cx="7700010" cy="1749933"/>
            <a:chOff x="0" y="0"/>
            <a:chExt cx="10266680" cy="23332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266680" cy="2333244"/>
            </a:xfrm>
            <a:custGeom>
              <a:avLst/>
              <a:gdLst/>
              <a:ahLst/>
              <a:cxnLst/>
              <a:rect r="r" b="b" t="t" l="l"/>
              <a:pathLst>
                <a:path h="2333244" w="10266680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9641443" y="7566670"/>
            <a:ext cx="7017125" cy="2076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true">
                <a:solidFill>
                  <a:srgbClr val="E8829E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9641443" y="7837618"/>
            <a:ext cx="7017125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Retained as NaN, never imputed — avoids injecting artificial values into the assault time series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641443" y="8597617"/>
            <a:ext cx="7017125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b="true" sz="1400" i="true">
                <a:solidFill>
                  <a:srgbClr val="E8829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Confirmed via manifest.json null-check: exactly 1 of 132 months (0.8%) affected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8829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450475" y="2881970"/>
            <a:ext cx="4233443" cy="681866"/>
            <a:chOff x="0" y="0"/>
            <a:chExt cx="5644591" cy="90915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644642" cy="909066"/>
            </a:xfrm>
            <a:custGeom>
              <a:avLst/>
              <a:gdLst/>
              <a:ahLst/>
              <a:cxnLst/>
              <a:rect r="r" b="b" t="t" l="l"/>
              <a:pathLst>
                <a:path h="909066" w="5644642">
                  <a:moveTo>
                    <a:pt x="0" y="272796"/>
                  </a:moveTo>
                  <a:cubicBezTo>
                    <a:pt x="0" y="122047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122047"/>
                    <a:pt x="5644642" y="272796"/>
                  </a:cubicBezTo>
                  <a:lnTo>
                    <a:pt x="5644642" y="636397"/>
                  </a:lnTo>
                  <a:cubicBezTo>
                    <a:pt x="5644642" y="787019"/>
                    <a:pt x="5592318" y="909066"/>
                    <a:pt x="5527802" y="909066"/>
                  </a:cubicBezTo>
                  <a:lnTo>
                    <a:pt x="116840" y="909066"/>
                  </a:lnTo>
                  <a:cubicBezTo>
                    <a:pt x="52324" y="909066"/>
                    <a:pt x="0" y="786892"/>
                    <a:pt x="0" y="636270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-1166241" y="3013862"/>
            <a:ext cx="7424795" cy="245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Crime (Year x Month x Region)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450475" y="3677202"/>
            <a:ext cx="4233443" cy="545163"/>
            <a:chOff x="0" y="0"/>
            <a:chExt cx="5644591" cy="72688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44642" cy="726821"/>
            </a:xfrm>
            <a:custGeom>
              <a:avLst/>
              <a:gdLst/>
              <a:ahLst/>
              <a:cxnLst/>
              <a:rect r="r" b="b" t="t" l="l"/>
              <a:pathLst>
                <a:path h="726821" w="5644642">
                  <a:moveTo>
                    <a:pt x="0" y="218059"/>
                  </a:moveTo>
                  <a:cubicBezTo>
                    <a:pt x="0" y="97663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97663"/>
                    <a:pt x="5644642" y="218059"/>
                  </a:cubicBezTo>
                  <a:lnTo>
                    <a:pt x="5644642" y="508762"/>
                  </a:lnTo>
                  <a:cubicBezTo>
                    <a:pt x="5644642" y="629158"/>
                    <a:pt x="5592318" y="726821"/>
                    <a:pt x="5527802" y="726821"/>
                  </a:cubicBezTo>
                  <a:lnTo>
                    <a:pt x="116840" y="726821"/>
                  </a:lnTo>
                  <a:cubicBezTo>
                    <a:pt x="52324" y="726821"/>
                    <a:pt x="0" y="629158"/>
                    <a:pt x="0" y="508762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-1213314" y="3807828"/>
            <a:ext cx="7424795" cy="245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LEFT JOIN Alcohol (Year x Quarter x Region)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450475" y="4367651"/>
            <a:ext cx="4233443" cy="545163"/>
            <a:chOff x="0" y="0"/>
            <a:chExt cx="5644591" cy="72688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644642" cy="726821"/>
            </a:xfrm>
            <a:custGeom>
              <a:avLst/>
              <a:gdLst/>
              <a:ahLst/>
              <a:cxnLst/>
              <a:rect r="r" b="b" t="t" l="l"/>
              <a:pathLst>
                <a:path h="726821" w="5644642">
                  <a:moveTo>
                    <a:pt x="0" y="218059"/>
                  </a:moveTo>
                  <a:cubicBezTo>
                    <a:pt x="0" y="97663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97663"/>
                    <a:pt x="5644642" y="218059"/>
                  </a:cubicBezTo>
                  <a:lnTo>
                    <a:pt x="5644642" y="508762"/>
                  </a:lnTo>
                  <a:cubicBezTo>
                    <a:pt x="5644642" y="629158"/>
                    <a:pt x="5592318" y="726821"/>
                    <a:pt x="5527802" y="726821"/>
                  </a:cubicBezTo>
                  <a:lnTo>
                    <a:pt x="116840" y="726821"/>
                  </a:lnTo>
                  <a:cubicBezTo>
                    <a:pt x="52324" y="726821"/>
                    <a:pt x="0" y="629158"/>
                    <a:pt x="0" y="508762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-1213314" y="4498276"/>
            <a:ext cx="7424795" cy="245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LEFT JOIN Population (Year x Region)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50475" y="5045402"/>
            <a:ext cx="4097236" cy="508730"/>
            <a:chOff x="0" y="0"/>
            <a:chExt cx="5462981" cy="67830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463032" cy="678307"/>
            </a:xfrm>
            <a:custGeom>
              <a:avLst/>
              <a:gdLst/>
              <a:ahLst/>
              <a:cxnLst/>
              <a:rect r="r" b="b" t="t" l="l"/>
              <a:pathLst>
                <a:path h="678307" w="5463032">
                  <a:moveTo>
                    <a:pt x="0" y="203581"/>
                  </a:moveTo>
                  <a:cubicBezTo>
                    <a:pt x="0" y="91186"/>
                    <a:pt x="87503" y="0"/>
                    <a:pt x="195326" y="0"/>
                  </a:cubicBezTo>
                  <a:lnTo>
                    <a:pt x="5267706" y="0"/>
                  </a:lnTo>
                  <a:cubicBezTo>
                    <a:pt x="5375529" y="0"/>
                    <a:pt x="5463032" y="91186"/>
                    <a:pt x="5463032" y="203581"/>
                  </a:cubicBezTo>
                  <a:lnTo>
                    <a:pt x="5463032" y="474726"/>
                  </a:lnTo>
                  <a:cubicBezTo>
                    <a:pt x="5463032" y="587121"/>
                    <a:pt x="5375529" y="678307"/>
                    <a:pt x="5267706" y="678307"/>
                  </a:cubicBezTo>
                  <a:lnTo>
                    <a:pt x="195326" y="678307"/>
                  </a:lnTo>
                  <a:cubicBezTo>
                    <a:pt x="87503" y="678307"/>
                    <a:pt x="0" y="587248"/>
                    <a:pt x="0" y="474726"/>
                  </a:cubicBezTo>
                  <a:close/>
                </a:path>
              </a:pathLst>
            </a:custGeom>
            <a:solidFill>
              <a:srgbClr val="8B7EC8">
                <a:alpha val="70980"/>
              </a:srgbClr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5192573" y="1366237"/>
            <a:ext cx="11607498" cy="6971757"/>
            <a:chOff x="0" y="0"/>
            <a:chExt cx="15476664" cy="9295676"/>
          </a:xfrm>
        </p:grpSpPr>
        <p:sp>
          <p:nvSpPr>
            <p:cNvPr name="Freeform 22" id="22" descr="n_region_totals.png"/>
            <p:cNvSpPr/>
            <p:nvPr/>
          </p:nvSpPr>
          <p:spPr>
            <a:xfrm flipH="false" flipV="false" rot="0">
              <a:off x="0" y="0"/>
              <a:ext cx="15476601" cy="9295638"/>
            </a:xfrm>
            <a:custGeom>
              <a:avLst/>
              <a:gdLst/>
              <a:ahLst/>
              <a:cxnLst/>
              <a:rect r="r" b="b" t="t" l="l"/>
              <a:pathLst>
                <a:path h="9295638" w="15476601">
                  <a:moveTo>
                    <a:pt x="0" y="0"/>
                  </a:moveTo>
                  <a:lnTo>
                    <a:pt x="15476601" y="0"/>
                  </a:lnTo>
                  <a:lnTo>
                    <a:pt x="15476601" y="9295638"/>
                  </a:lnTo>
                  <a:lnTo>
                    <a:pt x="0" y="9295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97" t="0" r="-498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99998" y="8499996"/>
            <a:ext cx="5149977" cy="1349978"/>
            <a:chOff x="0" y="0"/>
            <a:chExt cx="6866636" cy="179997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866636" cy="1799971"/>
            </a:xfrm>
            <a:custGeom>
              <a:avLst/>
              <a:gdLst/>
              <a:ahLst/>
              <a:cxnLst/>
              <a:rect r="r" b="b" t="t" l="l"/>
              <a:pathLst>
                <a:path h="1799971" w="6866636">
                  <a:moveTo>
                    <a:pt x="0" y="251968"/>
                  </a:moveTo>
                  <a:cubicBezTo>
                    <a:pt x="0" y="112776"/>
                    <a:pt x="112776" y="0"/>
                    <a:pt x="251968" y="0"/>
                  </a:cubicBezTo>
                  <a:lnTo>
                    <a:pt x="6614668" y="0"/>
                  </a:lnTo>
                  <a:cubicBezTo>
                    <a:pt x="6753860" y="0"/>
                    <a:pt x="6866636" y="112776"/>
                    <a:pt x="6866636" y="251968"/>
                  </a:cubicBezTo>
                  <a:lnTo>
                    <a:pt x="6866636" y="1548003"/>
                  </a:lnTo>
                  <a:cubicBezTo>
                    <a:pt x="6866636" y="1687195"/>
                    <a:pt x="6753860" y="1799971"/>
                    <a:pt x="6614668" y="1799971"/>
                  </a:cubicBezTo>
                  <a:lnTo>
                    <a:pt x="251968" y="1799971"/>
                  </a:lnTo>
                  <a:cubicBezTo>
                    <a:pt x="112776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6500003" y="8499996"/>
            <a:ext cx="4909144" cy="1349978"/>
            <a:chOff x="0" y="0"/>
            <a:chExt cx="6545525" cy="179997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545525" cy="1799971"/>
            </a:xfrm>
            <a:custGeom>
              <a:avLst/>
              <a:gdLst/>
              <a:ahLst/>
              <a:cxnLst/>
              <a:rect r="r" b="b" t="t" l="l"/>
              <a:pathLst>
                <a:path h="1799971" w="6545525">
                  <a:moveTo>
                    <a:pt x="0" y="251968"/>
                  </a:moveTo>
                  <a:cubicBezTo>
                    <a:pt x="0" y="112776"/>
                    <a:pt x="107502" y="0"/>
                    <a:pt x="240185" y="0"/>
                  </a:cubicBezTo>
                  <a:lnTo>
                    <a:pt x="6305340" y="0"/>
                  </a:lnTo>
                  <a:cubicBezTo>
                    <a:pt x="6438023" y="0"/>
                    <a:pt x="6545525" y="112776"/>
                    <a:pt x="6545525" y="251968"/>
                  </a:cubicBezTo>
                  <a:lnTo>
                    <a:pt x="6545525" y="1548003"/>
                  </a:lnTo>
                  <a:cubicBezTo>
                    <a:pt x="6545525" y="1687195"/>
                    <a:pt x="6438023" y="1799971"/>
                    <a:pt x="6305340" y="1799971"/>
                  </a:cubicBezTo>
                  <a:lnTo>
                    <a:pt x="240185" y="1799971"/>
                  </a:lnTo>
                  <a:cubicBezTo>
                    <a:pt x="107502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1649999" y="8499996"/>
            <a:ext cx="5149977" cy="1349978"/>
            <a:chOff x="0" y="0"/>
            <a:chExt cx="6866636" cy="179997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66636" cy="1799971"/>
            </a:xfrm>
            <a:custGeom>
              <a:avLst/>
              <a:gdLst/>
              <a:ahLst/>
              <a:cxnLst/>
              <a:rect r="r" b="b" t="t" l="l"/>
              <a:pathLst>
                <a:path h="1799971" w="6866636">
                  <a:moveTo>
                    <a:pt x="0" y="251968"/>
                  </a:moveTo>
                  <a:cubicBezTo>
                    <a:pt x="0" y="112776"/>
                    <a:pt x="112776" y="0"/>
                    <a:pt x="251968" y="0"/>
                  </a:cubicBezTo>
                  <a:lnTo>
                    <a:pt x="6614668" y="0"/>
                  </a:lnTo>
                  <a:cubicBezTo>
                    <a:pt x="6753860" y="0"/>
                    <a:pt x="6866636" y="112776"/>
                    <a:pt x="6866636" y="251968"/>
                  </a:cubicBezTo>
                  <a:lnTo>
                    <a:pt x="6866636" y="1548003"/>
                  </a:lnTo>
                  <a:cubicBezTo>
                    <a:pt x="6866636" y="1687195"/>
                    <a:pt x="6753860" y="1799971"/>
                    <a:pt x="6614668" y="1799971"/>
                  </a:cubicBezTo>
                  <a:lnTo>
                    <a:pt x="251968" y="1799971"/>
                  </a:lnTo>
                  <a:cubicBezTo>
                    <a:pt x="112776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6311096" y="8337995"/>
            <a:ext cx="1946962" cy="1946962"/>
            <a:chOff x="0" y="0"/>
            <a:chExt cx="6350000" cy="6350000"/>
          </a:xfrm>
        </p:grpSpPr>
        <p:sp>
          <p:nvSpPr>
            <p:cNvPr name="Freeform 30" id="30"/>
            <p:cNvSpPr/>
            <p:nvPr/>
          </p:nvSpPr>
          <p:spPr>
            <a:xfrm flipH="tru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t="0" r="-38888" b="0"/>
              </a:stretch>
            </a:blip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Bringing the Three Datasets Together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30181" y="5204165"/>
            <a:ext cx="3937797" cy="2007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71"/>
              </a:lnSpc>
            </a:pPr>
            <a:r>
              <a:rPr lang="en-US" sz="1226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nt_crime_merged_2015_2025.csv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91438" y="8687619"/>
            <a:ext cx="4967116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696 rows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91438" y="9276674"/>
            <a:ext cx="4967116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usable panel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591443" y="8687619"/>
            <a:ext cx="4967116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true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0 PAC nulls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591443" y="9276674"/>
            <a:ext cx="4967116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in 2023-2025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1891439" y="8687619"/>
            <a:ext cx="4967116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Nov 2023 = NaN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1891439" y="9276674"/>
            <a:ext cx="4967116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confirmed ✓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99998" y="1750000"/>
            <a:ext cx="5150072" cy="3100006"/>
            <a:chOff x="0" y="0"/>
            <a:chExt cx="6866763" cy="413334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480004" y="2010004"/>
            <a:ext cx="300038" cy="300038"/>
            <a:chOff x="0" y="0"/>
            <a:chExt cx="400050" cy="4000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4715" y="3422113"/>
            <a:ext cx="4696663" cy="1227944"/>
            <a:chOff x="0" y="0"/>
            <a:chExt cx="6262218" cy="163725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262243" cy="1637284"/>
            </a:xfrm>
            <a:custGeom>
              <a:avLst/>
              <a:gdLst/>
              <a:ahLst/>
              <a:cxnLst/>
              <a:rect r="r" b="b" t="t" l="l"/>
              <a:pathLst>
                <a:path h="1637284" w="6262243">
                  <a:moveTo>
                    <a:pt x="0" y="245618"/>
                  </a:moveTo>
                  <a:cubicBezTo>
                    <a:pt x="0" y="109982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09982"/>
                    <a:pt x="6262243" y="245618"/>
                  </a:cubicBezTo>
                  <a:lnTo>
                    <a:pt x="6262243" y="1391666"/>
                  </a:lnTo>
                  <a:cubicBezTo>
                    <a:pt x="6262243" y="1527302"/>
                    <a:pt x="6152261" y="1637284"/>
                    <a:pt x="6016625" y="1637284"/>
                  </a:cubicBezTo>
                  <a:lnTo>
                    <a:pt x="245618" y="1637284"/>
                  </a:lnTo>
                  <a:cubicBezTo>
                    <a:pt x="109982" y="1637284"/>
                    <a:pt x="0" y="1527302"/>
                    <a:pt x="0" y="1391666"/>
                  </a:cubicBezTo>
                  <a:close/>
                </a:path>
              </a:pathLst>
            </a:custGeom>
            <a:solidFill>
              <a:srgbClr val="8B7EC8">
                <a:alpha val="0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571444" y="3422475"/>
            <a:ext cx="4290003" cy="1130770"/>
            <a:chOff x="0" y="0"/>
            <a:chExt cx="5720004" cy="150769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719953" cy="1507744"/>
            </a:xfrm>
            <a:custGeom>
              <a:avLst/>
              <a:gdLst/>
              <a:ahLst/>
              <a:cxnLst/>
              <a:rect r="r" b="b" t="t" l="l"/>
              <a:pathLst>
                <a:path h="1507744" w="5719953">
                  <a:moveTo>
                    <a:pt x="0" y="0"/>
                  </a:moveTo>
                  <a:lnTo>
                    <a:pt x="5719953" y="0"/>
                  </a:lnTo>
                  <a:lnTo>
                    <a:pt x="5719953" y="1507744"/>
                  </a:lnTo>
                  <a:lnTo>
                    <a:pt x="0" y="15077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3871" r="0" b="-23868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571444" y="3408188"/>
            <a:ext cx="4290003" cy="1145057"/>
            <a:chOff x="0" y="0"/>
            <a:chExt cx="5720004" cy="152674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720004" cy="1526742"/>
            </a:xfrm>
            <a:custGeom>
              <a:avLst/>
              <a:gdLst/>
              <a:ahLst/>
              <a:cxnLst/>
              <a:rect r="r" b="b" t="t" l="l"/>
              <a:pathLst>
                <a:path h="1526742" w="5720004">
                  <a:moveTo>
                    <a:pt x="0" y="0"/>
                  </a:moveTo>
                  <a:lnTo>
                    <a:pt x="5720004" y="0"/>
                  </a:lnTo>
                  <a:lnTo>
                    <a:pt x="5720004" y="1526742"/>
                  </a:lnTo>
                  <a:lnTo>
                    <a:pt x="0" y="15267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3001" r="0" b="-23001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5720004" cy="1545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Skewness: 0.96 → 0.06 after transform</a:t>
              </a:r>
            </a:p>
            <a:p>
              <a:pPr algn="l">
                <a:lnSpc>
                  <a:spcPts val="1619"/>
                </a:lnSpc>
              </a:p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pipeline (skew of Assault_offences before/after log1p)</a:t>
              </a:r>
            </a:p>
            <a:p>
              <a:pPr algn="l">
                <a:lnSpc>
                  <a:spcPts val="161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500003" y="1750000"/>
            <a:ext cx="5150072" cy="3100006"/>
            <a:chOff x="0" y="0"/>
            <a:chExt cx="6866763" cy="413334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6780000" y="2010004"/>
            <a:ext cx="300038" cy="300038"/>
            <a:chOff x="0" y="0"/>
            <a:chExt cx="400050" cy="40005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6871440" y="2426675"/>
            <a:ext cx="440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sin_month, cos_month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8594798" y="1867548"/>
            <a:ext cx="3354915" cy="3354915"/>
            <a:chOff x="0" y="0"/>
            <a:chExt cx="4473219" cy="4473219"/>
          </a:xfrm>
        </p:grpSpPr>
        <p:sp>
          <p:nvSpPr>
            <p:cNvPr name="Freeform 27" id="27" descr="n_sincos_circle.png"/>
            <p:cNvSpPr/>
            <p:nvPr/>
          </p:nvSpPr>
          <p:spPr>
            <a:xfrm flipH="false" flipV="false" rot="0">
              <a:off x="0" y="0"/>
              <a:ext cx="4473194" cy="4473194"/>
            </a:xfrm>
            <a:custGeom>
              <a:avLst/>
              <a:gdLst/>
              <a:ahLst/>
              <a:cxnLst/>
              <a:rect r="r" b="b" t="t" l="l"/>
              <a:pathLst>
                <a:path h="4473194" w="4473194">
                  <a:moveTo>
                    <a:pt x="0" y="0"/>
                  </a:moveTo>
                  <a:lnTo>
                    <a:pt x="4473194" y="0"/>
                  </a:lnTo>
                  <a:lnTo>
                    <a:pt x="4473194" y="4473194"/>
                  </a:lnTo>
                  <a:lnTo>
                    <a:pt x="0" y="44731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799999" y="1750000"/>
            <a:ext cx="5150072" cy="3100006"/>
            <a:chOff x="0" y="0"/>
            <a:chExt cx="6866763" cy="413334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079996" y="2010004"/>
            <a:ext cx="300038" cy="300038"/>
            <a:chOff x="0" y="0"/>
            <a:chExt cx="400050" cy="40005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2079996" y="3422113"/>
            <a:ext cx="4696663" cy="1227944"/>
            <a:chOff x="0" y="0"/>
            <a:chExt cx="6262218" cy="163725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262243" cy="1637284"/>
            </a:xfrm>
            <a:custGeom>
              <a:avLst/>
              <a:gdLst/>
              <a:ahLst/>
              <a:cxnLst/>
              <a:rect r="r" b="b" t="t" l="l"/>
              <a:pathLst>
                <a:path h="1637284" w="6262243">
                  <a:moveTo>
                    <a:pt x="0" y="245618"/>
                  </a:moveTo>
                  <a:cubicBezTo>
                    <a:pt x="0" y="109982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09982"/>
                    <a:pt x="6262243" y="245618"/>
                  </a:cubicBezTo>
                  <a:lnTo>
                    <a:pt x="6262243" y="1391666"/>
                  </a:lnTo>
                  <a:cubicBezTo>
                    <a:pt x="6262243" y="1527302"/>
                    <a:pt x="6152261" y="1637284"/>
                    <a:pt x="6016625" y="1637284"/>
                  </a:cubicBezTo>
                  <a:lnTo>
                    <a:pt x="245618" y="1637284"/>
                  </a:lnTo>
                  <a:cubicBezTo>
                    <a:pt x="109982" y="1637284"/>
                    <a:pt x="0" y="1527302"/>
                    <a:pt x="0" y="1391666"/>
                  </a:cubicBezTo>
                  <a:close/>
                </a:path>
              </a:pathLst>
            </a:custGeom>
            <a:solidFill>
              <a:srgbClr val="3FA593">
                <a:alpha val="0"/>
              </a:srgbClr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2230005" y="3530003"/>
            <a:ext cx="4290003" cy="1330795"/>
            <a:chOff x="0" y="0"/>
            <a:chExt cx="5720004" cy="1774393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719953" cy="1774444"/>
            </a:xfrm>
            <a:custGeom>
              <a:avLst/>
              <a:gdLst/>
              <a:ahLst/>
              <a:cxnLst/>
              <a:rect r="r" b="b" t="t" l="l"/>
              <a:pathLst>
                <a:path h="1774444" w="5719953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768" r="0" b="-12766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2230005" y="3515716"/>
            <a:ext cx="4290003" cy="1345082"/>
            <a:chOff x="0" y="0"/>
            <a:chExt cx="5720004" cy="1793443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720004" cy="1793442"/>
            </a:xfrm>
            <a:custGeom>
              <a:avLst/>
              <a:gdLst/>
              <a:ahLst/>
              <a:cxnLst/>
              <a:rect r="r" b="b" t="t" l="l"/>
              <a:pathLst>
                <a:path h="1793442" w="5720004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145" r="0" b="-12145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Wet 398.7 vs dry 403.1/100k (~1%) - weak alone. Basis: Blakeslee et al. (2018)</a:t>
              </a:r>
            </a:p>
            <a:p>
              <a:pPr algn="l">
                <a:lnSpc>
                  <a:spcPts val="1619"/>
                </a:lnSpc>
              </a:p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Nov-Apr months and this comparison come from the code</a:t>
              </a:r>
            </a:p>
            <a:p>
              <a:pPr algn="l">
                <a:lnSpc>
                  <a:spcPts val="161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199998" y="5099999"/>
            <a:ext cx="5150072" cy="3100006"/>
            <a:chOff x="0" y="0"/>
            <a:chExt cx="6866763" cy="413334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480004" y="5360003"/>
            <a:ext cx="300038" cy="300038"/>
            <a:chOff x="0" y="0"/>
            <a:chExt cx="400050" cy="40005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E8829E"/>
            </a:solid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480004" y="6757311"/>
            <a:ext cx="4753299" cy="1242746"/>
            <a:chOff x="0" y="0"/>
            <a:chExt cx="6337732" cy="165699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337681" cy="1656969"/>
            </a:xfrm>
            <a:custGeom>
              <a:avLst/>
              <a:gdLst/>
              <a:ahLst/>
              <a:cxnLst/>
              <a:rect r="r" b="b" t="t" l="l"/>
              <a:pathLst>
                <a:path h="1656969" w="6337681">
                  <a:moveTo>
                    <a:pt x="0" y="248539"/>
                  </a:moveTo>
                  <a:cubicBezTo>
                    <a:pt x="0" y="111252"/>
                    <a:pt x="111252" y="0"/>
                    <a:pt x="248539" y="0"/>
                  </a:cubicBezTo>
                  <a:lnTo>
                    <a:pt x="6089142" y="0"/>
                  </a:lnTo>
                  <a:cubicBezTo>
                    <a:pt x="6226429" y="0"/>
                    <a:pt x="6337681" y="111252"/>
                    <a:pt x="6337681" y="248539"/>
                  </a:cubicBezTo>
                  <a:lnTo>
                    <a:pt x="6337681" y="1408430"/>
                  </a:lnTo>
                  <a:cubicBezTo>
                    <a:pt x="6337681" y="1545717"/>
                    <a:pt x="6226429" y="1656969"/>
                    <a:pt x="6089142" y="1656969"/>
                  </a:cubicBezTo>
                  <a:lnTo>
                    <a:pt x="248539" y="1656969"/>
                  </a:lnTo>
                  <a:cubicBezTo>
                    <a:pt x="111252" y="1656969"/>
                    <a:pt x="0" y="1545717"/>
                    <a:pt x="0" y="1408430"/>
                  </a:cubicBezTo>
                  <a:close/>
                </a:path>
              </a:pathLst>
            </a:custGeom>
            <a:solidFill>
              <a:srgbClr val="E8829E">
                <a:alpha val="0"/>
              </a:srgbClr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630004" y="6880003"/>
            <a:ext cx="4290003" cy="1330795"/>
            <a:chOff x="0" y="0"/>
            <a:chExt cx="5720004" cy="1774393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719953" cy="1774444"/>
            </a:xfrm>
            <a:custGeom>
              <a:avLst/>
              <a:gdLst/>
              <a:ahLst/>
              <a:cxnLst/>
              <a:rect r="r" b="b" t="t" l="l"/>
              <a:pathLst>
                <a:path h="1774444" w="5719953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768" r="0" b="-12766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630004" y="6865715"/>
            <a:ext cx="4290003" cy="1345082"/>
            <a:chOff x="0" y="0"/>
            <a:chExt cx="5720004" cy="1793443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720004" cy="1793442"/>
            </a:xfrm>
            <a:custGeom>
              <a:avLst/>
              <a:gdLst/>
              <a:ahLst/>
              <a:cxnLst/>
              <a:rect r="r" b="b" t="t" l="l"/>
              <a:pathLst>
                <a:path h="1793442" w="5720004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145" r="0" b="-1214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Autocorrelation: lag1=0.90 · lag3=0.84 · lag12=0.84</a:t>
              </a:r>
            </a:p>
            <a:p>
              <a:pPr algn="l">
                <a:lnSpc>
                  <a:spcPts val="1619"/>
                </a:lnSpc>
              </a:p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panel (correlation between rate and each lag)</a:t>
              </a:r>
            </a:p>
            <a:p>
              <a:pPr algn="l">
                <a:lnSpc>
                  <a:spcPts val="1619"/>
                </a:lnSpc>
              </a:pP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6500003" y="5099999"/>
            <a:ext cx="5150072" cy="3100006"/>
            <a:chOff x="0" y="0"/>
            <a:chExt cx="6866763" cy="4133342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6780000" y="5360003"/>
            <a:ext cx="300038" cy="300038"/>
            <a:chOff x="0" y="0"/>
            <a:chExt cx="400050" cy="40005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sp>
        <p:nvSpPr>
          <p:cNvPr name="TextBox 54" id="54"/>
          <p:cNvSpPr txBox="true"/>
          <p:nvPr/>
        </p:nvSpPr>
        <p:spPr>
          <a:xfrm rot="0">
            <a:off x="6871440" y="5776674"/>
            <a:ext cx="4407122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PCA (diagnostic only)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8907809" y="5712885"/>
            <a:ext cx="2819695" cy="2416178"/>
            <a:chOff x="0" y="0"/>
            <a:chExt cx="3759594" cy="3221571"/>
          </a:xfrm>
        </p:grpSpPr>
        <p:sp>
          <p:nvSpPr>
            <p:cNvPr name="Freeform 56" id="56" descr="n_pca_variance.png"/>
            <p:cNvSpPr/>
            <p:nvPr/>
          </p:nvSpPr>
          <p:spPr>
            <a:xfrm flipH="false" flipV="false" rot="0">
              <a:off x="0" y="0"/>
              <a:ext cx="3759581" cy="3221609"/>
            </a:xfrm>
            <a:custGeom>
              <a:avLst/>
              <a:gdLst/>
              <a:ahLst/>
              <a:cxnLst/>
              <a:rect r="r" b="b" t="t" l="l"/>
              <a:pathLst>
                <a:path h="3221609" w="3759581">
                  <a:moveTo>
                    <a:pt x="0" y="0"/>
                  </a:moveTo>
                  <a:lnTo>
                    <a:pt x="3759581" y="0"/>
                  </a:lnTo>
                  <a:lnTo>
                    <a:pt x="3759581" y="3221609"/>
                  </a:lnTo>
                  <a:lnTo>
                    <a:pt x="0" y="32216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4" r="0" b="-13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1799999" y="5099999"/>
            <a:ext cx="5150072" cy="3100006"/>
            <a:chOff x="0" y="0"/>
            <a:chExt cx="6866763" cy="4133342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866763" cy="4133342"/>
            </a:xfrm>
            <a:custGeom>
              <a:avLst/>
              <a:gdLst/>
              <a:ahLst/>
              <a:cxnLst/>
              <a:rect r="r" b="b" t="t" l="l"/>
              <a:pathLst>
                <a:path h="4133342" w="6866763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2079996" y="5360003"/>
            <a:ext cx="300038" cy="300038"/>
            <a:chOff x="0" y="0"/>
            <a:chExt cx="400050" cy="40005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00050" cy="400050"/>
            </a:xfrm>
            <a:custGeom>
              <a:avLst/>
              <a:gdLst/>
              <a:ahLst/>
              <a:cxnLst/>
              <a:rect r="r" b="b" t="t" l="l"/>
              <a:pathLst>
                <a:path h="400050" w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12048049" y="6639116"/>
            <a:ext cx="4696663" cy="1479137"/>
            <a:chOff x="0" y="0"/>
            <a:chExt cx="6262218" cy="1972183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262243" cy="1972183"/>
            </a:xfrm>
            <a:custGeom>
              <a:avLst/>
              <a:gdLst/>
              <a:ahLst/>
              <a:cxnLst/>
              <a:rect r="r" b="b" t="t" l="l"/>
              <a:pathLst>
                <a:path h="1972183" w="6262243">
                  <a:moveTo>
                    <a:pt x="0" y="295910"/>
                  </a:moveTo>
                  <a:cubicBezTo>
                    <a:pt x="0" y="132461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32461"/>
                    <a:pt x="6262243" y="295910"/>
                  </a:cubicBezTo>
                  <a:lnTo>
                    <a:pt x="6262243" y="1676400"/>
                  </a:lnTo>
                  <a:cubicBezTo>
                    <a:pt x="6262243" y="1839849"/>
                    <a:pt x="6152261" y="1972183"/>
                    <a:pt x="6016625" y="1972183"/>
                  </a:cubicBezTo>
                  <a:lnTo>
                    <a:pt x="245618" y="1972183"/>
                  </a:lnTo>
                  <a:cubicBezTo>
                    <a:pt x="109982" y="1972183"/>
                    <a:pt x="0" y="1839722"/>
                    <a:pt x="0" y="1676400"/>
                  </a:cubicBezTo>
                  <a:close/>
                </a:path>
              </a:pathLst>
            </a:custGeom>
            <a:solidFill>
              <a:srgbClr val="3FA593">
                <a:alpha val="0"/>
              </a:srgbClr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2251379" y="6798278"/>
            <a:ext cx="4290003" cy="1330795"/>
            <a:chOff x="0" y="0"/>
            <a:chExt cx="5720004" cy="1774393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5719953" cy="1774444"/>
            </a:xfrm>
            <a:custGeom>
              <a:avLst/>
              <a:gdLst/>
              <a:ahLst/>
              <a:cxnLst/>
              <a:rect r="r" b="b" t="t" l="l"/>
              <a:pathLst>
                <a:path h="1774444" w="5719953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768" r="0" b="-12766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2251379" y="6783991"/>
            <a:ext cx="4290003" cy="1345082"/>
            <a:chOff x="0" y="0"/>
            <a:chExt cx="5720004" cy="1793443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5720004" cy="1793442"/>
            </a:xfrm>
            <a:custGeom>
              <a:avLst/>
              <a:gdLst/>
              <a:ahLst/>
              <a:cxnLst/>
              <a:rect r="r" b="b" t="t" l="l"/>
              <a:pathLst>
                <a:path h="1793442" w="5720004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145" r="0" b="-12145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Total PAC declining: 2.43M L (2023) → 2.28M L (2025)</a:t>
              </a:r>
            </a:p>
            <a:p>
              <a:pPr algn="l">
                <a:lnSpc>
                  <a:spcPts val="1619"/>
                </a:lnSpc>
              </a:p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raw wholesale-alcohol XLSX files </a:t>
              </a:r>
            </a:p>
            <a:p>
              <a:pPr algn="l">
                <a:lnSpc>
                  <a:spcPts val="1619"/>
                </a:lnSpc>
              </a:pP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16305781" y="8304781"/>
            <a:ext cx="1982219" cy="1982219"/>
            <a:chOff x="0" y="0"/>
            <a:chExt cx="6350000" cy="6350000"/>
          </a:xfrm>
        </p:grpSpPr>
        <p:sp>
          <p:nvSpPr>
            <p:cNvPr name="Freeform 69" id="69"/>
            <p:cNvSpPr/>
            <p:nvPr/>
          </p:nvSpPr>
          <p:spPr>
            <a:xfrm flipH="tru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8"/>
              <a:stretch>
                <a:fillRect l="-38888" t="0" r="-38888" b="0"/>
              </a:stretch>
            </a:blipFill>
          </p:spPr>
        </p:sp>
      </p:grpSp>
      <p:sp>
        <p:nvSpPr>
          <p:cNvPr name="TextBox 70" id="70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Features Built from the Merged Data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571444" y="2426675"/>
            <a:ext cx="440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log(Assault_rate)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571444" y="2837621"/>
            <a:ext cx="4407122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Right-skewed → log-normal for linear models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871440" y="2837621"/>
            <a:ext cx="1091546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Cyclic encoding preserves Jan-Dec adjacency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2171436" y="2426675"/>
            <a:ext cx="440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Season (wet/dry)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2171436" y="2837621"/>
            <a:ext cx="4407122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Nov-Apr indicator, cited link to crime incidence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571444" y="5776674"/>
            <a:ext cx="440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lag1, lag3, lag12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571444" y="6187621"/>
            <a:ext cx="4407122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Short / quarterly / yearly dependence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6871440" y="6197146"/>
            <a:ext cx="1102576" cy="1022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99"/>
              </a:lnSpc>
            </a:pPr>
            <a:r>
              <a:rPr lang="en-US" sz="1332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Condenses correlated age bands into components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2171436" y="5776674"/>
            <a:ext cx="4407122" cy="3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alcohol_per_capita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12171436" y="6187621"/>
            <a:ext cx="4407122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Per-capita PAC — fair cross-region comparison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6871440" y="7481373"/>
            <a:ext cx="1683868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9"/>
              </a:lnSpc>
            </a:pPr>
            <a:r>
              <a:rPr lang="en-US" sz="1032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* Diagnostic only - not merged into model features (candidate for future work)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99998" y="1750000"/>
            <a:ext cx="9699974" cy="949928"/>
            <a:chOff x="0" y="0"/>
            <a:chExt cx="12933299" cy="126657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933299" cy="1266571"/>
            </a:xfrm>
            <a:custGeom>
              <a:avLst/>
              <a:gdLst/>
              <a:ahLst/>
              <a:cxnLst/>
              <a:rect r="r" b="b" t="t" l="l"/>
              <a:pathLst>
                <a:path h="1266571" w="12933299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lnTo>
                    <a:pt x="12756007" y="0"/>
                  </a:lnTo>
                  <a:cubicBezTo>
                    <a:pt x="12853924" y="0"/>
                    <a:pt x="12933299" y="79375"/>
                    <a:pt x="12933299" y="177292"/>
                  </a:cubicBezTo>
                  <a:lnTo>
                    <a:pt x="12933299" y="1089279"/>
                  </a:lnTo>
                  <a:cubicBezTo>
                    <a:pt x="12933299" y="1187196"/>
                    <a:pt x="12853924" y="1266571"/>
                    <a:pt x="12756007" y="1266571"/>
                  </a:cubicBezTo>
                  <a:lnTo>
                    <a:pt x="177292" y="1266571"/>
                  </a:lnTo>
                  <a:cubicBezTo>
                    <a:pt x="79375" y="1266698"/>
                    <a:pt x="0" y="1187323"/>
                    <a:pt x="0" y="1089279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550001" y="1750000"/>
            <a:ext cx="3349942" cy="949928"/>
            <a:chOff x="0" y="0"/>
            <a:chExt cx="4466590" cy="126657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66590" cy="1266571"/>
            </a:xfrm>
            <a:custGeom>
              <a:avLst/>
              <a:gdLst/>
              <a:ahLst/>
              <a:cxnLst/>
              <a:rect r="r" b="b" t="t" l="l"/>
              <a:pathLst>
                <a:path h="1266571" w="4466590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lnTo>
                    <a:pt x="4289298" y="0"/>
                  </a:lnTo>
                  <a:cubicBezTo>
                    <a:pt x="4387215" y="0"/>
                    <a:pt x="4466590" y="79375"/>
                    <a:pt x="4466590" y="177292"/>
                  </a:cubicBezTo>
                  <a:lnTo>
                    <a:pt x="4466590" y="1089279"/>
                  </a:lnTo>
                  <a:cubicBezTo>
                    <a:pt x="4466590" y="1187196"/>
                    <a:pt x="4387215" y="1266571"/>
                    <a:pt x="4289298" y="1266571"/>
                  </a:cubicBezTo>
                  <a:lnTo>
                    <a:pt x="177292" y="1266571"/>
                  </a:lnTo>
                  <a:cubicBezTo>
                    <a:pt x="79375" y="1266698"/>
                    <a:pt x="0" y="1187323"/>
                    <a:pt x="0" y="1089279"/>
                  </a:cubicBezTo>
                  <a:close/>
                </a:path>
              </a:pathLst>
            </a:custGeom>
            <a:solidFill>
              <a:srgbClr val="E9A25E">
                <a:alpha val="65098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199998" y="3520002"/>
            <a:ext cx="120015" cy="120015"/>
            <a:chOff x="0" y="0"/>
            <a:chExt cx="160020" cy="1600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199998" y="3949998"/>
            <a:ext cx="120015" cy="120015"/>
            <a:chOff x="0" y="0"/>
            <a:chExt cx="160020" cy="1600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199998" y="4380005"/>
            <a:ext cx="120015" cy="120015"/>
            <a:chOff x="0" y="0"/>
            <a:chExt cx="160020" cy="1600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199998" y="4810001"/>
            <a:ext cx="120015" cy="120015"/>
            <a:chOff x="0" y="0"/>
            <a:chExt cx="160020" cy="1600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6100000" y="3520002"/>
            <a:ext cx="120015" cy="120015"/>
            <a:chOff x="0" y="0"/>
            <a:chExt cx="160020" cy="16002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100000" y="3949998"/>
            <a:ext cx="120015" cy="120015"/>
            <a:chOff x="0" y="0"/>
            <a:chExt cx="160020" cy="1600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60020" cy="160020"/>
            </a:xfrm>
            <a:custGeom>
              <a:avLst/>
              <a:gdLst/>
              <a:ahLst/>
              <a:cxnLst/>
              <a:rect r="r" b="b" t="t" l="l"/>
              <a:pathLst>
                <a:path h="160020" w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0900067" y="2077031"/>
            <a:ext cx="7894206" cy="6476876"/>
            <a:chOff x="0" y="0"/>
            <a:chExt cx="10525608" cy="8635835"/>
          </a:xfrm>
        </p:grpSpPr>
        <p:sp>
          <p:nvSpPr>
            <p:cNvPr name="Freeform 27" id="27" descr="n_rolling_schema.png"/>
            <p:cNvSpPr/>
            <p:nvPr/>
          </p:nvSpPr>
          <p:spPr>
            <a:xfrm flipH="false" flipV="false" rot="0">
              <a:off x="0" y="0"/>
              <a:ext cx="10525633" cy="8635873"/>
            </a:xfrm>
            <a:custGeom>
              <a:avLst/>
              <a:gdLst/>
              <a:ahLst/>
              <a:cxnLst/>
              <a:rect r="r" b="b" t="t" l="l"/>
              <a:pathLst>
                <a:path h="8635873" w="10525633">
                  <a:moveTo>
                    <a:pt x="0" y="0"/>
                  </a:moveTo>
                  <a:lnTo>
                    <a:pt x="10525633" y="0"/>
                  </a:lnTo>
                  <a:lnTo>
                    <a:pt x="10525633" y="8635873"/>
                  </a:lnTo>
                  <a:lnTo>
                    <a:pt x="0" y="8635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24" t="0" r="-124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99998" y="5600005"/>
            <a:ext cx="3100006" cy="1300067"/>
            <a:chOff x="0" y="0"/>
            <a:chExt cx="4133342" cy="1733423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133342" cy="1733423"/>
            </a:xfrm>
            <a:custGeom>
              <a:avLst/>
              <a:gdLst/>
              <a:ahLst/>
              <a:cxnLst/>
              <a:rect r="r" b="b" t="t" l="l"/>
              <a:pathLst>
                <a:path h="1733423" w="4133342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4450004" y="5600005"/>
            <a:ext cx="3100006" cy="1300067"/>
            <a:chOff x="0" y="0"/>
            <a:chExt cx="4133342" cy="173342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133342" cy="1733423"/>
            </a:xfrm>
            <a:custGeom>
              <a:avLst/>
              <a:gdLst/>
              <a:ahLst/>
              <a:cxnLst/>
              <a:rect r="r" b="b" t="t" l="l"/>
              <a:pathLst>
                <a:path h="1733423" w="4133342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7700000" y="5600005"/>
            <a:ext cx="3100006" cy="1300067"/>
            <a:chOff x="0" y="0"/>
            <a:chExt cx="4133342" cy="1733423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133342" cy="1733423"/>
            </a:xfrm>
            <a:custGeom>
              <a:avLst/>
              <a:gdLst/>
              <a:ahLst/>
              <a:cxnLst/>
              <a:rect r="r" b="b" t="t" l="l"/>
              <a:pathLst>
                <a:path h="1733423" w="4133342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199998" y="7250001"/>
            <a:ext cx="9700070" cy="1600009"/>
            <a:chOff x="0" y="0"/>
            <a:chExt cx="12933426" cy="213334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2933426" cy="2133346"/>
            </a:xfrm>
            <a:custGeom>
              <a:avLst/>
              <a:gdLst/>
              <a:ahLst/>
              <a:cxnLst/>
              <a:rect r="r" b="b" t="t" l="l"/>
              <a:pathLst>
                <a:path h="2133346" w="12933426">
                  <a:moveTo>
                    <a:pt x="0" y="213360"/>
                  </a:moveTo>
                  <a:cubicBezTo>
                    <a:pt x="0" y="95504"/>
                    <a:pt x="95504" y="0"/>
                    <a:pt x="213360" y="0"/>
                  </a:cubicBezTo>
                  <a:lnTo>
                    <a:pt x="12720066" y="0"/>
                  </a:lnTo>
                  <a:cubicBezTo>
                    <a:pt x="12837923" y="0"/>
                    <a:pt x="12933426" y="95504"/>
                    <a:pt x="12933426" y="213360"/>
                  </a:cubicBezTo>
                  <a:lnTo>
                    <a:pt x="12933426" y="1919986"/>
                  </a:lnTo>
                  <a:cubicBezTo>
                    <a:pt x="12933426" y="2037842"/>
                    <a:pt x="12837923" y="2133346"/>
                    <a:pt x="12720066" y="2133346"/>
                  </a:cubicBezTo>
                  <a:lnTo>
                    <a:pt x="213360" y="2133346"/>
                  </a:lnTo>
                  <a:cubicBezTo>
                    <a:pt x="95504" y="2133346"/>
                    <a:pt x="0" y="2037842"/>
                    <a:pt x="0" y="1919986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6337945" y="8336945"/>
            <a:ext cx="1950055" cy="1950055"/>
            <a:chOff x="0" y="0"/>
            <a:chExt cx="6350000" cy="6350000"/>
          </a:xfrm>
        </p:grpSpPr>
        <p:sp>
          <p:nvSpPr>
            <p:cNvPr name="Freeform 37" id="37"/>
            <p:cNvSpPr/>
            <p:nvPr/>
          </p:nvSpPr>
          <p:spPr>
            <a:xfrm flipH="tru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t="0" r="-38888" b="0"/>
              </a:stretch>
            </a:blip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How We Validated Without Leaking Future Data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541440" y="1877616"/>
            <a:ext cx="4317121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TRAIN . 2015-2022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541440" y="2276665"/>
            <a:ext cx="4317121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504 rows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791440" y="1877616"/>
            <a:ext cx="2917117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TEST . 2023-2025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791440" y="2276665"/>
            <a:ext cx="2917117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192 rows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91438" y="3007624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Leakage controls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541440" y="3457623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Temporal cut-off, no random split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541440" y="3887619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TimeSeriesSplit cross-validation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541440" y="4317616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Rolling-origin backtest (evaluation.py)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541440" y="4747622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Last 6 months excluded from training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6191440" y="3007624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Baselines tested (evaluation.py)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6441443" y="3457623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Seasonal naive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6441443" y="3887619"/>
            <a:ext cx="44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12-month moving average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6191440" y="4426668"/>
            <a:ext cx="4417124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 i="true">
                <a:solidFill>
                  <a:srgbClr val="8B7EC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-&gt; Model must beat both to be accepted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291438" y="5157616"/>
            <a:ext cx="9517123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Sanity check: does the split add up?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291438" y="5757624"/>
            <a:ext cx="2917117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696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291438" y="6357623"/>
            <a:ext cx="2917117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6 regions × ~116 months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4541444" y="5757624"/>
            <a:ext cx="2917117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504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4541444" y="6357623"/>
            <a:ext cx="2917117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rows (72%)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7791440" y="5757624"/>
            <a:ext cx="2917117" cy="44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192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7791440" y="6357623"/>
            <a:ext cx="2917117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test rows (28%)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541440" y="7446674"/>
            <a:ext cx="9017117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Expanding-window backtest: 60-month minimum training window, expanding by 3 months per origin, tested at forecast horizons h = 1, 3, 6, and 12 months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487451" y="2749582"/>
            <a:ext cx="8656568" cy="4269229"/>
            <a:chOff x="0" y="0"/>
            <a:chExt cx="11542090" cy="5692305"/>
          </a:xfrm>
        </p:grpSpPr>
        <p:sp>
          <p:nvSpPr>
            <p:cNvPr name="Freeform 11" id="11" descr="n_eda_trend.png"/>
            <p:cNvSpPr/>
            <p:nvPr/>
          </p:nvSpPr>
          <p:spPr>
            <a:xfrm flipH="false" flipV="false" rot="0">
              <a:off x="0" y="0"/>
              <a:ext cx="11542141" cy="5692267"/>
            </a:xfrm>
            <a:custGeom>
              <a:avLst/>
              <a:gdLst/>
              <a:ahLst/>
              <a:cxnLst/>
              <a:rect r="r" b="b" t="t" l="l"/>
              <a:pathLst>
                <a:path h="5692267" w="11542141">
                  <a:moveTo>
                    <a:pt x="0" y="0"/>
                  </a:moveTo>
                  <a:lnTo>
                    <a:pt x="11542141" y="0"/>
                  </a:lnTo>
                  <a:lnTo>
                    <a:pt x="11542141" y="5692267"/>
                  </a:lnTo>
                  <a:lnTo>
                    <a:pt x="0" y="56922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79" r="0" b="-8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304830" y="2749582"/>
            <a:ext cx="8582835" cy="3578895"/>
            <a:chOff x="0" y="0"/>
            <a:chExt cx="11443780" cy="4771860"/>
          </a:xfrm>
        </p:grpSpPr>
        <p:sp>
          <p:nvSpPr>
            <p:cNvPr name="Freeform 13" id="13" descr="n_logtransform.png"/>
            <p:cNvSpPr/>
            <p:nvPr/>
          </p:nvSpPr>
          <p:spPr>
            <a:xfrm flipH="false" flipV="false" rot="0">
              <a:off x="0" y="0"/>
              <a:ext cx="11443843" cy="4771898"/>
            </a:xfrm>
            <a:custGeom>
              <a:avLst/>
              <a:gdLst/>
              <a:ahLst/>
              <a:cxnLst/>
              <a:rect r="r" b="b" t="t" l="l"/>
              <a:pathLst>
                <a:path h="4771898" w="11443843">
                  <a:moveTo>
                    <a:pt x="0" y="0"/>
                  </a:moveTo>
                  <a:lnTo>
                    <a:pt x="11443843" y="0"/>
                  </a:lnTo>
                  <a:lnTo>
                    <a:pt x="11443843" y="4771898"/>
                  </a:lnTo>
                  <a:lnTo>
                    <a:pt x="0" y="47718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67" t="0" r="-166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6284272" y="8283272"/>
            <a:ext cx="1950055" cy="1950055"/>
            <a:chOff x="0" y="0"/>
            <a:chExt cx="6350000" cy="6350000"/>
          </a:xfrm>
        </p:grpSpPr>
        <p:sp>
          <p:nvSpPr>
            <p:cNvPr name="Freeform 15" id="15"/>
            <p:cNvSpPr/>
            <p:nvPr/>
          </p:nvSpPr>
          <p:spPr>
            <a:xfrm flipH="tru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6"/>
              <a:stretch>
                <a:fillRect l="-38888" t="0" r="-38888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What the Data Tells Us Before Modelling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8059944"/>
            <a:ext cx="7917123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Assault offences have risen since 2020, sharpest in Top End and Big Rivers (+70% and +51%)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520009" y="8059944"/>
            <a:ext cx="741711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Log transform reduces skew (0.96 -&gt; 0.06) - stabilises the target for linear models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001" y="-9525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150002" y="1920002"/>
            <a:ext cx="4439507" cy="480060"/>
            <a:chOff x="0" y="0"/>
            <a:chExt cx="5919343" cy="6400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919343" cy="640080"/>
            </a:xfrm>
            <a:custGeom>
              <a:avLst/>
              <a:gdLst/>
              <a:ahLst/>
              <a:cxnLst/>
              <a:rect r="r" b="b" t="t" l="l"/>
              <a:pathLst>
                <a:path h="640080" w="5919343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5727319" y="0"/>
                  </a:lnTo>
                  <a:cubicBezTo>
                    <a:pt x="5833364" y="0"/>
                    <a:pt x="5919343" y="85979"/>
                    <a:pt x="5919343" y="192024"/>
                  </a:cubicBezTo>
                  <a:lnTo>
                    <a:pt x="5919343" y="448056"/>
                  </a:lnTo>
                  <a:cubicBezTo>
                    <a:pt x="5919343" y="554101"/>
                    <a:pt x="5833364" y="640080"/>
                    <a:pt x="5727319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150002" y="2869997"/>
            <a:ext cx="3512058" cy="480060"/>
            <a:chOff x="0" y="0"/>
            <a:chExt cx="4682744" cy="6400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682744" cy="640080"/>
            </a:xfrm>
            <a:custGeom>
              <a:avLst/>
              <a:gdLst/>
              <a:ahLst/>
              <a:cxnLst/>
              <a:rect r="r" b="b" t="t" l="l"/>
              <a:pathLst>
                <a:path h="640080" w="4682744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4490720" y="0"/>
                  </a:lnTo>
                  <a:cubicBezTo>
                    <a:pt x="4596765" y="0"/>
                    <a:pt x="4682744" y="85979"/>
                    <a:pt x="4682744" y="192024"/>
                  </a:cubicBezTo>
                  <a:lnTo>
                    <a:pt x="4682744" y="448056"/>
                  </a:lnTo>
                  <a:cubicBezTo>
                    <a:pt x="4682744" y="554101"/>
                    <a:pt x="4596765" y="640080"/>
                    <a:pt x="4490720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903471" y="2896667"/>
            <a:ext cx="4517117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region dummies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50002" y="3820001"/>
            <a:ext cx="4961763" cy="480060"/>
            <a:chOff x="0" y="0"/>
            <a:chExt cx="6615684" cy="640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615684" cy="640080"/>
            </a:xfrm>
            <a:custGeom>
              <a:avLst/>
              <a:gdLst/>
              <a:ahLst/>
              <a:cxnLst/>
              <a:rect r="r" b="b" t="t" l="l"/>
              <a:pathLst>
                <a:path h="640080" w="6615684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6423660" y="0"/>
                  </a:lnTo>
                  <a:cubicBezTo>
                    <a:pt x="6529705" y="0"/>
                    <a:pt x="6615684" y="85979"/>
                    <a:pt x="6615684" y="192024"/>
                  </a:cubicBezTo>
                  <a:lnTo>
                    <a:pt x="6615684" y="448056"/>
                  </a:lnTo>
                  <a:cubicBezTo>
                    <a:pt x="6615684" y="554101"/>
                    <a:pt x="6529705" y="640080"/>
                    <a:pt x="6423660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2150002" y="4769996"/>
            <a:ext cx="3070860" cy="480060"/>
            <a:chOff x="0" y="0"/>
            <a:chExt cx="4094480" cy="6400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094480" cy="640080"/>
            </a:xfrm>
            <a:custGeom>
              <a:avLst/>
              <a:gdLst/>
              <a:ahLst/>
              <a:cxnLst/>
              <a:rect r="r" b="b" t="t" l="l"/>
              <a:pathLst>
                <a:path h="640080" w="40944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3902456" y="0"/>
                  </a:lnTo>
                  <a:cubicBezTo>
                    <a:pt x="4008501" y="0"/>
                    <a:pt x="4094480" y="85979"/>
                    <a:pt x="4094480" y="192024"/>
                  </a:cubicBezTo>
                  <a:lnTo>
                    <a:pt x="4094480" y="448056"/>
                  </a:lnTo>
                  <a:cubicBezTo>
                    <a:pt x="4094480" y="554101"/>
                    <a:pt x="4008501" y="640080"/>
                    <a:pt x="3902456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3FA593">
                <a:alpha val="65098"/>
              </a:srgbClr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9616326" y="1838239"/>
            <a:ext cx="9124483" cy="3963553"/>
            <a:chOff x="0" y="0"/>
            <a:chExt cx="12165978" cy="5284737"/>
          </a:xfrm>
        </p:grpSpPr>
        <p:sp>
          <p:nvSpPr>
            <p:cNvPr name="Freeform 20" id="20" descr="n_feature_variant.png"/>
            <p:cNvSpPr/>
            <p:nvPr/>
          </p:nvSpPr>
          <p:spPr>
            <a:xfrm flipH="false" flipV="false" rot="0">
              <a:off x="0" y="0"/>
              <a:ext cx="12165965" cy="5284724"/>
            </a:xfrm>
            <a:custGeom>
              <a:avLst/>
              <a:gdLst/>
              <a:ahLst/>
              <a:cxnLst/>
              <a:rect r="r" b="b" t="t" l="l"/>
              <a:pathLst>
                <a:path h="5284724" w="12165965">
                  <a:moveTo>
                    <a:pt x="0" y="0"/>
                  </a:moveTo>
                  <a:lnTo>
                    <a:pt x="12165965" y="0"/>
                  </a:lnTo>
                  <a:lnTo>
                    <a:pt x="12165965" y="5284724"/>
                  </a:lnTo>
                  <a:lnTo>
                    <a:pt x="0" y="52847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2" r="0" b="-33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291438" y="6485668"/>
            <a:ext cx="7899940" cy="1981381"/>
            <a:chOff x="0" y="0"/>
            <a:chExt cx="10533253" cy="264184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533252" cy="2641854"/>
            </a:xfrm>
            <a:custGeom>
              <a:avLst/>
              <a:gdLst/>
              <a:ahLst/>
              <a:cxnLst/>
              <a:rect r="r" b="b" t="t" l="l"/>
              <a:pathLst>
                <a:path h="2641854" w="10533252">
                  <a:moveTo>
                    <a:pt x="0" y="264160"/>
                  </a:moveTo>
                  <a:cubicBezTo>
                    <a:pt x="0" y="118364"/>
                    <a:pt x="140335" y="0"/>
                    <a:pt x="313309" y="0"/>
                  </a:cubicBezTo>
                  <a:lnTo>
                    <a:pt x="10219944" y="0"/>
                  </a:lnTo>
                  <a:cubicBezTo>
                    <a:pt x="10393045" y="0"/>
                    <a:pt x="10533252" y="118364"/>
                    <a:pt x="10533252" y="264160"/>
                  </a:cubicBezTo>
                  <a:lnTo>
                    <a:pt x="10533252" y="2377694"/>
                  </a:lnTo>
                  <a:cubicBezTo>
                    <a:pt x="10533252" y="2523617"/>
                    <a:pt x="10392918" y="2641854"/>
                    <a:pt x="10219944" y="2641854"/>
                  </a:cubicBezTo>
                  <a:lnTo>
                    <a:pt x="313309" y="2641854"/>
                  </a:lnTo>
                  <a:cubicBezTo>
                    <a:pt x="140335" y="2641854"/>
                    <a:pt x="0" y="2523490"/>
                    <a:pt x="0" y="2377694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99998" y="9100004"/>
            <a:ext cx="13457251" cy="800005"/>
            <a:chOff x="0" y="0"/>
            <a:chExt cx="17943001" cy="1066673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7943001" cy="1066673"/>
            </a:xfrm>
            <a:custGeom>
              <a:avLst/>
              <a:gdLst/>
              <a:ahLst/>
              <a:cxnLst/>
              <a:rect r="r" b="b" t="t" l="l"/>
              <a:pathLst>
                <a:path h="1066673" w="17943001">
                  <a:moveTo>
                    <a:pt x="0" y="128016"/>
                  </a:moveTo>
                  <a:cubicBezTo>
                    <a:pt x="0" y="57277"/>
                    <a:pt x="48477" y="0"/>
                    <a:pt x="108349" y="0"/>
                  </a:cubicBezTo>
                  <a:lnTo>
                    <a:pt x="17834652" y="0"/>
                  </a:lnTo>
                  <a:cubicBezTo>
                    <a:pt x="17894525" y="0"/>
                    <a:pt x="17943001" y="57277"/>
                    <a:pt x="17943001" y="128016"/>
                  </a:cubicBezTo>
                  <a:lnTo>
                    <a:pt x="17943001" y="938657"/>
                  </a:lnTo>
                  <a:cubicBezTo>
                    <a:pt x="17943001" y="1009396"/>
                    <a:pt x="17894525" y="1066673"/>
                    <a:pt x="17834652" y="1066673"/>
                  </a:cubicBezTo>
                  <a:lnTo>
                    <a:pt x="108349" y="1066673"/>
                  </a:lnTo>
                  <a:cubicBezTo>
                    <a:pt x="48477" y="1066673"/>
                    <a:pt x="0" y="1009396"/>
                    <a:pt x="0" y="938657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6312933" y="8279029"/>
            <a:ext cx="1975067" cy="1975067"/>
            <a:chOff x="0" y="0"/>
            <a:chExt cx="6350000" cy="6350000"/>
          </a:xfrm>
        </p:grpSpPr>
        <p:sp>
          <p:nvSpPr>
            <p:cNvPr name="Freeform 26" id="26"/>
            <p:cNvSpPr/>
            <p:nvPr/>
          </p:nvSpPr>
          <p:spPr>
            <a:xfrm flipH="tru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t="0" r="-38888" b="0"/>
              </a:stretch>
            </a:blip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Choosing the Right Feature Set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91438" y="1907619"/>
            <a:ext cx="717118" cy="346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V1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830968" y="1946672"/>
            <a:ext cx="2507342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sin/cos month, Season, lag1/3/12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91438" y="2857624"/>
            <a:ext cx="717118" cy="346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91438" y="3807619"/>
            <a:ext cx="717118" cy="346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V3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353176" y="3846671"/>
            <a:ext cx="2120275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Alcohol_offences, DV_offences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91438" y="4757623"/>
            <a:ext cx="717118" cy="3466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V4 Full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462321" y="4796666"/>
            <a:ext cx="3637674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Alcohol_offences, DV_offences + region dummies - selected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2291439" y="4747622"/>
            <a:ext cx="1417120" cy="4266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0.1794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91438" y="6107620"/>
            <a:ext cx="7717117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Why did V3 get worse before V4 fixed it?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11443" y="6776666"/>
            <a:ext cx="7474229" cy="1380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64"/>
              </a:lnSpc>
            </a:pPr>
            <a:r>
              <a:rPr lang="en-US" sz="1553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V2 → V3: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RMSE rose slightly from 0.2146 to 0.2246 (+4.7%) when crime-context features were added without region dummies</a:t>
            </a:r>
          </a:p>
          <a:p>
            <a:pPr algn="just">
              <a:lnSpc>
                <a:spcPts val="1864"/>
              </a:lnSpc>
            </a:pPr>
            <a:r>
              <a:rPr lang="en-US" sz="1553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Cause: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Crime-context features alone do not control for region-level baseline differences in offence volume</a:t>
            </a:r>
          </a:p>
          <a:p>
            <a:pPr algn="just">
              <a:lnSpc>
                <a:spcPts val="1864"/>
              </a:lnSpc>
            </a:pPr>
            <a:r>
              <a:rPr lang="en-US" sz="1553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Fix (V3→V4):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adding region dummies alongside crime-context features (V4) lets region terms absorb the baseline gap.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541440" y="9277617"/>
            <a:ext cx="15217121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Region fixed effects (V3→V4) provided the largest single improvement - confirms temporal autocorrelation in assault rates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How the Models Performed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91438" y="1707623"/>
            <a:ext cx="7717117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 per 100k population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91437" y="1707623"/>
            <a:ext cx="7417118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Per-region RMSE - XGBoost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800100" y="2564606"/>
            <a:ext cx="8141894" cy="5026333"/>
            <a:chOff x="0" y="0"/>
            <a:chExt cx="10855858" cy="6701777"/>
          </a:xfrm>
        </p:grpSpPr>
        <p:sp>
          <p:nvSpPr>
            <p:cNvPr name="Freeform 14" id="14" descr="n_model_compare.png"/>
            <p:cNvSpPr/>
            <p:nvPr/>
          </p:nvSpPr>
          <p:spPr>
            <a:xfrm flipH="false" flipV="false" rot="0">
              <a:off x="0" y="0"/>
              <a:ext cx="10855833" cy="6701790"/>
            </a:xfrm>
            <a:custGeom>
              <a:avLst/>
              <a:gdLst/>
              <a:ahLst/>
              <a:cxnLst/>
              <a:rect r="r" b="b" t="t" l="l"/>
              <a:pathLst>
                <a:path h="6701790" w="10855833">
                  <a:moveTo>
                    <a:pt x="0" y="0"/>
                  </a:moveTo>
                  <a:lnTo>
                    <a:pt x="10855833" y="0"/>
                  </a:lnTo>
                  <a:lnTo>
                    <a:pt x="10855833" y="6701790"/>
                  </a:lnTo>
                  <a:lnTo>
                    <a:pt x="0" y="67017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35" t="0" r="-235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651997" y="2669372"/>
            <a:ext cx="7828150" cy="4832728"/>
            <a:chOff x="0" y="0"/>
            <a:chExt cx="10437533" cy="6443637"/>
          </a:xfrm>
        </p:grpSpPr>
        <p:sp>
          <p:nvSpPr>
            <p:cNvPr name="Freeform 16" id="16" descr="n_per_region.png"/>
            <p:cNvSpPr/>
            <p:nvPr/>
          </p:nvSpPr>
          <p:spPr>
            <a:xfrm flipH="false" flipV="false" rot="0">
              <a:off x="0" y="0"/>
              <a:ext cx="10437495" cy="6443599"/>
            </a:xfrm>
            <a:custGeom>
              <a:avLst/>
              <a:gdLst/>
              <a:ahLst/>
              <a:cxnLst/>
              <a:rect r="r" b="b" t="t" l="l"/>
              <a:pathLst>
                <a:path h="6443599" w="10437495">
                  <a:moveTo>
                    <a:pt x="0" y="0"/>
                  </a:moveTo>
                  <a:lnTo>
                    <a:pt x="10437495" y="0"/>
                  </a:lnTo>
                  <a:lnTo>
                    <a:pt x="10437495" y="6443599"/>
                  </a:lnTo>
                  <a:lnTo>
                    <a:pt x="0" y="6443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6" r="0" b="-6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291438" y="9357617"/>
            <a:ext cx="15717117" cy="39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i="true">
                <a:solidFill>
                  <a:srgbClr val="E9A25E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Single train/test split - a stricter rolling-origin backtest changes this ranking (next slide)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Which Evaluation Do We Trust?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80103" y="2180072"/>
            <a:ext cx="8391277" cy="5541797"/>
            <a:chOff x="0" y="0"/>
            <a:chExt cx="11188370" cy="7389063"/>
          </a:xfrm>
        </p:grpSpPr>
        <p:sp>
          <p:nvSpPr>
            <p:cNvPr name="Freeform 12" id="12" descr="n_backtest.png"/>
            <p:cNvSpPr/>
            <p:nvPr/>
          </p:nvSpPr>
          <p:spPr>
            <a:xfrm flipH="false" flipV="false" rot="0">
              <a:off x="0" y="0"/>
              <a:ext cx="11188319" cy="7389114"/>
            </a:xfrm>
            <a:custGeom>
              <a:avLst/>
              <a:gdLst/>
              <a:ahLst/>
              <a:cxnLst/>
              <a:rect r="r" b="b" t="t" l="l"/>
              <a:pathLst>
                <a:path h="7389114" w="11188319">
                  <a:moveTo>
                    <a:pt x="0" y="0"/>
                  </a:moveTo>
                  <a:lnTo>
                    <a:pt x="11188319" y="0"/>
                  </a:lnTo>
                  <a:lnTo>
                    <a:pt x="11188319" y="7389114"/>
                  </a:lnTo>
                  <a:lnTo>
                    <a:pt x="0" y="7389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3" t="0" r="-24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9606239" y="1834648"/>
            <a:ext cx="7819149" cy="6415307"/>
            <a:chOff x="0" y="0"/>
            <a:chExt cx="10425532" cy="855374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425557" cy="8553704"/>
            </a:xfrm>
            <a:custGeom>
              <a:avLst/>
              <a:gdLst/>
              <a:ahLst/>
              <a:cxnLst/>
              <a:rect r="r" b="b" t="t" l="l"/>
              <a:pathLst>
                <a:path h="8553704" w="10425557">
                  <a:moveTo>
                    <a:pt x="0" y="684276"/>
                  </a:moveTo>
                  <a:cubicBezTo>
                    <a:pt x="0" y="306324"/>
                    <a:pt x="323596" y="0"/>
                    <a:pt x="722757" y="0"/>
                  </a:cubicBezTo>
                  <a:lnTo>
                    <a:pt x="9702800" y="0"/>
                  </a:lnTo>
                  <a:cubicBezTo>
                    <a:pt x="10101961" y="0"/>
                    <a:pt x="10425557" y="306324"/>
                    <a:pt x="10425557" y="684276"/>
                  </a:cubicBezTo>
                  <a:lnTo>
                    <a:pt x="10425557" y="7869428"/>
                  </a:lnTo>
                  <a:cubicBezTo>
                    <a:pt x="10425557" y="8247380"/>
                    <a:pt x="10101961" y="8553704"/>
                    <a:pt x="9702800" y="8553704"/>
                  </a:cubicBezTo>
                  <a:lnTo>
                    <a:pt x="722757" y="8553704"/>
                  </a:lnTo>
                  <a:cubicBezTo>
                    <a:pt x="323596" y="8553704"/>
                    <a:pt x="0" y="8247380"/>
                    <a:pt x="0" y="7869428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899999" y="2109997"/>
            <a:ext cx="160020" cy="160020"/>
            <a:chOff x="0" y="0"/>
            <a:chExt cx="213360" cy="2133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360" cy="213360"/>
            </a:xfrm>
            <a:custGeom>
              <a:avLst/>
              <a:gdLst/>
              <a:ahLst/>
              <a:cxnLst/>
              <a:rect r="r" b="b" t="t" l="l"/>
              <a:pathLst>
                <a:path h="213360" w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0297087" y="2081851"/>
            <a:ext cx="6511633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Single train/test split (previous slide)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wins - RMSE 84.5 per 100k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899999" y="3610004"/>
            <a:ext cx="160020" cy="160020"/>
            <a:chOff x="0" y="0"/>
            <a:chExt cx="213360" cy="2133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3360" cy="213360"/>
            </a:xfrm>
            <a:custGeom>
              <a:avLst/>
              <a:gdLst/>
              <a:ahLst/>
              <a:cxnLst/>
              <a:rect r="r" b="b" t="t" l="l"/>
              <a:pathLst>
                <a:path h="213360" w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0297087" y="3580581"/>
            <a:ext cx="6711477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Rolling-origin backtest (this slide)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wins at 1 month; 12-month moving average wins from 3 months onward (3, 6, 12)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899999" y="5110001"/>
            <a:ext cx="160020" cy="160020"/>
            <a:chOff x="0" y="0"/>
            <a:chExt cx="213360" cy="2133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3360" cy="213360"/>
            </a:xfrm>
            <a:custGeom>
              <a:avLst/>
              <a:gdLst/>
              <a:ahLst/>
              <a:cxnLst/>
              <a:rect r="r" b="b" t="t" l="l"/>
              <a:pathLst>
                <a:path h="213360" w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297087" y="5079330"/>
            <a:ext cx="6511633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Why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at 1 month there is enough recent signal for XGBoost to exploit; beyond that, assault rates are dominated by a slow-moving local level and added model complexity helps little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899999" y="6609998"/>
            <a:ext cx="160020" cy="160020"/>
            <a:chOff x="0" y="0"/>
            <a:chExt cx="213360" cy="21336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3360" cy="213360"/>
            </a:xfrm>
            <a:custGeom>
              <a:avLst/>
              <a:gdLst/>
              <a:ahLst/>
              <a:cxnLst/>
              <a:rect r="r" b="b" t="t" l="l"/>
              <a:pathLst>
                <a:path h="213360" w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E8829E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0297087" y="6578060"/>
            <a:ext cx="6511633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Practical implication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for 1-month-ahead forecasts; 12-month moving average as the reference forecast from 3 months onward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91438" y="8576672"/>
            <a:ext cx="7917123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Rolling-origin backtest (evaluation.py) - leakage-free, repeated out-of-sample tests at each horizon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691440" y="8576672"/>
            <a:ext cx="7317124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Reported as a finding, not a failure - any model we deploy must now beat this benchmark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99998" y="2499998"/>
            <a:ext cx="7499985" cy="2450021"/>
            <a:chOff x="0" y="0"/>
            <a:chExt cx="9999980" cy="326669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999980" cy="3266694"/>
            </a:xfrm>
            <a:custGeom>
              <a:avLst/>
              <a:gdLst/>
              <a:ahLst/>
              <a:cxnLst/>
              <a:rect r="r" b="b" t="t" l="l"/>
              <a:pathLst>
                <a:path h="3266694" w="9999980">
                  <a:moveTo>
                    <a:pt x="0" y="261366"/>
                  </a:moveTo>
                  <a:cubicBezTo>
                    <a:pt x="0" y="116967"/>
                    <a:pt x="116967" y="0"/>
                    <a:pt x="261366" y="0"/>
                  </a:cubicBezTo>
                  <a:lnTo>
                    <a:pt x="9738614" y="0"/>
                  </a:lnTo>
                  <a:cubicBezTo>
                    <a:pt x="9882886" y="0"/>
                    <a:pt x="9999980" y="116967"/>
                    <a:pt x="9999980" y="261366"/>
                  </a:cubicBezTo>
                  <a:lnTo>
                    <a:pt x="9999980" y="3005328"/>
                  </a:lnTo>
                  <a:cubicBezTo>
                    <a:pt x="9999980" y="3149600"/>
                    <a:pt x="9883013" y="3266694"/>
                    <a:pt x="9738614" y="3266694"/>
                  </a:cubicBezTo>
                  <a:lnTo>
                    <a:pt x="261366" y="3266694"/>
                  </a:lnTo>
                  <a:cubicBezTo>
                    <a:pt x="116967" y="3266694"/>
                    <a:pt x="0" y="3149727"/>
                    <a:pt x="0" y="3005328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600000" y="2499998"/>
            <a:ext cx="7499985" cy="2450021"/>
            <a:chOff x="0" y="0"/>
            <a:chExt cx="9999980" cy="326669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999980" cy="3266694"/>
            </a:xfrm>
            <a:custGeom>
              <a:avLst/>
              <a:gdLst/>
              <a:ahLst/>
              <a:cxnLst/>
              <a:rect r="r" b="b" t="t" l="l"/>
              <a:pathLst>
                <a:path h="3266694" w="9999980">
                  <a:moveTo>
                    <a:pt x="0" y="261366"/>
                  </a:moveTo>
                  <a:cubicBezTo>
                    <a:pt x="0" y="116967"/>
                    <a:pt x="116967" y="0"/>
                    <a:pt x="261366" y="0"/>
                  </a:cubicBezTo>
                  <a:lnTo>
                    <a:pt x="9738614" y="0"/>
                  </a:lnTo>
                  <a:cubicBezTo>
                    <a:pt x="9882886" y="0"/>
                    <a:pt x="9999980" y="116967"/>
                    <a:pt x="9999980" y="261366"/>
                  </a:cubicBezTo>
                  <a:lnTo>
                    <a:pt x="9999980" y="3005328"/>
                  </a:lnTo>
                  <a:cubicBezTo>
                    <a:pt x="9999980" y="3149600"/>
                    <a:pt x="9883013" y="3266694"/>
                    <a:pt x="9738614" y="3266694"/>
                  </a:cubicBezTo>
                  <a:lnTo>
                    <a:pt x="261366" y="3266694"/>
                  </a:lnTo>
                  <a:cubicBezTo>
                    <a:pt x="116967" y="3266694"/>
                    <a:pt x="0" y="3149727"/>
                    <a:pt x="0" y="3005328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199998" y="8599999"/>
            <a:ext cx="15899987" cy="1149953"/>
            <a:chOff x="0" y="0"/>
            <a:chExt cx="21199983" cy="153327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199983" cy="1533271"/>
            </a:xfrm>
            <a:custGeom>
              <a:avLst/>
              <a:gdLst/>
              <a:ahLst/>
              <a:cxnLst/>
              <a:rect r="r" b="b" t="t" l="l"/>
              <a:pathLst>
                <a:path h="1533271" w="21199983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21046694" y="0"/>
                  </a:lnTo>
                  <a:cubicBezTo>
                    <a:pt x="21131403" y="0"/>
                    <a:pt x="21199983" y="68707"/>
                    <a:pt x="21199983" y="153289"/>
                  </a:cubicBezTo>
                  <a:lnTo>
                    <a:pt x="21199983" y="1379982"/>
                  </a:lnTo>
                  <a:cubicBezTo>
                    <a:pt x="21199983" y="1464691"/>
                    <a:pt x="21131276" y="1533271"/>
                    <a:pt x="21046694" y="1533271"/>
                  </a:cubicBezTo>
                  <a:lnTo>
                    <a:pt x="153289" y="1533271"/>
                  </a:lnTo>
                  <a:cubicBezTo>
                    <a:pt x="68707" y="1533271"/>
                    <a:pt x="0" y="1464691"/>
                    <a:pt x="0" y="1379982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139263" y="6156322"/>
            <a:ext cx="6683397" cy="1804673"/>
            <a:chOff x="0" y="0"/>
            <a:chExt cx="8911196" cy="240623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911209" cy="2406269"/>
            </a:xfrm>
            <a:custGeom>
              <a:avLst/>
              <a:gdLst/>
              <a:ahLst/>
              <a:cxnLst/>
              <a:rect r="r" b="b" t="t" l="l"/>
              <a:pathLst>
                <a:path h="2406269" w="8911209">
                  <a:moveTo>
                    <a:pt x="0" y="0"/>
                  </a:moveTo>
                  <a:lnTo>
                    <a:pt x="8911209" y="0"/>
                  </a:lnTo>
                  <a:lnTo>
                    <a:pt x="8911209" y="2406269"/>
                  </a:lnTo>
                  <a:lnTo>
                    <a:pt x="0" y="24062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411443" y="628574"/>
            <a:ext cx="11817125" cy="66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Does Alcohol Supply Improve Predictions?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91438" y="1726673"/>
            <a:ext cx="7317124" cy="307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Model A - no alcohol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91438" y="2136667"/>
            <a:ext cx="73171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2015-2022 (504 rows) - Test 2023-2025 (192 rows)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11443" y="2627624"/>
            <a:ext cx="2167118" cy="22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Model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761442" y="2627624"/>
            <a:ext cx="1517123" cy="22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RMSE(log)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461444" y="2627624"/>
            <a:ext cx="1517123" cy="22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MAE(log)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161438" y="2627624"/>
            <a:ext cx="1567120" cy="22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RMSE(100k)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11443" y="3026674"/>
            <a:ext cx="2167118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Linear Reg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761442" y="3026674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0.2010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461444" y="3026674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0.1686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161438" y="3026674"/>
            <a:ext cx="1567120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106.0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11443" y="3486674"/>
            <a:ext cx="2167118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Ridge (a=0.1)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761442" y="3486674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0.2004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461444" y="3486674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0.1681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161438" y="3486674"/>
            <a:ext cx="1567120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105.6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11443" y="3946674"/>
            <a:ext cx="2167118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Lasso (a=0.01)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3761442" y="3946674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0.2153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461444" y="3946674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0.1693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161438" y="3946674"/>
            <a:ext cx="1567120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140.0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11443" y="4406675"/>
            <a:ext cx="2167118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XGBoost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761442" y="4406675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0.1517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461444" y="4406675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0.1227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161438" y="4406675"/>
            <a:ext cx="1567120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84.5 - best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691440" y="1726673"/>
            <a:ext cx="7317124" cy="307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Model B - with alcohol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691440" y="2136667"/>
            <a:ext cx="73171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2023-2024 (120 rows) - Test 2025 (72 rows)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811436" y="2627624"/>
            <a:ext cx="2167118" cy="22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Model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2161444" y="2627624"/>
            <a:ext cx="1517123" cy="22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RMSE(log)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3861437" y="2627624"/>
            <a:ext cx="1517123" cy="22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MAE(log)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5561440" y="2627624"/>
            <a:ext cx="1567120" cy="2266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RMSE(100k)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811436" y="3026674"/>
            <a:ext cx="2167118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Linear Reg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2161444" y="3026674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0.1284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3861437" y="3026674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0.0838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5561440" y="3026674"/>
            <a:ext cx="1567120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57.1 - best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9811436" y="3486674"/>
            <a:ext cx="216711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Ridge (a=1)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2161444" y="3486674"/>
            <a:ext cx="1517123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0.1607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3861437" y="3486674"/>
            <a:ext cx="1517123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0.1139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5561440" y="3486674"/>
            <a:ext cx="156712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79.8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9811436" y="3946674"/>
            <a:ext cx="2167118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Lasso (a=0.01)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2161444" y="3946674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0.2058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3861437" y="3946674"/>
            <a:ext cx="1517123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0.1553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5561440" y="3946674"/>
            <a:ext cx="1567120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116.1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9811436" y="4406675"/>
            <a:ext cx="2167118" cy="277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2161444" y="4406675"/>
            <a:ext cx="1517123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0.1945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3861437" y="4406675"/>
            <a:ext cx="1517123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0.1407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5561440" y="4406675"/>
            <a:ext cx="156712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94.1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291438" y="5276669"/>
            <a:ext cx="15717117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The alcohol_per_capita coefficient stays small and positive across all models (+0.04 to +0.06)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591437" y="8776668"/>
            <a:ext cx="15117118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Model B trains on far fewer rows (120 vs 504) over a different period - RMSE differences reflect data scarcity as much as the alcohol predictor. Alcohol shows a small, positive, but weak and uncertain association with assault rates.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Technical Challenges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10097" y="2529364"/>
            <a:ext cx="771711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Four Key Challenges Encountered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60097" y="3322015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521543" y="3298688"/>
            <a:ext cx="13986596" cy="543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1: Schema mismatch across 10 years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PROMIS and SerPro use different offence labels for the same crime. Required a manual 11-entry translation table.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60097" y="4282021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521543" y="4258694"/>
            <a:ext cx="13986596" cy="812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2: Region boundary mismatch (7 ≠ 6)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"NT Balance" rows had no direct region label. Resolved via SA2 geographic lookup matching 16 suburb codes to NTG regions. Without this fix, Greater Darwin population is double-counted.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60097" y="5242017"/>
            <a:ext cx="149924" cy="149924"/>
            <a:chOff x="0" y="0"/>
            <a:chExt cx="199898" cy="19989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521543" y="5218690"/>
            <a:ext cx="13986596" cy="543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3: Alcohol data too short to model reliably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Wholesale alcohol supply only from 2023. Model B trains on 120 rows vs 504 for Model A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60097" y="6202023"/>
            <a:ext cx="149924" cy="149924"/>
            <a:chOff x="0" y="0"/>
            <a:chExt cx="199898" cy="19989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521543" y="6178687"/>
            <a:ext cx="13986596" cy="812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4: XGBoost vs moving average trade-off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 outperforms only at h=1 month, not beyond. This is a genuine finding: assault rates are mean-reverting at longer horizons where a simple moving average captures the local level better.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Ethics &amp; Governance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10097" y="2529364"/>
            <a:ext cx="771711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CARE Principles Applied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60097" y="3322015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521543" y="3298688"/>
            <a:ext cx="13986596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 — Collective Benefit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Forecasts are designed to support public safety resource planning across all NT regions, not to surveil or target any individual or community group.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60097" y="4282021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521543" y="4258694"/>
            <a:ext cx="13986596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 — Authority to Control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All data is sourced from publicly released NT Government datasets. No personal or identifiable information is collected or stored.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60097" y="5242017"/>
            <a:ext cx="149924" cy="149924"/>
            <a:chOff x="0" y="0"/>
            <a:chExt cx="199898" cy="19989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521543" y="5218690"/>
            <a:ext cx="13986596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 — Responsibility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The pipeline logs every ingest run to manifest.json for full traceability. Provisional months are excluded from evaluation to prevent misleading accuracy claims.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60097" y="6202023"/>
            <a:ext cx="149924" cy="149924"/>
            <a:chOff x="0" y="0"/>
            <a:chExt cx="199898" cy="19989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521543" y="6178687"/>
            <a:ext cx="13986596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E — Ethics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Forecast outputs should inform planning decisions, not be used to justify increased policing of specific communities. Model limitations (small alcohol sample, regional aggregation) are explicitly documented.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Demonstration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10097" y="2529364"/>
            <a:ext cx="771711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Current System + Streamlit Dashboard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60097" y="3322015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521543" y="3298688"/>
            <a:ext cx="13986596" cy="13514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outputs (live)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nt_crime_merged_2015_2025.csv (696 rows) 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E4_backtest_metrics.csv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E5_prediction_intervals.csv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regression_plots/ (per-region forecast charts)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32389" y="4928702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493834" y="4905375"/>
            <a:ext cx="13986596" cy="1082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Streamlit Dashboard  (in development )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Region selector → monthly forecast chart with 80% prediction intervals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Model toggle: XGBoost (h=1) / 12-month MA (h=3–12)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Auto-refresh when new monthly data is added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60097" y="6362938"/>
            <a:ext cx="149924" cy="149924"/>
            <a:chOff x="0" y="0"/>
            <a:chExt cx="199898" cy="19989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493834" y="6276975"/>
            <a:ext cx="13986596" cy="8128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Deployment target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Streamlit Cloud: accessible to NT Police analysts without local installation. Drift monitoring to flag when new data falls outside historical prediction intervals.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32389" y="7367111"/>
            <a:ext cx="149924" cy="149924"/>
            <a:chOff x="0" y="0"/>
            <a:chExt cx="199898" cy="19989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493834" y="7343775"/>
            <a:ext cx="13986596" cy="1082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Access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Repository: </a:t>
            </a:r>
            <a:r>
              <a:rPr lang="en-US" sz="1749" u="sng">
                <a:solidFill>
                  <a:srgbClr val="0000FF"/>
                </a:solidFill>
                <a:latin typeface="Poppins"/>
                <a:ea typeface="Poppins"/>
                <a:cs typeface="Poppins"/>
                <a:sym typeface="Poppins"/>
                <a:hlinkClick r:id="rId4" tooltip="https://github.com/HendrickDang/PRT661-DATA-SCIENCE-PRACTICE"/>
              </a:rPr>
              <a:t>https://github.com/HendrickDang/PRT661-DATA-SCIENCE-PRACTICE</a:t>
            </a: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Run: python Updated_End_to_End_pipeline.py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Dashboard: streamlit run app.py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Status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91438" y="1757620"/>
            <a:ext cx="7717117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DONE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99998" y="2249996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561443" y="2207619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Raw data ingestion + validation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99998" y="2729998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561443" y="2687622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Schema harmonisation (PROMIS -&gt; ANZSOC)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99998" y="3210001"/>
            <a:ext cx="149924" cy="149924"/>
            <a:chOff x="0" y="0"/>
            <a:chExt cx="199898" cy="19989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561443" y="3167624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Region crosswalk (7 -&gt; 6 regions)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99998" y="3690004"/>
            <a:ext cx="149924" cy="149924"/>
            <a:chOff x="0" y="0"/>
            <a:chExt cx="199898" cy="19989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561443" y="3647618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Feature engineering (lags, cyclical, PCA)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99998" y="4169997"/>
            <a:ext cx="149924" cy="149924"/>
            <a:chOff x="0" y="0"/>
            <a:chExt cx="199898" cy="19989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561443" y="4127621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training + evaluation (4 models)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199998" y="4650000"/>
            <a:ext cx="149924" cy="149924"/>
            <a:chOff x="0" y="0"/>
            <a:chExt cx="199898" cy="19989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561443" y="4607624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Leakage-free CV + rolling-origin backtest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199998" y="5130003"/>
            <a:ext cx="149924" cy="149924"/>
            <a:chOff x="0" y="0"/>
            <a:chExt cx="199898" cy="199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561443" y="5087617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End-to-end pipeline in a single script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199998" y="5609996"/>
            <a:ext cx="149924" cy="149924"/>
            <a:chOff x="0" y="0"/>
            <a:chExt cx="199898" cy="19989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561443" y="5567620"/>
            <a:ext cx="7317124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Ethics &amp; governance reviewed (CARE Principles)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691440" y="1757620"/>
            <a:ext cx="7317124" cy="2328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FUTURE WORK BEFORE ASSIGNMENT 4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9600000" y="2271227"/>
            <a:ext cx="149924" cy="149924"/>
            <a:chOff x="0" y="0"/>
            <a:chExt cx="199898" cy="199898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9961436" y="2228850"/>
            <a:ext cx="7017125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Deployment to Streamlit Cloud (Week 10)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600000" y="2751230"/>
            <a:ext cx="149924" cy="149924"/>
            <a:chOff x="0" y="0"/>
            <a:chExt cx="199898" cy="199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9961436" y="2708853"/>
            <a:ext cx="7017125" cy="29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Monitoring + drift detection (Week 10)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9508550" y="4416781"/>
            <a:ext cx="7200043" cy="3960019"/>
            <a:chOff x="0" y="0"/>
            <a:chExt cx="9600057" cy="5280025"/>
          </a:xfrm>
        </p:grpSpPr>
        <p:sp>
          <p:nvSpPr>
            <p:cNvPr name="Freeform 44" id="44" descr="n_roadmap.png"/>
            <p:cNvSpPr/>
            <p:nvPr/>
          </p:nvSpPr>
          <p:spPr>
            <a:xfrm flipH="false" flipV="false" rot="0">
              <a:off x="0" y="0"/>
              <a:ext cx="9600057" cy="5280025"/>
            </a:xfrm>
            <a:custGeom>
              <a:avLst/>
              <a:gdLst/>
              <a:ahLst/>
              <a:cxnLst/>
              <a:rect r="r" b="b" t="t" l="l"/>
              <a:pathLst>
                <a:path h="5280025" w="9600057">
                  <a:moveTo>
                    <a:pt x="0" y="0"/>
                  </a:moveTo>
                  <a:lnTo>
                    <a:pt x="9600057" y="0"/>
                  </a:lnTo>
                  <a:lnTo>
                    <a:pt x="9600057" y="5280025"/>
                  </a:lnTo>
                  <a:lnTo>
                    <a:pt x="0" y="52800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7" r="0" b="-17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199998" y="8850001"/>
            <a:ext cx="15899987" cy="900017"/>
            <a:chOff x="0" y="0"/>
            <a:chExt cx="21199983" cy="1200023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1199982" cy="1200023"/>
            </a:xfrm>
            <a:custGeom>
              <a:avLst/>
              <a:gdLst/>
              <a:ahLst/>
              <a:cxnLst/>
              <a:rect r="r" b="b" t="t" l="l"/>
              <a:pathLst>
                <a:path h="1200023" w="21199982">
                  <a:moveTo>
                    <a:pt x="0" y="144018"/>
                  </a:moveTo>
                  <a:cubicBezTo>
                    <a:pt x="0" y="64516"/>
                    <a:pt x="64516" y="0"/>
                    <a:pt x="144018" y="0"/>
                  </a:cubicBezTo>
                  <a:lnTo>
                    <a:pt x="21055964" y="0"/>
                  </a:lnTo>
                  <a:cubicBezTo>
                    <a:pt x="21135467" y="0"/>
                    <a:pt x="21199982" y="64516"/>
                    <a:pt x="21199982" y="144018"/>
                  </a:cubicBezTo>
                  <a:lnTo>
                    <a:pt x="21199982" y="1056005"/>
                  </a:lnTo>
                  <a:cubicBezTo>
                    <a:pt x="21199982" y="1135507"/>
                    <a:pt x="21135467" y="1200023"/>
                    <a:pt x="21055964" y="1200023"/>
                  </a:cubicBezTo>
                  <a:lnTo>
                    <a:pt x="144018" y="1200023"/>
                  </a:lnTo>
                  <a:cubicBezTo>
                    <a:pt x="64516" y="1200023"/>
                    <a:pt x="0" y="1135507"/>
                    <a:pt x="0" y="1056005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</p:sp>
      </p:grpSp>
      <p:sp>
        <p:nvSpPr>
          <p:cNvPr name="TextBox 47" id="47"/>
          <p:cNvSpPr txBox="true"/>
          <p:nvPr/>
        </p:nvSpPr>
        <p:spPr>
          <a:xfrm rot="0">
            <a:off x="1591437" y="9057618"/>
            <a:ext cx="15117118" cy="2328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pipeline is complete and reproducible. All remaining work is deployment and monitoring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236831" y="6032221"/>
            <a:ext cx="149924" cy="149924"/>
            <a:chOff x="0" y="0"/>
            <a:chExt cx="199898" cy="199898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1598276" y="5989844"/>
            <a:ext cx="7317124" cy="2242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Streamlit Dashboard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9998" y="80000"/>
            <a:ext cx="678180" cy="479965"/>
            <a:chOff x="0" y="0"/>
            <a:chExt cx="904240" cy="639953"/>
          </a:xfrm>
        </p:grpSpPr>
        <p:sp>
          <p:nvSpPr>
            <p:cNvPr name="Freeform 5" id="5" descr="deco_hat.png"/>
            <p:cNvSpPr/>
            <p:nvPr/>
          </p:nvSpPr>
          <p:spPr>
            <a:xfrm flipH="false" flipV="false" rot="0">
              <a:off x="0" y="0"/>
              <a:ext cx="904240" cy="639953"/>
            </a:xfrm>
            <a:custGeom>
              <a:avLst/>
              <a:gdLst/>
              <a:ahLst/>
              <a:cxnLst/>
              <a:rect r="r" b="b" t="t" l="l"/>
              <a:pathLst>
                <a:path h="639953" w="904240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" r="0" b="-25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17667999" y="69999"/>
            <a:ext cx="439388" cy="559975"/>
            <a:chOff x="0" y="0"/>
            <a:chExt cx="585851" cy="746633"/>
          </a:xfrm>
        </p:grpSpPr>
        <p:sp>
          <p:nvSpPr>
            <p:cNvPr name="Freeform 7" id="7" descr="deco_cuffs.png"/>
            <p:cNvSpPr/>
            <p:nvPr/>
          </p:nvSpPr>
          <p:spPr>
            <a:xfrm flipH="false" flipV="false" rot="0">
              <a:off x="0" y="0"/>
              <a:ext cx="585851" cy="746633"/>
            </a:xfrm>
            <a:custGeom>
              <a:avLst/>
              <a:gdLst/>
              <a:ahLst/>
              <a:cxnLst/>
              <a:rect r="r" b="b" t="t" l="l"/>
              <a:pathLst>
                <a:path h="746633" w="585851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0" r="0" b="-3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800100" y="700002"/>
            <a:ext cx="360045" cy="360045"/>
            <a:chOff x="0" y="0"/>
            <a:chExt cx="480060" cy="4800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80060" cy="480060"/>
            </a:xfrm>
            <a:custGeom>
              <a:avLst/>
              <a:gdLst/>
              <a:ahLst/>
              <a:cxnLst/>
              <a:rect r="r" b="b" t="t" l="l"/>
              <a:pathLst>
                <a:path h="480060" w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411443" y="628574"/>
            <a:ext cx="11817125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true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Conclusions &amp; Recommendations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99998" y="2361895"/>
            <a:ext cx="7717117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1799" b="true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What We Found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03700" y="2897134"/>
            <a:ext cx="149924" cy="149924"/>
            <a:chOff x="0" y="0"/>
            <a:chExt cx="199898" cy="19989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470003" y="2811894"/>
            <a:ext cx="7317124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 achieves the best short-horizon accuracy: 29% skill improvement over seasonal naive at h = 1 month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028700" y="5161197"/>
            <a:ext cx="149924" cy="149924"/>
            <a:chOff x="0" y="0"/>
            <a:chExt cx="199898" cy="19989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470003" y="3768147"/>
            <a:ext cx="7317124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Beyond 1 month, the 12-month moving average outperforms all models at h = 3, 6, and 12 — added complexity does not help at longer horizons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03700" y="4007139"/>
            <a:ext cx="149924" cy="149924"/>
            <a:chOff x="0" y="0"/>
            <a:chExt cx="199898" cy="19989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470003" y="4873047"/>
            <a:ext cx="7317124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Alcohol supply shows a small positive association with assault rates (+0.04 to +0.06 per capita) but the 2023–2025 window is too short to draw firm conclusions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00000" y="2361895"/>
            <a:ext cx="7317124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1799" b="true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Recommendations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503702" y="2897134"/>
            <a:ext cx="149924" cy="149924"/>
            <a:chOff x="0" y="0"/>
            <a:chExt cx="199898" cy="19989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9869996" y="2811894"/>
            <a:ext cx="7017125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Deploy XGBoost for 1-month-ahead operational forecasts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503702" y="4007139"/>
            <a:ext cx="149924" cy="149924"/>
            <a:chOff x="0" y="0"/>
            <a:chExt cx="199898" cy="19989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9869996" y="3768147"/>
            <a:ext cx="7017125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Use 12-month moving average as the reference benchmark for 3–12 month planning horizons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9503702" y="5161197"/>
            <a:ext cx="149924" cy="149924"/>
            <a:chOff x="0" y="0"/>
            <a:chExt cx="199898" cy="19989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99898" cy="199898"/>
            </a:xfrm>
            <a:custGeom>
              <a:avLst/>
              <a:gdLst/>
              <a:ahLst/>
              <a:cxnLst/>
              <a:rect r="r" b="b" t="t" l="l"/>
              <a:pathLst>
                <a:path h="199898" w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9899999" y="4917110"/>
            <a:ext cx="7017125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Collect alcohol supply data from 2015 onward to properly evaluate its predictive value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0" y="0"/>
            <a:ext cx="367633" cy="10287000"/>
            <a:chOff x="0" y="0"/>
            <a:chExt cx="96825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825" cy="2709333"/>
            </a:xfrm>
            <a:custGeom>
              <a:avLst/>
              <a:gdLst/>
              <a:ahLst/>
              <a:cxnLst/>
              <a:rect r="r" b="b" t="t" l="l"/>
              <a:pathLst>
                <a:path h="2709333" w="96825">
                  <a:moveTo>
                    <a:pt x="0" y="0"/>
                  </a:moveTo>
                  <a:lnTo>
                    <a:pt x="96825" y="0"/>
                  </a:lnTo>
                  <a:lnTo>
                    <a:pt x="968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true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96825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28700" y="891823"/>
            <a:ext cx="847008" cy="847008"/>
          </a:xfrm>
          <a:custGeom>
            <a:avLst/>
            <a:gdLst/>
            <a:ahLst/>
            <a:cxnLst/>
            <a:rect r="r" b="b" t="t" l="l"/>
            <a:pathLst>
              <a:path h="847008" w="847008">
                <a:moveTo>
                  <a:pt x="0" y="0"/>
                </a:moveTo>
                <a:lnTo>
                  <a:pt x="847008" y="0"/>
                </a:lnTo>
                <a:lnTo>
                  <a:pt x="847008" y="847008"/>
                </a:lnTo>
                <a:lnTo>
                  <a:pt x="0" y="8470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191726" y="1580598"/>
            <a:ext cx="7244181" cy="7244181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5400000"/>
            </a:gra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319354" y="-4277500"/>
            <a:ext cx="7116554" cy="7116554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7625" cap="sq">
              <a:solidFill>
                <a:srgbClr val="60A5FA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191726" y="6977077"/>
            <a:ext cx="7244181" cy="7244181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gradFill>
                <a:gsLst>
                  <a:gs pos="0">
                    <a:srgbClr val="60A5FA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028700" y="3055194"/>
            <a:ext cx="9522802" cy="1987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5400"/>
              </a:lnSpc>
            </a:pPr>
            <a:r>
              <a:rPr lang="en-US" sz="11000" b="true">
                <a:solidFill>
                  <a:srgbClr val="1E293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DAHWvRoH26g</dc:identifier>
  <dcterms:modified xsi:type="dcterms:W3CDTF">2011-08-01T06:04:30Z</dcterms:modified>
  <cp:revision>1</cp:revision>
  <dc:title>PRT661_Assessment 3.pptx.pptx</dc:title>
</cp:coreProperties>
</file>